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6"/>
  </p:notesMasterIdLst>
  <p:sldIdLst>
    <p:sldId id="256" r:id="rId2"/>
    <p:sldId id="271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FFFF"/>
    <a:srgbClr val="FF0000"/>
    <a:srgbClr val="99FF99"/>
    <a:srgbClr val="FFFF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487E15A-3F29-4B4B-BC55-1172112CFAB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8F84D73-4F2E-4F93-AD87-F8A64E781E6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6B1BD681-93F2-459E-86FE-27E7DAB255B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7FB56C3F-124A-48D6-944B-E565B513049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DBB13266-B5AC-4BF9-8AA3-571477A7CF1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CE200CA6-95C5-4733-AC26-7B485B6BEC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50827BA4-E76C-43EB-A590-0E45ACEF6D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realpt-039A">
            <a:extLst>
              <a:ext uri="{FF2B5EF4-FFF2-40B4-BE49-F238E27FC236}">
                <a16:creationId xmlns:a16="http://schemas.microsoft.com/office/drawing/2014/main" id="{8CD13349-98B4-429B-A5D6-432CFC7129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5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AutoShape 8">
            <a:extLst>
              <a:ext uri="{FF2B5EF4-FFF2-40B4-BE49-F238E27FC236}">
                <a16:creationId xmlns:a16="http://schemas.microsoft.com/office/drawing/2014/main" id="{A34E6E14-5940-4E26-8CF3-7C792EC931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87500" y="685800"/>
            <a:ext cx="6019800" cy="1600200"/>
          </a:xfrm>
          <a:prstGeom prst="roundRect">
            <a:avLst>
              <a:gd name="adj" fmla="val 16667"/>
            </a:avLst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0E07652-970B-4795-965C-01F69AEB958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25613" y="990600"/>
            <a:ext cx="5715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5400" b="1" dirty="0">
                <a:solidFill>
                  <a:schemeClr val="bg1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컴 퓨 터 구 조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0D4304D8-ED62-49E3-8407-5C9C25D3438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055938" y="3677022"/>
            <a:ext cx="3167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2000" b="1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Ch 8 </a:t>
            </a:r>
            <a:r>
              <a:rPr lang="ko-KR" altLang="en-US" sz="2000" b="1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마이크로오퍼레이션</a:t>
            </a:r>
            <a:endParaRPr lang="en-US" altLang="ko-KR" sz="2000" b="1" dirty="0">
              <a:solidFill>
                <a:srgbClr val="003366"/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7170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076C664-D549-4DB6-A460-EF8AC7B9FC7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FACE57EC-5EF2-42A1-8B0A-4C2F76CD7CA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3149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7DFD4B1-EFF9-48D4-AFE0-70906C0AC33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254F33FB-D4BC-4CCA-834C-48FE61BE506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6435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9DF6D5C-B221-4C68-9780-366E4C087FF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7D2EF8C7-E8DD-4813-BFF3-1FB7A379AF4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64400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ADE196-8100-405F-9491-7B2A9B4017A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7FF02831-66DD-43E5-A7D4-CE26A4BFDD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71328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12BF940-1838-478B-A440-FBEF493A2B3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485631FD-7C97-4422-BE60-CA3E0D9DCFE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68478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34E37B54-0E73-4D1A-8216-D6A70B64BC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777EBBC4-1BC3-47BE-A2B9-B332BDCD8F1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25241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E87BD6A-A33C-4215-BD53-A75ADD9410C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A11A823E-DBC0-44A6-9156-EBDC492AA9B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11447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1A2A3F8-C470-4305-B55E-3E1792BA382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0B7379F1-363C-4479-9B55-D67FD97D9D4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3407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4470D65-5927-4FF8-B6ED-FFB22C7F6F8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2679C61A-9A9B-4EF9-B142-D5F327C1BE8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28340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10E091-ADE4-4C7D-9D8E-2A81D382BD2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CB65A0C9-A2FF-452E-A286-B953B492869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2420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>
            <a:extLst>
              <a:ext uri="{FF2B5EF4-FFF2-40B4-BE49-F238E27FC236}">
                <a16:creationId xmlns:a16="http://schemas.microsoft.com/office/drawing/2014/main" id="{26CC1282-F841-4754-883D-801F1D37659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492500" y="640873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600" b="1" smtClean="0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defRPr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B707280A-9F6E-48E4-8442-043A8DB0CCA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7" name="Line 7">
            <a:extLst>
              <a:ext uri="{FF2B5EF4-FFF2-40B4-BE49-F238E27FC236}">
                <a16:creationId xmlns:a16="http://schemas.microsoft.com/office/drawing/2014/main" id="{530646BD-63BF-49A8-9DDC-F0BE1813D40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525" y="508000"/>
            <a:ext cx="9132888" cy="1588"/>
          </a:xfrm>
          <a:prstGeom prst="line">
            <a:avLst/>
          </a:prstGeom>
          <a:noFill/>
          <a:ln w="38100" cmpd="thinThick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8" name="Rectangle 8">
            <a:extLst>
              <a:ext uri="{FF2B5EF4-FFF2-40B4-BE49-F238E27FC236}">
                <a16:creationId xmlns:a16="http://schemas.microsoft.com/office/drawing/2014/main" id="{E41AD15B-F8E2-4CD0-AF32-715FFACF967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C3C3C3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29" name="Line 9">
            <a:extLst>
              <a:ext uri="{FF2B5EF4-FFF2-40B4-BE49-F238E27FC236}">
                <a16:creationId xmlns:a16="http://schemas.microsoft.com/office/drawing/2014/main" id="{19BCA5A0-B5F5-4DCE-BCEC-852F8C3C633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381750"/>
            <a:ext cx="91440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30" name="AutoShape 11">
            <a:extLst>
              <a:ext uri="{FF2B5EF4-FFF2-40B4-BE49-F238E27FC236}">
                <a16:creationId xmlns:a16="http://schemas.microsoft.com/office/drawing/2014/main" id="{2B09B6EB-606F-45CA-97FA-2EFC5392915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0838" y="73025"/>
            <a:ext cx="4365625" cy="381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31" name="Text Box 12">
            <a:extLst>
              <a:ext uri="{FF2B5EF4-FFF2-40B4-BE49-F238E27FC236}">
                <a16:creationId xmlns:a16="http://schemas.microsoft.com/office/drawing/2014/main" id="{4D63F891-28A8-42D4-BD52-B06C5F5F3A8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188" y="55563"/>
            <a:ext cx="3233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2000" b="1" dirty="0"/>
              <a:t>제 </a:t>
            </a:r>
            <a:r>
              <a:rPr lang="en-US" altLang="ko-KR" sz="2000" b="1" dirty="0"/>
              <a:t>8</a:t>
            </a:r>
            <a:r>
              <a:rPr lang="ko-KR" altLang="en-US" sz="2000" b="1" dirty="0"/>
              <a:t>절 마이크로오퍼레이션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번호 개체 틀 1">
            <a:extLst>
              <a:ext uri="{FF2B5EF4-FFF2-40B4-BE49-F238E27FC236}">
                <a16:creationId xmlns:a16="http://schemas.microsoft.com/office/drawing/2014/main" id="{6A3D1628-14EF-4B92-8D65-F1D19F305F4E}"/>
              </a:ext>
            </a:extLst>
          </p:cNvPr>
          <p:cNvSpPr txBox="1">
            <a:spLocks noGrp="1"/>
          </p:cNvSpPr>
          <p:nvPr/>
        </p:nvSpPr>
        <p:spPr bwMode="auto">
          <a:xfrm>
            <a:off x="3492500" y="6408738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600" b="1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8134CC18-E27A-49F4-9C21-871490DCA6D4}" type="slidenum">
              <a:rPr lang="en-US" altLang="ko-KR" sz="1600" b="1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 algn="ctr" eaLnBrk="1" hangingPunct="1"/>
              <a:t>2</a:t>
            </a:fld>
            <a:endParaRPr lang="en-US" altLang="ko-KR" sz="1600" b="1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4099" name="Text Box 10">
            <a:extLst>
              <a:ext uri="{FF2B5EF4-FFF2-40B4-BE49-F238E27FC236}">
                <a16:creationId xmlns:a16="http://schemas.microsoft.com/office/drawing/2014/main" id="{45AF2AF0-C72C-4E66-BD23-06B7789A1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692150"/>
            <a:ext cx="54419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1. </a:t>
            </a:r>
            <a:r>
              <a:rPr lang="ko-KR" altLang="en-US" sz="2200" b="1"/>
              <a:t>마이크로 오퍼레이션 </a:t>
            </a:r>
            <a:r>
              <a:rPr lang="en-US" altLang="ko-KR" sz="2200" b="1"/>
              <a:t>(Micro Operation)</a:t>
            </a:r>
          </a:p>
        </p:txBody>
      </p:sp>
      <p:sp>
        <p:nvSpPr>
          <p:cNvPr id="4100" name="Text Box 11">
            <a:extLst>
              <a:ext uri="{FF2B5EF4-FFF2-40B4-BE49-F238E27FC236}">
                <a16:creationId xmlns:a16="http://schemas.microsoft.com/office/drawing/2014/main" id="{A1708B95-E76D-4DDD-9478-48B9A086D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096963"/>
            <a:ext cx="3621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arabicParenBoth"/>
            </a:pPr>
            <a:r>
              <a:rPr lang="en-US" altLang="ko-KR" sz="2000" b="1"/>
              <a:t> </a:t>
            </a:r>
            <a:r>
              <a:rPr lang="ko-KR" altLang="en-US" sz="2000" b="1"/>
              <a:t>마이크로 오퍼레이션</a:t>
            </a:r>
            <a:r>
              <a:rPr lang="en-US" altLang="ko-KR" sz="2000" b="1"/>
              <a:t>(</a:t>
            </a:r>
            <a:r>
              <a:rPr lang="ko-KR" altLang="en-US" sz="2000" b="1"/>
              <a:t>동작</a:t>
            </a:r>
            <a:r>
              <a:rPr lang="en-US" altLang="ko-KR" sz="2000" b="1"/>
              <a:t>)</a:t>
            </a:r>
            <a:endParaRPr lang="en-US" altLang="ko-KR" b="1"/>
          </a:p>
        </p:txBody>
      </p:sp>
      <p:sp>
        <p:nvSpPr>
          <p:cNvPr id="4101" name="Rectangle 36">
            <a:extLst>
              <a:ext uri="{FF2B5EF4-FFF2-40B4-BE49-F238E27FC236}">
                <a16:creationId xmlns:a16="http://schemas.microsoft.com/office/drawing/2014/main" id="{1E3B8CC9-B385-43D5-BC70-3BFD28A9B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557338"/>
            <a:ext cx="7850187" cy="294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1) </a:t>
            </a:r>
            <a:r>
              <a:rPr lang="ko-KR" altLang="en-US" b="1"/>
              <a:t>명령을 수행하기 위해  </a:t>
            </a:r>
            <a:r>
              <a:rPr lang="en-US" altLang="ko-KR" b="1"/>
              <a:t>CPU </a:t>
            </a:r>
            <a:r>
              <a:rPr lang="ko-KR" altLang="en-US" b="1"/>
              <a:t>내의 레지스터와 플래그의 상태 변환을 일으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키는 작업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2) </a:t>
            </a:r>
            <a:r>
              <a:rPr lang="ko-KR" altLang="en-US" b="1"/>
              <a:t>레지스터에 저장된 데이터에 의해서 이루어지는 동작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3) </a:t>
            </a:r>
            <a:r>
              <a:rPr lang="ko-KR" altLang="en-US" b="1"/>
              <a:t>마이크로 오퍼레이션을 순서적으로 일어나게 하는데 필요한 신호를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ko-KR" altLang="en-US" b="1" u="sng"/>
              <a:t>제어신호</a:t>
            </a:r>
            <a:r>
              <a:rPr lang="ko-KR" altLang="en-US" b="1"/>
              <a:t>라 함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4) </a:t>
            </a:r>
            <a:r>
              <a:rPr lang="ko-KR" altLang="en-US" b="1"/>
              <a:t>마이크로 오퍼레이션은  </a:t>
            </a:r>
            <a:r>
              <a:rPr lang="en-US" altLang="ko-KR" b="1"/>
              <a:t>Clock </a:t>
            </a:r>
            <a:r>
              <a:rPr lang="ko-KR" altLang="en-US" b="1"/>
              <a:t>펄스에 기준을 두고 실행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</a:t>
            </a:r>
            <a:r>
              <a:rPr lang="en-US" altLang="ko-KR" b="1"/>
              <a:t>※ </a:t>
            </a:r>
            <a:r>
              <a:rPr lang="ko-KR" altLang="en-US" b="1"/>
              <a:t>동기 디지털 시스템에 내장되어 있는 모든 레지스터의 타이밍은 마스트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클럭 발생기에 의하여 제어됨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슬라이드 번호 개체 틀 1">
            <a:extLst>
              <a:ext uri="{FF2B5EF4-FFF2-40B4-BE49-F238E27FC236}">
                <a16:creationId xmlns:a16="http://schemas.microsoft.com/office/drawing/2014/main" id="{7EA4155E-27D7-49F2-8CB3-99A3A5707D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22FEBB72-75BF-41FD-92E7-D885DD433DE5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B1EF1B1C-0E60-421E-A304-1B21C9264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768350"/>
            <a:ext cx="8351837" cy="525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ko-KR" sz="2000" b="1"/>
              <a:t>(2) </a:t>
            </a:r>
            <a:r>
              <a:rPr lang="ko-KR" altLang="en-US" sz="2000" b="1"/>
              <a:t>마이크로 사이클 타임 </a:t>
            </a:r>
            <a:r>
              <a:rPr lang="en-US" altLang="ko-KR" sz="2000" b="1"/>
              <a:t>(Micro Cycle Time)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1) </a:t>
            </a:r>
            <a:r>
              <a:rPr lang="ko-KR" altLang="en-US" b="1"/>
              <a:t>마이크로 오퍼레이션 수행에 필요한 시간을 마이크로 사이클 타임이라 함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</a:t>
            </a:r>
            <a:r>
              <a:rPr lang="en-US" altLang="ko-KR" b="1"/>
              <a:t>2) </a:t>
            </a:r>
            <a:r>
              <a:rPr lang="ko-KR" altLang="en-US" b="1"/>
              <a:t>마이크로 사이클 타임 부여 방식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① 동기 고정식 </a:t>
            </a:r>
            <a:r>
              <a:rPr lang="en-US" altLang="ko-KR" b="1"/>
              <a:t>(Synchronous Fixed)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        • </a:t>
            </a:r>
            <a:r>
              <a:rPr lang="ko-KR" altLang="en-US" b="1"/>
              <a:t>마이크로 오퍼레이션 중에서 수행시간이 가장 긴 것을 정의한 방식                        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    </a:t>
            </a:r>
            <a:r>
              <a:rPr lang="en-US" altLang="ko-KR" b="1"/>
              <a:t>• </a:t>
            </a:r>
            <a:r>
              <a:rPr lang="ko-KR" altLang="en-US" b="1"/>
              <a:t>수행 시간이 가장 긴 마이크로 오퍼레이션의 사이클 타임을 클럭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      주기로 정함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② 동기 가변식</a:t>
            </a:r>
            <a:r>
              <a:rPr lang="en-US" altLang="ko-KR" b="1"/>
              <a:t>(Synchronous Variable)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        • </a:t>
            </a:r>
            <a:r>
              <a:rPr lang="ko-KR" altLang="en-US" b="1"/>
              <a:t>마이크로 오퍼레이션에 따라서 수행시간을 다르게 하는 것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    </a:t>
            </a:r>
            <a:r>
              <a:rPr lang="en-US" altLang="ko-KR" b="1"/>
              <a:t>• </a:t>
            </a:r>
            <a:r>
              <a:rPr lang="ko-KR" altLang="en-US" b="1"/>
              <a:t>각 마이크로 오퍼레이션의 사이클 타임이 현저한 차이를 나타낼 때               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      사용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    </a:t>
            </a:r>
            <a:r>
              <a:rPr lang="en-US" altLang="ko-KR" b="1"/>
              <a:t>• </a:t>
            </a:r>
            <a:r>
              <a:rPr lang="ko-KR" altLang="en-US" b="1"/>
              <a:t>중앙처리장치의 시간을 효율적으로 이용할 수 있음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    </a:t>
            </a:r>
            <a:r>
              <a:rPr lang="en-US" altLang="ko-KR" b="1"/>
              <a:t>• </a:t>
            </a:r>
            <a:r>
              <a:rPr lang="ko-KR" altLang="en-US" b="1"/>
              <a:t>마이크로 오퍼레이션에 대하여 서로 다른 사이클을 정의 할 수 있음    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③ 비동기식</a:t>
            </a:r>
            <a:r>
              <a:rPr lang="en-US" altLang="ko-KR" b="1"/>
              <a:t>(Asynchronous)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        • </a:t>
            </a:r>
            <a:r>
              <a:rPr lang="ko-KR" altLang="en-US" b="1"/>
              <a:t>모든 마이크로 오퍼레이션에 대하여 서로 다른 마이크로 사이클 타임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      을 정의하는 방식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    </a:t>
            </a:r>
            <a:r>
              <a:rPr lang="en-US" altLang="ko-KR" b="1"/>
              <a:t>• </a:t>
            </a:r>
            <a:r>
              <a:rPr lang="ko-KR" altLang="en-US" b="1"/>
              <a:t>제어기가 매우 복잡해지기 때문에 실제로는 거의 사용되지 않음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번호 개체 틀 1">
            <a:extLst>
              <a:ext uri="{FF2B5EF4-FFF2-40B4-BE49-F238E27FC236}">
                <a16:creationId xmlns:a16="http://schemas.microsoft.com/office/drawing/2014/main" id="{C19E136E-79AE-4266-8064-DE8D7368AD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A76486A5-E861-4C51-B6CE-BEE8BF2E6489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4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37BE42AB-2696-40E3-B823-321D007D4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38" y="692150"/>
            <a:ext cx="2540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2. </a:t>
            </a:r>
            <a:r>
              <a:rPr lang="ko-KR" altLang="en-US" sz="2200" b="1"/>
              <a:t>메이저 스테이트</a:t>
            </a:r>
          </a:p>
        </p:txBody>
      </p:sp>
      <p:sp>
        <p:nvSpPr>
          <p:cNvPr id="6148" name="Text Box 4">
            <a:extLst>
              <a:ext uri="{FF2B5EF4-FFF2-40B4-BE49-F238E27FC236}">
                <a16:creationId xmlns:a16="http://schemas.microsoft.com/office/drawing/2014/main" id="{D65EEE46-68FA-4132-9219-516F4522A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125538"/>
            <a:ext cx="5514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arabicParenBoth"/>
            </a:pPr>
            <a:r>
              <a:rPr lang="en-US" altLang="ko-KR" sz="2000" b="1"/>
              <a:t> </a:t>
            </a:r>
            <a:r>
              <a:rPr lang="ko-KR" altLang="en-US" sz="2000" b="1"/>
              <a:t>메이저 스테이트 </a:t>
            </a:r>
            <a:r>
              <a:rPr lang="en-US" altLang="ko-KR" sz="2000" b="1"/>
              <a:t>(</a:t>
            </a:r>
            <a:r>
              <a:rPr lang="ko-KR" altLang="en-US" sz="2000" b="1"/>
              <a:t>메이저 상태</a:t>
            </a:r>
            <a:r>
              <a:rPr lang="en-US" altLang="ko-KR" sz="2000" b="1"/>
              <a:t>, Major State)</a:t>
            </a:r>
            <a:endParaRPr lang="en-US" altLang="ko-KR" b="1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F064C27-8EC3-47F1-8924-62A41FF61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7438" y="1628775"/>
            <a:ext cx="7805737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1) </a:t>
            </a:r>
            <a:r>
              <a:rPr lang="ko-KR" altLang="en-US" b="1"/>
              <a:t>중앙 처리 장치가 무엇을 하고 있는가를 나타내는 것으로서 기억 장치의 </a:t>
            </a:r>
          </a:p>
          <a:p>
            <a:pPr eaLnBrk="1" hangingPunct="1"/>
            <a:r>
              <a:rPr lang="ko-KR" altLang="en-US" b="1"/>
              <a:t>    사이클을 단위로 하여 해당 사이클 동안에 무엇을 위해 기억 장치를 접근</a:t>
            </a:r>
          </a:p>
          <a:p>
            <a:pPr eaLnBrk="1" hangingPunct="1"/>
            <a:r>
              <a:rPr lang="ko-KR" altLang="en-US" b="1"/>
              <a:t>    하는가를 나타내 주는 것</a:t>
            </a:r>
          </a:p>
          <a:p>
            <a:pPr eaLnBrk="1" hangingPunct="1"/>
            <a:r>
              <a:rPr lang="en-US" altLang="ko-KR" b="1"/>
              <a:t>2) </a:t>
            </a:r>
            <a:r>
              <a:rPr lang="ko-KR" altLang="en-US" b="1"/>
              <a:t>메이저 스테이트의 변화 과정</a:t>
            </a:r>
          </a:p>
        </p:txBody>
      </p:sp>
      <p:sp>
        <p:nvSpPr>
          <p:cNvPr id="6150" name="AutoShape 8">
            <a:extLst>
              <a:ext uri="{FF2B5EF4-FFF2-40B4-BE49-F238E27FC236}">
                <a16:creationId xmlns:a16="http://schemas.microsoft.com/office/drawing/2014/main" id="{5D5A5E36-2E99-4B8F-8441-4D8D78466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250" y="2870200"/>
            <a:ext cx="2376488" cy="792163"/>
          </a:xfrm>
          <a:prstGeom prst="hexagon">
            <a:avLst>
              <a:gd name="adj" fmla="val 25653"/>
              <a:gd name="vf" fmla="val 115470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6151" name="Text Box 9">
            <a:extLst>
              <a:ext uri="{FF2B5EF4-FFF2-40B4-BE49-F238E27FC236}">
                <a16:creationId xmlns:a16="http://schemas.microsoft.com/office/drawing/2014/main" id="{128D67CF-84E2-425D-9917-27FDF470D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0025" y="2919413"/>
            <a:ext cx="15970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/>
              <a:t>인출사이클</a:t>
            </a:r>
          </a:p>
          <a:p>
            <a:pPr algn="ctr" eaLnBrk="1" hangingPunct="1"/>
            <a:r>
              <a:rPr lang="en-US" altLang="ko-KR" b="1"/>
              <a:t>(Fetch Cycle)</a:t>
            </a:r>
          </a:p>
        </p:txBody>
      </p:sp>
      <p:sp>
        <p:nvSpPr>
          <p:cNvPr id="5128" name="AutoShape 10">
            <a:extLst>
              <a:ext uri="{FF2B5EF4-FFF2-40B4-BE49-F238E27FC236}">
                <a16:creationId xmlns:a16="http://schemas.microsoft.com/office/drawing/2014/main" id="{F559838F-67F3-4BAA-901B-F1A13E7A4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2852738"/>
            <a:ext cx="2376488" cy="792162"/>
          </a:xfrm>
          <a:prstGeom prst="hexagon">
            <a:avLst>
              <a:gd name="adj" fmla="val 25653"/>
              <a:gd name="vf" fmla="val 115470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5129" name="Text Box 11">
            <a:extLst>
              <a:ext uri="{FF2B5EF4-FFF2-40B4-BE49-F238E27FC236}">
                <a16:creationId xmlns:a16="http://schemas.microsoft.com/office/drawing/2014/main" id="{28C45F4F-BD36-4810-A952-AF1582754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6963" y="2901950"/>
            <a:ext cx="18430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/>
              <a:t>실행사이클</a:t>
            </a:r>
          </a:p>
          <a:p>
            <a:pPr algn="ctr" eaLnBrk="1" hangingPunct="1"/>
            <a:r>
              <a:rPr lang="en-US" altLang="ko-KR" b="1"/>
              <a:t>(Execute Cycle)</a:t>
            </a:r>
          </a:p>
        </p:txBody>
      </p:sp>
      <p:sp>
        <p:nvSpPr>
          <p:cNvPr id="5130" name="Line 12">
            <a:extLst>
              <a:ext uri="{FF2B5EF4-FFF2-40B4-BE49-F238E27FC236}">
                <a16:creationId xmlns:a16="http://schemas.microsoft.com/office/drawing/2014/main" id="{27E08D7E-0457-4D2B-B0E7-ECE5AFD0F9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6150" y="3257550"/>
            <a:ext cx="24479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5131" name="AutoShape 13">
            <a:extLst>
              <a:ext uri="{FF2B5EF4-FFF2-40B4-BE49-F238E27FC236}">
                <a16:creationId xmlns:a16="http://schemas.microsoft.com/office/drawing/2014/main" id="{7735FBCC-D551-422B-B9E0-9680723D2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763" y="4160838"/>
            <a:ext cx="2376487" cy="792162"/>
          </a:xfrm>
          <a:prstGeom prst="hexagon">
            <a:avLst>
              <a:gd name="adj" fmla="val 25653"/>
              <a:gd name="vf" fmla="val 115470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5132" name="Text Box 14">
            <a:extLst>
              <a:ext uri="{FF2B5EF4-FFF2-40B4-BE49-F238E27FC236}">
                <a16:creationId xmlns:a16="http://schemas.microsoft.com/office/drawing/2014/main" id="{0997B28A-5473-4633-8485-CC69F08BF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4288" y="4210050"/>
            <a:ext cx="17907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/>
              <a:t>간접사이클</a:t>
            </a:r>
          </a:p>
          <a:p>
            <a:pPr algn="ctr" eaLnBrk="1" hangingPunct="1"/>
            <a:r>
              <a:rPr lang="en-US" altLang="ko-KR" b="1"/>
              <a:t>(Indirect Cycle)</a:t>
            </a:r>
          </a:p>
        </p:txBody>
      </p:sp>
      <p:sp>
        <p:nvSpPr>
          <p:cNvPr id="5133" name="Line 15">
            <a:extLst>
              <a:ext uri="{FF2B5EF4-FFF2-40B4-BE49-F238E27FC236}">
                <a16:creationId xmlns:a16="http://schemas.microsoft.com/office/drawing/2014/main" id="{184CE322-C2E4-4973-AE2A-4640284145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7375" y="3662363"/>
            <a:ext cx="596900" cy="5302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5134" name="Line 16">
            <a:extLst>
              <a:ext uri="{FF2B5EF4-FFF2-40B4-BE49-F238E27FC236}">
                <a16:creationId xmlns:a16="http://schemas.microsoft.com/office/drawing/2014/main" id="{77C27021-B454-4B07-AA6C-D3A3534751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3665538"/>
            <a:ext cx="576263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5135" name="AutoShape 17">
            <a:extLst>
              <a:ext uri="{FF2B5EF4-FFF2-40B4-BE49-F238E27FC236}">
                <a16:creationId xmlns:a16="http://schemas.microsoft.com/office/drawing/2014/main" id="{D7DAFD6D-F337-4B7B-ADF6-C7E91E3B5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5368925"/>
            <a:ext cx="2376487" cy="792163"/>
          </a:xfrm>
          <a:prstGeom prst="hexagon">
            <a:avLst>
              <a:gd name="adj" fmla="val 25653"/>
              <a:gd name="vf" fmla="val 115470"/>
            </a:avLst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5136" name="Text Box 18">
            <a:extLst>
              <a:ext uri="{FF2B5EF4-FFF2-40B4-BE49-F238E27FC236}">
                <a16:creationId xmlns:a16="http://schemas.microsoft.com/office/drawing/2014/main" id="{7674CB9A-2BA9-405C-A7F2-969069122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0475" y="5418138"/>
            <a:ext cx="18811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/>
              <a:t>인터럽트사이클</a:t>
            </a:r>
          </a:p>
          <a:p>
            <a:pPr algn="ctr" eaLnBrk="1" hangingPunct="1"/>
            <a:r>
              <a:rPr lang="en-US" altLang="ko-KR" b="1"/>
              <a:t>(Interrupt Cycle)</a:t>
            </a:r>
          </a:p>
        </p:txBody>
      </p:sp>
      <p:sp>
        <p:nvSpPr>
          <p:cNvPr id="5137" name="Line 19">
            <a:extLst>
              <a:ext uri="{FF2B5EF4-FFF2-40B4-BE49-F238E27FC236}">
                <a16:creationId xmlns:a16="http://schemas.microsoft.com/office/drawing/2014/main" id="{4E184A48-3DB3-41D7-A1FB-0AD5BCDD23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4488" y="3662363"/>
            <a:ext cx="2160587" cy="172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5138" name="Line 20">
            <a:extLst>
              <a:ext uri="{FF2B5EF4-FFF2-40B4-BE49-F238E27FC236}">
                <a16:creationId xmlns:a16="http://schemas.microsoft.com/office/drawing/2014/main" id="{502BDB54-D2C3-46E0-8B3E-4C08BB83E1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3662363"/>
            <a:ext cx="2016125" cy="17319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8" grpId="0" animBg="1"/>
      <p:bldP spid="5129" grpId="0"/>
      <p:bldP spid="5131" grpId="0" animBg="1"/>
      <p:bldP spid="5132" grpId="0"/>
      <p:bldP spid="5135" grpId="0" animBg="1"/>
      <p:bldP spid="51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번호 개체 틀 1">
            <a:extLst>
              <a:ext uri="{FF2B5EF4-FFF2-40B4-BE49-F238E27FC236}">
                <a16:creationId xmlns:a16="http://schemas.microsoft.com/office/drawing/2014/main" id="{5A699CB7-194A-45C3-9F12-E6B79688DC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05E646E8-10EC-489E-9307-765258F118FE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5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7171" name="Rectangle 6">
            <a:extLst>
              <a:ext uri="{FF2B5EF4-FFF2-40B4-BE49-F238E27FC236}">
                <a16:creationId xmlns:a16="http://schemas.microsoft.com/office/drawing/2014/main" id="{02A5E4A0-2DEF-4FE5-8794-27D7D2CD2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908050"/>
            <a:ext cx="8742363" cy="402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3) </a:t>
            </a:r>
            <a:r>
              <a:rPr lang="ko-KR" altLang="en-US" b="1"/>
              <a:t>인출 단계 </a:t>
            </a:r>
            <a:r>
              <a:rPr lang="en-US" altLang="ko-KR" b="1"/>
              <a:t>(Fetch Cycle)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① </a:t>
            </a:r>
            <a:r>
              <a:rPr lang="ko-KR" altLang="en-US" b="1"/>
              <a:t>주기억장치의 지정 장소</a:t>
            </a:r>
            <a:r>
              <a:rPr lang="en-US" altLang="ko-KR" b="1"/>
              <a:t>(Address)</a:t>
            </a:r>
            <a:r>
              <a:rPr lang="ko-KR" altLang="en-US" b="1"/>
              <a:t>로부터 명령을 읽어서 중앙처리장치에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가지고 오는 단계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② 명령의 오퍼레이션</a:t>
            </a:r>
            <a:r>
              <a:rPr lang="en-US" altLang="ko-KR" b="1"/>
              <a:t>(Operation) </a:t>
            </a:r>
            <a:r>
              <a:rPr lang="ko-KR" altLang="en-US" b="1"/>
              <a:t>부를 명령 레지스터</a:t>
            </a:r>
            <a:r>
              <a:rPr lang="en-US" altLang="ko-KR" b="1"/>
              <a:t>(Instruction Register)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</a:t>
            </a:r>
            <a:r>
              <a:rPr lang="ko-KR" altLang="en-US" b="1"/>
              <a:t>에 세트</a:t>
            </a:r>
            <a:r>
              <a:rPr lang="en-US" altLang="ko-KR" b="1"/>
              <a:t>(Set) </a:t>
            </a:r>
            <a:r>
              <a:rPr lang="ko-KR" altLang="en-US" b="1"/>
              <a:t>시켜 해독시킴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③ 다음에 실행할 명령의 기억장소 </a:t>
            </a:r>
            <a:r>
              <a:rPr lang="en-US" altLang="ko-KR" b="1"/>
              <a:t>(Address) </a:t>
            </a:r>
            <a:r>
              <a:rPr lang="ko-KR" altLang="en-US" b="1"/>
              <a:t>를 세트</a:t>
            </a:r>
            <a:r>
              <a:rPr lang="en-US" altLang="ko-KR" b="1"/>
              <a:t>(Set) </a:t>
            </a:r>
            <a:r>
              <a:rPr lang="ko-KR" altLang="en-US" b="1"/>
              <a:t>시킴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④ 인스트럭션의 종류에 대한 판단이 이루어지는 상태 </a:t>
            </a:r>
            <a:r>
              <a:rPr lang="en-US" altLang="ko-KR" b="1"/>
              <a:t>(</a:t>
            </a:r>
            <a:r>
              <a:rPr lang="ko-KR" altLang="en-US" b="1"/>
              <a:t>명령을 읽어내는 스테이트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⑤ </a:t>
            </a:r>
            <a:r>
              <a:rPr lang="ko-KR" altLang="en-US" b="1"/>
              <a:t>인터럽트를 처리한 후 다음으로 전환해야 될 메이저 스테이트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⑥ 페치</a:t>
            </a:r>
            <a:r>
              <a:rPr lang="en-US" altLang="ko-KR" b="1"/>
              <a:t>(fetch) </a:t>
            </a:r>
            <a:r>
              <a:rPr lang="ko-KR" altLang="en-US" b="1"/>
              <a:t>사이클에서 사용하는 것 </a:t>
            </a:r>
            <a:r>
              <a:rPr lang="en-US" altLang="ko-KR" b="1"/>
              <a:t>: Program counter, Memory Buffer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                                                  Register, Memory Address Register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⑦ PC</a:t>
            </a:r>
            <a:r>
              <a:rPr lang="ko-KR" altLang="en-US" b="1"/>
              <a:t>의 내용은 </a:t>
            </a:r>
            <a:r>
              <a:rPr lang="en-US" altLang="ko-KR" b="1"/>
              <a:t>Fetch Cycle </a:t>
            </a:r>
            <a:r>
              <a:rPr lang="ko-KR" altLang="en-US" b="1"/>
              <a:t>동안에 </a:t>
            </a:r>
            <a:r>
              <a:rPr lang="en-US" altLang="ko-KR" b="1"/>
              <a:t>1 </a:t>
            </a:r>
            <a:r>
              <a:rPr lang="ko-KR" altLang="en-US" b="1"/>
              <a:t>증가됨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1">
            <a:extLst>
              <a:ext uri="{FF2B5EF4-FFF2-40B4-BE49-F238E27FC236}">
                <a16:creationId xmlns:a16="http://schemas.microsoft.com/office/drawing/2014/main" id="{74B0D6CC-72AD-4125-AE85-1432302A9F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0CC1F1B9-8FAD-4022-BA6C-0027F134EF4F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6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004E9A43-E8BB-4FAF-B0CD-E6CECA266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92150"/>
            <a:ext cx="587057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⑧ Fetch Cycle </a:t>
            </a:r>
            <a:r>
              <a:rPr lang="ko-KR" altLang="en-US" b="1"/>
              <a:t>서 일어나는 마이크로 오퍼레이션</a:t>
            </a:r>
          </a:p>
        </p:txBody>
      </p:sp>
      <p:graphicFrame>
        <p:nvGraphicFramePr>
          <p:cNvPr id="7190" name="Group 22">
            <a:extLst>
              <a:ext uri="{FF2B5EF4-FFF2-40B4-BE49-F238E27FC236}">
                <a16:creationId xmlns:a16="http://schemas.microsoft.com/office/drawing/2014/main" id="{63CF21B9-07B9-433A-903D-FA327F9E040C}"/>
              </a:ext>
            </a:extLst>
          </p:cNvPr>
          <p:cNvGraphicFramePr>
            <a:graphicFrameLocks noGrp="1"/>
          </p:cNvGraphicFramePr>
          <p:nvPr/>
        </p:nvGraphicFramePr>
        <p:xfrm>
          <a:off x="539750" y="1249363"/>
          <a:ext cx="8281988" cy="4270375"/>
        </p:xfrm>
        <a:graphic>
          <a:graphicData uri="http://schemas.openxmlformats.org/drawingml/2006/table">
            <a:tbl>
              <a:tblPr/>
              <a:tblGrid>
                <a:gridCol w="2735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2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T1 :  MAR ← PC</a:t>
                      </a:r>
                    </a:p>
                  </a:txBody>
                  <a:tcPr marL="90000" marR="90000" marT="46807" marB="46807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• PC</a:t>
                      </a: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에 있는 번지를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MAR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에 전송</a:t>
                      </a:r>
                    </a:p>
                  </a:txBody>
                  <a:tcPr marL="90000" marR="90000" marT="46807" marB="468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4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T2 :  MBR ← M[MAR],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  PC ← PC+1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0000" marR="90000" marT="46807" marB="46807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•</a:t>
                      </a: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메모리에서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MAR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이 지정하는 위치의 값을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MBR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에 전송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•</a:t>
                      </a: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다음에 실행할 명령의 위치를 지정하기 위해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PC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의 값을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증가시킴</a:t>
                      </a:r>
                    </a:p>
                  </a:txBody>
                  <a:tcPr marL="90000" marR="90000" marT="46807" marB="468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18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T3 : OPR ← MBR[OP],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 I← MBR[I]</a:t>
                      </a:r>
                    </a:p>
                  </a:txBody>
                  <a:tcPr marL="90000" marR="90000" marT="46807" marB="46807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•</a:t>
                      </a: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명령어의 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Op-Code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부분을 명령 레지스터에 전송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•</a:t>
                      </a: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명령어의 모드 비트를 플립플롭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I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에 전송</a:t>
                      </a:r>
                    </a:p>
                  </a:txBody>
                  <a:tcPr marL="90000" marR="90000" marT="46807" marB="468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33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T4 :  F ← 1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또는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R ← 1</a:t>
                      </a:r>
                    </a:p>
                  </a:txBody>
                  <a:tcPr marL="90000" marR="90000" marT="46807" marB="46807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• I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가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이면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F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플립플롭에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을 전송하여 실행 사이클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로 변하고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I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가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이면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R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플립플롭에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을 전송하여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간접 사이클로 변함</a:t>
                      </a:r>
                    </a:p>
                  </a:txBody>
                  <a:tcPr marL="90000" marR="90000" marT="46807" marB="468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번호 개체 틀 1">
            <a:extLst>
              <a:ext uri="{FF2B5EF4-FFF2-40B4-BE49-F238E27FC236}">
                <a16:creationId xmlns:a16="http://schemas.microsoft.com/office/drawing/2014/main" id="{F4D6025E-681F-442A-8C21-4F01998A40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2952D125-61FA-41B6-B5A7-123065507AAA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7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9219" name="Rectangle 20">
            <a:extLst>
              <a:ext uri="{FF2B5EF4-FFF2-40B4-BE49-F238E27FC236}">
                <a16:creationId xmlns:a16="http://schemas.microsoft.com/office/drawing/2014/main" id="{59A43BEF-14C3-43F0-A12C-B3C259991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908050"/>
            <a:ext cx="8532812" cy="437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4) </a:t>
            </a:r>
            <a:r>
              <a:rPr lang="ko-KR" altLang="en-US" b="1"/>
              <a:t>간접 단계 </a:t>
            </a:r>
            <a:r>
              <a:rPr lang="en-US" altLang="ko-KR" b="1"/>
              <a:t>(Indirect Cycle)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① </a:t>
            </a:r>
            <a:r>
              <a:rPr lang="ko-KR" altLang="en-US" b="1"/>
              <a:t>인스트럭션의 수행 시 유효 주소를 구하기 위한 메이저 상태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②  </a:t>
            </a:r>
            <a:r>
              <a:rPr lang="en-US" altLang="ko-KR" b="1"/>
              <a:t>Fetch</a:t>
            </a:r>
            <a:r>
              <a:rPr lang="ko-KR" altLang="en-US" b="1"/>
              <a:t>단계에서 해석된 명령의 주소부가 간접주소인 경우 수행됨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③ 간접 단계</a:t>
            </a:r>
            <a:r>
              <a:rPr lang="en-US" altLang="ko-KR" b="1"/>
              <a:t>(Indirect cycle) </a:t>
            </a:r>
            <a:r>
              <a:rPr lang="ko-KR" altLang="en-US" b="1"/>
              <a:t>동안에 기억장치로부터 오퍼랜드</a:t>
            </a:r>
            <a:r>
              <a:rPr lang="en-US" altLang="ko-KR" b="1"/>
              <a:t>(</a:t>
            </a:r>
            <a:r>
              <a:rPr lang="ko-KR" altLang="en-US" b="1"/>
              <a:t>데이터</a:t>
            </a:r>
            <a:r>
              <a:rPr lang="en-US" altLang="ko-KR" b="1"/>
              <a:t>) </a:t>
            </a:r>
            <a:r>
              <a:rPr lang="ko-KR" altLang="en-US" b="1"/>
              <a:t>의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번지 </a:t>
            </a:r>
            <a:r>
              <a:rPr lang="en-US" altLang="ko-KR" b="1"/>
              <a:t>(Address)</a:t>
            </a:r>
            <a:r>
              <a:rPr lang="ko-KR" altLang="en-US" b="1"/>
              <a:t>를 인출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④ 특정한 인스트럭션에 대해서는 </a:t>
            </a:r>
            <a:r>
              <a:rPr lang="en-US" altLang="ko-KR" b="1"/>
              <a:t>Indirect</a:t>
            </a:r>
            <a:r>
              <a:rPr lang="ko-KR" altLang="en-US" b="1"/>
              <a:t>상태가 필요 없음 </a:t>
            </a:r>
          </a:p>
          <a:p>
            <a:pPr eaLnBrk="1" hangingPunct="1">
              <a:lnSpc>
                <a:spcPct val="130000"/>
              </a:lnSpc>
            </a:pPr>
            <a:endParaRPr lang="ko-KR" altLang="en-US" b="1"/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5) </a:t>
            </a:r>
            <a:r>
              <a:rPr lang="ko-KR" altLang="en-US" b="1"/>
              <a:t>실행 단계 </a:t>
            </a:r>
            <a:r>
              <a:rPr lang="en-US" altLang="ko-KR" b="1"/>
              <a:t>(Execute Cycle)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① </a:t>
            </a:r>
            <a:r>
              <a:rPr lang="ko-KR" altLang="en-US" b="1"/>
              <a:t>실제로 명령을 이행하는 단계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② </a:t>
            </a:r>
            <a:r>
              <a:rPr lang="en-US" altLang="ko-KR" b="1"/>
              <a:t>Execute </a:t>
            </a:r>
            <a:r>
              <a:rPr lang="ko-KR" altLang="en-US" b="1"/>
              <a:t>단계에서는 </a:t>
            </a:r>
            <a:r>
              <a:rPr lang="en-US" altLang="ko-KR" b="1"/>
              <a:t>Interrupt </a:t>
            </a:r>
            <a:r>
              <a:rPr lang="ko-KR" altLang="en-US" b="1"/>
              <a:t>요청신호를 나타내는 플래그 레지스터의 상태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변화를 검사하여 </a:t>
            </a:r>
            <a:r>
              <a:rPr lang="en-US" altLang="ko-KR" b="1"/>
              <a:t>Interrupt </a:t>
            </a:r>
            <a:r>
              <a:rPr lang="ko-KR" altLang="en-US" b="1"/>
              <a:t>단계로 변천할 것인지 </a:t>
            </a:r>
            <a:r>
              <a:rPr lang="en-US" altLang="ko-KR" b="1"/>
              <a:t>Fetch </a:t>
            </a:r>
            <a:r>
              <a:rPr lang="ko-KR" altLang="en-US" b="1"/>
              <a:t>단계로 변천할 것인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지 판단함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번호 개체 틀 1">
            <a:extLst>
              <a:ext uri="{FF2B5EF4-FFF2-40B4-BE49-F238E27FC236}">
                <a16:creationId xmlns:a16="http://schemas.microsoft.com/office/drawing/2014/main" id="{7BE69E6F-B118-4A39-B2FD-175274CEF0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A468004F-92AE-4085-9132-96DE466A66F7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8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B77F822-8AD9-4CFD-99A4-D2D706F7D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908050"/>
            <a:ext cx="8497887" cy="187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6) </a:t>
            </a:r>
            <a:r>
              <a:rPr lang="ko-KR" altLang="en-US" b="1"/>
              <a:t>인터럽트 단계 </a:t>
            </a:r>
            <a:r>
              <a:rPr lang="en-US" altLang="ko-KR" b="1"/>
              <a:t>(Interrupt Cycle)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① </a:t>
            </a:r>
            <a:r>
              <a:rPr lang="ko-KR" altLang="en-US" b="1"/>
              <a:t>하드웨어로 실현되는 서브루틴의 호출이라고 볼 수 있음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② 인터럽트 발생 시 복귀주소</a:t>
            </a:r>
            <a:r>
              <a:rPr lang="en-US" altLang="ko-KR" b="1"/>
              <a:t>(PC) </a:t>
            </a:r>
            <a:r>
              <a:rPr lang="ko-KR" altLang="en-US" b="1"/>
              <a:t>를 저장시키고</a:t>
            </a:r>
            <a:r>
              <a:rPr lang="en-US" altLang="ko-KR" b="1"/>
              <a:t>, </a:t>
            </a:r>
            <a:r>
              <a:rPr lang="ko-KR" altLang="en-US" b="1"/>
              <a:t>제어 순서를 인터럽트 처리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프로그램의 첫 번째 명령으로 옮기는 단계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③ </a:t>
            </a:r>
            <a:r>
              <a:rPr lang="en-US" altLang="ko-KR" b="1"/>
              <a:t>Interrupt Cycle </a:t>
            </a:r>
            <a:r>
              <a:rPr lang="ko-KR" altLang="en-US" b="1"/>
              <a:t>에서 일어나는 마이크로 오퍼레이션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04026202-64CF-4CF9-944E-12BB89580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3068638"/>
            <a:ext cx="3887788" cy="1530350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 1. MBR(AD) ← PC, PC ← 0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2. MAR  ← PC, PC  ← PC+1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3. M  ← MBR, IEN  ← 0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4. F  ← 0, R ← 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번호 개체 틀 1">
            <a:extLst>
              <a:ext uri="{FF2B5EF4-FFF2-40B4-BE49-F238E27FC236}">
                <a16:creationId xmlns:a16="http://schemas.microsoft.com/office/drawing/2014/main" id="{94454690-8439-44C5-BA08-89C6EE4DBF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1AB58CD3-C716-44DD-A658-B9C12D586030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9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760B68B-04B7-4790-B4BE-DDBAC3755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2852738"/>
            <a:ext cx="3024187" cy="925512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 MAR</a:t>
            </a:r>
            <a:r>
              <a:rPr lang="en-US" altLang="ko-KR"/>
              <a:t> </a:t>
            </a:r>
            <a:r>
              <a:rPr lang="en-US" altLang="ko-KR" b="1"/>
              <a:t>←  MBR </a:t>
            </a:r>
          </a:p>
          <a:p>
            <a:pPr eaLnBrk="1" hangingPunct="1"/>
            <a:r>
              <a:rPr lang="en-US" altLang="ko-KR" b="1"/>
              <a:t> MBR ← M(MAR) </a:t>
            </a:r>
          </a:p>
          <a:p>
            <a:pPr eaLnBrk="1" hangingPunct="1"/>
            <a:r>
              <a:rPr lang="en-US" altLang="ko-KR" b="1"/>
              <a:t> AC </a:t>
            </a:r>
            <a:r>
              <a:rPr lang="en-US" altLang="ko-KR"/>
              <a:t> </a:t>
            </a:r>
            <a:r>
              <a:rPr lang="en-US" altLang="ko-KR" b="1"/>
              <a:t>← AC AND MBR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DAB33085-6579-49E0-909E-F7BA7698E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836613"/>
            <a:ext cx="8459788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sz="2000" b="1"/>
              <a:t>(2) </a:t>
            </a:r>
            <a:r>
              <a:rPr lang="ko-KR" altLang="en-US" sz="2000" b="1"/>
              <a:t>주요 명령의 마이크로 오퍼레이션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1) AND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① AC (</a:t>
            </a:r>
            <a:r>
              <a:rPr lang="ko-KR" altLang="en-US" b="1"/>
              <a:t>누산기</a:t>
            </a:r>
            <a:r>
              <a:rPr lang="en-US" altLang="ko-KR" b="1"/>
              <a:t>) </a:t>
            </a:r>
            <a:r>
              <a:rPr lang="ko-KR" altLang="en-US" b="1"/>
              <a:t>내용과 메모리 내용을 </a:t>
            </a:r>
            <a:r>
              <a:rPr lang="en-US" altLang="ko-KR" b="1"/>
              <a:t>AND(</a:t>
            </a:r>
            <a:r>
              <a:rPr lang="ko-KR" altLang="en-US" b="1"/>
              <a:t>논리곱</a:t>
            </a:r>
            <a:r>
              <a:rPr lang="en-US" altLang="ko-KR" b="1"/>
              <a:t>) </a:t>
            </a:r>
            <a:r>
              <a:rPr lang="ko-KR" altLang="en-US" b="1"/>
              <a:t>연산하여 결과를 </a:t>
            </a:r>
            <a:r>
              <a:rPr lang="en-US" altLang="ko-KR" b="1"/>
              <a:t>AC</a:t>
            </a:r>
            <a:r>
              <a:rPr lang="ko-KR" altLang="en-US" b="1"/>
              <a:t>에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 저장 하는 연산 명령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② </a:t>
            </a:r>
            <a:r>
              <a:rPr lang="en-US" altLang="ko-KR" b="1"/>
              <a:t>Interrupt Cycle</a:t>
            </a:r>
            <a:r>
              <a:rPr lang="ko-KR" altLang="en-US" b="1"/>
              <a:t>에서 일어나는 마이크로 오퍼레이션</a:t>
            </a:r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94038128-D542-401E-9830-351DEAE37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" y="3933825"/>
            <a:ext cx="8172450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2) ADD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① AC</a:t>
            </a:r>
            <a:r>
              <a:rPr lang="ko-KR" altLang="en-US" b="1"/>
              <a:t>와 메모리의 내용을 더하여 결과를 </a:t>
            </a:r>
            <a:r>
              <a:rPr lang="en-US" altLang="ko-KR" b="1"/>
              <a:t>AC</a:t>
            </a:r>
            <a:r>
              <a:rPr lang="ko-KR" altLang="en-US" b="1"/>
              <a:t>에 저장하는 연산 명령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② 마이크로 오퍼레이션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FA35C036-24F3-401A-8744-045B7148F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5157788"/>
            <a:ext cx="3024187" cy="925512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 MAR</a:t>
            </a:r>
            <a:r>
              <a:rPr lang="en-US" altLang="ko-KR"/>
              <a:t> </a:t>
            </a:r>
            <a:r>
              <a:rPr lang="en-US" altLang="ko-KR" b="1"/>
              <a:t>←  MBR(ADDR)</a:t>
            </a:r>
          </a:p>
          <a:p>
            <a:pPr eaLnBrk="1" hangingPunct="1"/>
            <a:r>
              <a:rPr lang="en-US" altLang="ko-KR" b="1"/>
              <a:t> MBR ← M(MAR) </a:t>
            </a:r>
          </a:p>
          <a:p>
            <a:pPr eaLnBrk="1" hangingPunct="1"/>
            <a:r>
              <a:rPr lang="en-US" altLang="ko-KR" b="1"/>
              <a:t> AC </a:t>
            </a:r>
            <a:r>
              <a:rPr lang="en-US" altLang="ko-KR"/>
              <a:t> </a:t>
            </a:r>
            <a:r>
              <a:rPr lang="en-US" altLang="ko-KR" b="1"/>
              <a:t>← AC+ MBR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번호 개체 틀 1">
            <a:extLst>
              <a:ext uri="{FF2B5EF4-FFF2-40B4-BE49-F238E27FC236}">
                <a16:creationId xmlns:a16="http://schemas.microsoft.com/office/drawing/2014/main" id="{508946C1-51DA-463E-BE94-E56EDF84EE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E7CC9D70-8577-4A7B-9BF0-A100D73EA6BD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10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FA5C4046-C073-4DAE-8659-81E83CF7C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6850" y="2133600"/>
            <a:ext cx="3024188" cy="925513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 MAR</a:t>
            </a:r>
            <a:r>
              <a:rPr lang="en-US" altLang="ko-KR"/>
              <a:t> </a:t>
            </a:r>
            <a:r>
              <a:rPr lang="en-US" altLang="ko-KR" b="1"/>
              <a:t>←  MBR(AD)</a:t>
            </a:r>
          </a:p>
          <a:p>
            <a:pPr eaLnBrk="1" hangingPunct="1"/>
            <a:r>
              <a:rPr lang="en-US" altLang="ko-KR" b="1"/>
              <a:t> MBR ← M(MAR), AC ← 0</a:t>
            </a:r>
          </a:p>
          <a:p>
            <a:pPr eaLnBrk="1" hangingPunct="1"/>
            <a:r>
              <a:rPr lang="en-US" altLang="ko-KR" b="1"/>
              <a:t> AC </a:t>
            </a:r>
            <a:r>
              <a:rPr lang="en-US" altLang="ko-KR"/>
              <a:t> </a:t>
            </a:r>
            <a:r>
              <a:rPr lang="en-US" altLang="ko-KR" b="1"/>
              <a:t>← AC + MBR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36031F60-6552-413C-A566-5F84D51EB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836613"/>
            <a:ext cx="8459787" cy="116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3) LDA (Load to AC)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① </a:t>
            </a:r>
            <a:r>
              <a:rPr lang="ko-KR" altLang="en-US" b="1"/>
              <a:t>메모리의 내용을 </a:t>
            </a:r>
            <a:r>
              <a:rPr lang="en-US" altLang="ko-KR" b="1"/>
              <a:t>AC</a:t>
            </a:r>
            <a:r>
              <a:rPr lang="ko-KR" altLang="en-US" b="1"/>
              <a:t>로 가져오는 명령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② 마이크로 오퍼레이션</a:t>
            </a:r>
          </a:p>
        </p:txBody>
      </p:sp>
      <p:sp>
        <p:nvSpPr>
          <p:cNvPr id="12293" name="Rectangle 4">
            <a:extLst>
              <a:ext uri="{FF2B5EF4-FFF2-40B4-BE49-F238E27FC236}">
                <a16:creationId xmlns:a16="http://schemas.microsoft.com/office/drawing/2014/main" id="{8E9D94EE-7358-4E6A-9650-961199CCE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3573463"/>
            <a:ext cx="8172450" cy="116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4) STA (Store AC)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① AC</a:t>
            </a:r>
            <a:r>
              <a:rPr lang="ko-KR" altLang="en-US" b="1"/>
              <a:t>의 내용을 메모리에 저장하는 명령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② 마이크로 오퍼레이션</a:t>
            </a:r>
          </a:p>
        </p:txBody>
      </p:sp>
      <p:sp>
        <p:nvSpPr>
          <p:cNvPr id="12294" name="Rectangle 5">
            <a:extLst>
              <a:ext uri="{FF2B5EF4-FFF2-40B4-BE49-F238E27FC236}">
                <a16:creationId xmlns:a16="http://schemas.microsoft.com/office/drawing/2014/main" id="{3950E32A-AAFA-4B0A-BFAC-82FD5E080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6850" y="4868863"/>
            <a:ext cx="3024188" cy="925512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 MAR ←  MBR(AD)</a:t>
            </a:r>
          </a:p>
          <a:p>
            <a:pPr eaLnBrk="1" hangingPunct="1"/>
            <a:r>
              <a:rPr lang="en-US" altLang="ko-KR" b="1"/>
              <a:t> MBR ← AC </a:t>
            </a:r>
          </a:p>
          <a:p>
            <a:pPr eaLnBrk="1" hangingPunct="1"/>
            <a:r>
              <a:rPr lang="en-US" altLang="ko-KR" b="1"/>
              <a:t> M ←  MBR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번호 개체 틀 1">
            <a:extLst>
              <a:ext uri="{FF2B5EF4-FFF2-40B4-BE49-F238E27FC236}">
                <a16:creationId xmlns:a16="http://schemas.microsoft.com/office/drawing/2014/main" id="{2995D804-5039-43EE-820A-63E22ACF09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88984465-12BB-482B-B6A9-8B5FC62B4B26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11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23258A7F-B737-45F5-9DE9-8AF4861A5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6850" y="1916113"/>
            <a:ext cx="3024188" cy="376237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 PC</a:t>
            </a:r>
            <a:r>
              <a:rPr lang="en-US" altLang="ko-KR"/>
              <a:t> </a:t>
            </a:r>
            <a:r>
              <a:rPr lang="en-US" altLang="ko-KR" b="1"/>
              <a:t>←  MBR(AD)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97C58E21-83A3-424C-864D-065BD6024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692150"/>
            <a:ext cx="8748713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en-US" b="1"/>
              <a:t>5) BUN</a:t>
            </a:r>
            <a:r>
              <a:rPr lang="en-US" altLang="ko-KR" b="1"/>
              <a:t> </a:t>
            </a:r>
            <a:r>
              <a:rPr lang="en-US" altLang="en-US" b="1"/>
              <a:t>(Branch UNconditionally)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</a:t>
            </a:r>
            <a:r>
              <a:rPr lang="en-US" altLang="en-US" b="1"/>
              <a:t>① PC 에 </a:t>
            </a:r>
            <a:r>
              <a:rPr lang="ko-KR" altLang="en-US" b="1"/>
              <a:t>특정한 주소를 전송하여 실행명령의 위치를 변경하는 무조건 분기 명령</a:t>
            </a:r>
            <a:endParaRPr lang="en-US" altLang="en-US" b="1"/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</a:t>
            </a:r>
            <a:r>
              <a:rPr lang="en-US" altLang="en-US" b="1"/>
              <a:t>② </a:t>
            </a:r>
            <a:r>
              <a:rPr lang="ko-KR" altLang="en-US" b="1"/>
              <a:t>마이크로 오퍼레이션</a:t>
            </a:r>
            <a:endParaRPr lang="en-US" altLang="en-US" b="1"/>
          </a:p>
        </p:txBody>
      </p:sp>
      <p:sp>
        <p:nvSpPr>
          <p:cNvPr id="13317" name="Rectangle 4">
            <a:extLst>
              <a:ext uri="{FF2B5EF4-FFF2-40B4-BE49-F238E27FC236}">
                <a16:creationId xmlns:a16="http://schemas.microsoft.com/office/drawing/2014/main" id="{4E1F52E9-18D0-4C95-93F9-1682B6AE5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925" y="2382838"/>
            <a:ext cx="8509000" cy="250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6) BSA (Branch and Save Return Address)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</a:t>
            </a:r>
            <a:r>
              <a:rPr lang="ko-KR" altLang="en-US" b="1"/>
              <a:t>복귀주소를 저장하고 부 프로그램을 호출하는 명령</a:t>
            </a:r>
          </a:p>
          <a:p>
            <a:pPr eaLnBrk="1" hangingPunct="1"/>
            <a:endParaRPr lang="ko-KR" altLang="en-US" b="1"/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7) ISZ (Increment and Skip if Zero)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① </a:t>
            </a:r>
            <a:r>
              <a:rPr lang="ko-KR" altLang="en-US" b="1"/>
              <a:t>메모리의 값을 읽고 그 값을 </a:t>
            </a:r>
            <a:r>
              <a:rPr lang="en-US" altLang="ko-KR" b="1"/>
              <a:t>1 </a:t>
            </a:r>
            <a:r>
              <a:rPr lang="ko-KR" altLang="en-US" b="1"/>
              <a:t>증가시킨 후 음수에서 시작한 그 값이 </a:t>
            </a:r>
            <a:r>
              <a:rPr lang="en-US" altLang="ko-KR" b="1"/>
              <a:t>0 </a:t>
            </a:r>
            <a:r>
              <a:rPr lang="ko-KR" altLang="en-US" b="1"/>
              <a:t>이면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현재 명령을 건너 띄고 다음 명령으로 이동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② 마이크로 오퍼레이션</a:t>
            </a:r>
          </a:p>
        </p:txBody>
      </p:sp>
      <p:sp>
        <p:nvSpPr>
          <p:cNvPr id="13318" name="Rectangle 5">
            <a:extLst>
              <a:ext uri="{FF2B5EF4-FFF2-40B4-BE49-F238E27FC236}">
                <a16:creationId xmlns:a16="http://schemas.microsoft.com/office/drawing/2014/main" id="{CA0380F5-46B8-4713-AE1C-1F62C3E4C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4941888"/>
            <a:ext cx="5148262" cy="1200150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 MAR ←  MBR(AD)</a:t>
            </a:r>
          </a:p>
          <a:p>
            <a:pPr eaLnBrk="1" hangingPunct="1"/>
            <a:r>
              <a:rPr lang="en-US" altLang="ko-KR" b="1"/>
              <a:t> MBR ← M </a:t>
            </a:r>
          </a:p>
          <a:p>
            <a:pPr eaLnBrk="1" hangingPunct="1"/>
            <a:r>
              <a:rPr lang="en-US" altLang="ko-KR" b="1"/>
              <a:t> MBR ←  MBR + 1</a:t>
            </a:r>
          </a:p>
          <a:p>
            <a:pPr eaLnBrk="1" hangingPunct="1"/>
            <a:r>
              <a:rPr lang="en-US" altLang="ko-KR" b="1"/>
              <a:t> M ← MBR, IF(MBRr=0) THEN (PC ← PC+1)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번호 개체 틀 1">
            <a:extLst>
              <a:ext uri="{FF2B5EF4-FFF2-40B4-BE49-F238E27FC236}">
                <a16:creationId xmlns:a16="http://schemas.microsoft.com/office/drawing/2014/main" id="{709F0B73-C551-4C81-AE07-81F22718AB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D59DD7E5-DFFC-4BEE-8D72-99D4A289872A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12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4339" name="Text Box 6">
            <a:extLst>
              <a:ext uri="{FF2B5EF4-FFF2-40B4-BE49-F238E27FC236}">
                <a16:creationId xmlns:a16="http://schemas.microsoft.com/office/drawing/2014/main" id="{AB95F899-F263-4BD4-9C36-46F095295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5" y="765175"/>
            <a:ext cx="41878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3. </a:t>
            </a:r>
            <a:r>
              <a:rPr lang="ko-KR" altLang="en-US" sz="2200" b="1"/>
              <a:t>제어장치와 마이크로프로그램</a:t>
            </a:r>
          </a:p>
        </p:txBody>
      </p:sp>
      <p:sp>
        <p:nvSpPr>
          <p:cNvPr id="14340" name="Rectangle 7">
            <a:extLst>
              <a:ext uri="{FF2B5EF4-FFF2-40B4-BE49-F238E27FC236}">
                <a16:creationId xmlns:a16="http://schemas.microsoft.com/office/drawing/2014/main" id="{32C2F436-4F72-4E5B-B467-0918189C7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268413"/>
            <a:ext cx="7705725" cy="370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sz="2000" b="1"/>
              <a:t>(1) </a:t>
            </a:r>
            <a:r>
              <a:rPr lang="ko-KR" altLang="en-US" sz="2000" b="1"/>
              <a:t>제어 데이터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1) </a:t>
            </a:r>
            <a:r>
              <a:rPr lang="ko-KR" altLang="en-US" b="1"/>
              <a:t>제어 데이터의 종류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① 각 메이저 스테이트 사이의 변천을 제어하는 제어 데이터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② 중앙처리장치의 제어점을 제어하는데 필요한 제어 데이터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③ 인스트럭션의 수행순서를 결정하는데 필요한 제어 데이터</a:t>
            </a:r>
          </a:p>
          <a:p>
            <a:pPr eaLnBrk="1" hangingPunct="1">
              <a:lnSpc>
                <a:spcPct val="130000"/>
              </a:lnSpc>
            </a:pPr>
            <a:endParaRPr lang="ko-KR" altLang="en-US" b="1"/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2) </a:t>
            </a:r>
            <a:r>
              <a:rPr lang="ko-KR" altLang="en-US" b="1"/>
              <a:t>제어 데이터가 될 수 있는 것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① 연산자의 종류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② 인스트럭션의 주소지정방식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③ 연산 결과에 대한 상태 플래그 내용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번호 개체 틀 1">
            <a:extLst>
              <a:ext uri="{FF2B5EF4-FFF2-40B4-BE49-F238E27FC236}">
                <a16:creationId xmlns:a16="http://schemas.microsoft.com/office/drawing/2014/main" id="{422CC9DD-CCFD-4CF6-9DE4-D6E6AB829B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8669D0E2-2CCB-4BC8-A438-4BB2341C6F2C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13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5363" name="Rectangle 4">
            <a:extLst>
              <a:ext uri="{FF2B5EF4-FFF2-40B4-BE49-F238E27FC236}">
                <a16:creationId xmlns:a16="http://schemas.microsoft.com/office/drawing/2014/main" id="{91DB5BE9-B776-4991-9AA5-AC107ECE3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92150"/>
            <a:ext cx="7920037" cy="276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sz="2000" b="1"/>
              <a:t>(2) </a:t>
            </a:r>
            <a:r>
              <a:rPr lang="ko-KR" altLang="en-US" sz="2000" b="1"/>
              <a:t>제어장치</a:t>
            </a:r>
            <a:r>
              <a:rPr lang="en-US" altLang="ko-KR" sz="2000" b="1"/>
              <a:t>(</a:t>
            </a:r>
            <a:r>
              <a:rPr lang="ko-KR" altLang="en-US" sz="2000" b="1"/>
              <a:t>제어기</a:t>
            </a:r>
            <a:r>
              <a:rPr lang="en-US" altLang="ko-KR" sz="2000" b="1"/>
              <a:t>)</a:t>
            </a:r>
            <a:r>
              <a:rPr lang="ko-KR" altLang="en-US" sz="2000" b="1"/>
              <a:t>의 구현</a:t>
            </a:r>
            <a:r>
              <a:rPr lang="ko-KR" altLang="en-US" b="1"/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1) </a:t>
            </a:r>
            <a:r>
              <a:rPr lang="ko-KR" altLang="en-US" b="1"/>
              <a:t>고정 배선 방식 </a:t>
            </a:r>
            <a:r>
              <a:rPr lang="en-US" altLang="ko-KR" b="1"/>
              <a:t>(Hard-wired Control Unit)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① </a:t>
            </a:r>
            <a:r>
              <a:rPr lang="ko-KR" altLang="en-US" b="1"/>
              <a:t>속도가 빠름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② 마이크로프로그램 방식에 비해 비쌈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2) </a:t>
            </a:r>
            <a:r>
              <a:rPr lang="ko-KR" altLang="en-US" b="1"/>
              <a:t>마이크로프로그램 방식 </a:t>
            </a:r>
            <a:r>
              <a:rPr lang="en-US" altLang="ko-KR" b="1"/>
              <a:t>(Micro Programmed Control Unit)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① </a:t>
            </a:r>
            <a:r>
              <a:rPr lang="ko-KR" altLang="en-US" b="1"/>
              <a:t>마이크로프로그램을 이용한 방식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② 하드와이어드 방식에 비해 속도가 느림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3) </a:t>
            </a:r>
            <a:r>
              <a:rPr lang="ko-KR" altLang="en-US" b="1"/>
              <a:t>제어장치의 특징 비교</a:t>
            </a:r>
          </a:p>
        </p:txBody>
      </p:sp>
      <p:graphicFrame>
        <p:nvGraphicFramePr>
          <p:cNvPr id="268414" name="Group 126">
            <a:extLst>
              <a:ext uri="{FF2B5EF4-FFF2-40B4-BE49-F238E27FC236}">
                <a16:creationId xmlns:a16="http://schemas.microsoft.com/office/drawing/2014/main" id="{AC5AFA12-7EC5-48BA-BBA5-35EDEFE85DD3}"/>
              </a:ext>
            </a:extLst>
          </p:cNvPr>
          <p:cNvGraphicFramePr>
            <a:graphicFrameLocks noGrp="1"/>
          </p:cNvGraphicFramePr>
          <p:nvPr/>
        </p:nvGraphicFramePr>
        <p:xfrm>
          <a:off x="1116013" y="3609975"/>
          <a:ext cx="6627812" cy="2560638"/>
        </p:xfrm>
        <a:graphic>
          <a:graphicData uri="http://schemas.openxmlformats.org/drawingml/2006/table">
            <a:tbl>
              <a:tblPr/>
              <a:tblGrid>
                <a:gridCol w="151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5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구    분</a:t>
                      </a:r>
                    </a:p>
                  </a:txBody>
                  <a:tcPr marT="45726" marB="45726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고정배선 제어장치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마이크로프로그램 방식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반응 속도</a:t>
                      </a:r>
                    </a:p>
                  </a:txBody>
                  <a:tcPr marT="45726" marB="45726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고속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저속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회로 복잡도</a:t>
                      </a:r>
                    </a:p>
                  </a:txBody>
                  <a:tcPr marT="45726" marB="45726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복잡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간단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경제성</a:t>
                      </a:r>
                    </a:p>
                  </a:txBody>
                  <a:tcPr marT="45726" marB="45726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비경제적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경제적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융통성</a:t>
                      </a:r>
                    </a:p>
                  </a:txBody>
                  <a:tcPr marT="45726" marB="45726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없음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있음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구성</a:t>
                      </a:r>
                    </a:p>
                  </a:txBody>
                  <a:tcPr marT="45726" marB="45726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하드웨어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소프트웨어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제어 메모리</a:t>
                      </a:r>
                    </a:p>
                  </a:txBody>
                  <a:tcPr marT="45726" marB="45726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불필요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필요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1">
            <a:extLst>
              <a:ext uri="{FF2B5EF4-FFF2-40B4-BE49-F238E27FC236}">
                <a16:creationId xmlns:a16="http://schemas.microsoft.com/office/drawing/2014/main" id="{0D04A221-A5B1-471A-90DA-A1145807AA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6B2C30E2-B8E3-49EB-BFE6-349D8E597FBF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14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6387" name="Rectangle 37">
            <a:extLst>
              <a:ext uri="{FF2B5EF4-FFF2-40B4-BE49-F238E27FC236}">
                <a16:creationId xmlns:a16="http://schemas.microsoft.com/office/drawing/2014/main" id="{CC7D636F-5714-4B6D-A834-AB65D457F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49275"/>
            <a:ext cx="8855075" cy="577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ko-KR" b="1"/>
              <a:t>(3) </a:t>
            </a:r>
            <a:r>
              <a:rPr lang="ko-KR" altLang="en-US" b="1"/>
              <a:t>마이크로프로그램 </a:t>
            </a:r>
            <a:r>
              <a:rPr lang="en-US" altLang="ko-KR" b="1"/>
              <a:t>(Microprogram)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ko-KR" b="1"/>
              <a:t>     1) </a:t>
            </a:r>
            <a:r>
              <a:rPr lang="ko-KR" altLang="en-US" b="1"/>
              <a:t>어떤 명령을 수행할 수 있도록 된 일련의 제어 워드가 특수한 기억 장치 속에 </a:t>
            </a:r>
          </a:p>
          <a:p>
            <a:pPr eaLnBrk="1" hangingPunct="1">
              <a:lnSpc>
                <a:spcPct val="115000"/>
              </a:lnSpc>
            </a:pPr>
            <a:r>
              <a:rPr lang="ko-KR" altLang="en-US" b="1"/>
              <a:t>        저장된 것으로 각종 제어 신호를 발생시킴</a:t>
            </a:r>
          </a:p>
          <a:p>
            <a:pPr eaLnBrk="1" hangingPunct="1">
              <a:lnSpc>
                <a:spcPct val="115000"/>
              </a:lnSpc>
            </a:pPr>
            <a:r>
              <a:rPr lang="ko-KR" altLang="en-US" b="1"/>
              <a:t>     </a:t>
            </a:r>
            <a:r>
              <a:rPr lang="en-US" altLang="ko-KR" b="1"/>
              <a:t>2) </a:t>
            </a:r>
            <a:r>
              <a:rPr lang="ko-KR" altLang="en-US" b="1"/>
              <a:t>마이크로 명령으로 형성되어 있음</a:t>
            </a:r>
          </a:p>
          <a:p>
            <a:pPr eaLnBrk="1" hangingPunct="1">
              <a:lnSpc>
                <a:spcPct val="115000"/>
              </a:lnSpc>
            </a:pPr>
            <a:r>
              <a:rPr lang="ko-KR" altLang="en-US" b="1"/>
              <a:t>     </a:t>
            </a:r>
            <a:r>
              <a:rPr lang="en-US" altLang="ko-KR" b="1"/>
              <a:t>3) </a:t>
            </a:r>
            <a:r>
              <a:rPr lang="ko-KR" altLang="en-US" b="1"/>
              <a:t>전자계산기의 제작 단계에서 컨트롤 스토리지</a:t>
            </a:r>
            <a:r>
              <a:rPr lang="en-US" altLang="ko-KR" b="1"/>
              <a:t>(control storage) </a:t>
            </a:r>
            <a:r>
              <a:rPr lang="ko-KR" altLang="en-US" b="1"/>
              <a:t>속에 저장됨</a:t>
            </a:r>
          </a:p>
          <a:p>
            <a:pPr eaLnBrk="1" hangingPunct="1">
              <a:lnSpc>
                <a:spcPct val="115000"/>
              </a:lnSpc>
            </a:pPr>
            <a:r>
              <a:rPr lang="ko-KR" altLang="en-US" b="1"/>
              <a:t>     </a:t>
            </a:r>
            <a:r>
              <a:rPr lang="en-US" altLang="ko-KR" b="1"/>
              <a:t>4) </a:t>
            </a:r>
            <a:r>
              <a:rPr lang="ko-KR" altLang="en-US" b="1"/>
              <a:t>제어기를 구성하는 방법으로 마이크로프로그램이 이용될 수 있음</a:t>
            </a:r>
          </a:p>
          <a:p>
            <a:pPr eaLnBrk="1" hangingPunct="1">
              <a:lnSpc>
                <a:spcPct val="115000"/>
              </a:lnSpc>
            </a:pPr>
            <a:r>
              <a:rPr lang="ko-KR" altLang="en-US" b="1"/>
              <a:t>     </a:t>
            </a:r>
            <a:r>
              <a:rPr lang="en-US" altLang="ko-KR" b="1"/>
              <a:t>5) </a:t>
            </a:r>
            <a:r>
              <a:rPr lang="ko-KR" altLang="en-US" b="1"/>
              <a:t>마이크로프로그램이 저장되는 제어 메모리는  </a:t>
            </a:r>
            <a:r>
              <a:rPr lang="en-US" altLang="ko-KR" b="1"/>
              <a:t>ROM</a:t>
            </a:r>
            <a:r>
              <a:rPr lang="ko-KR" altLang="en-US" b="1"/>
              <a:t>이 주로 사용되고 사용자가</a:t>
            </a:r>
          </a:p>
          <a:p>
            <a:pPr eaLnBrk="1" hangingPunct="1">
              <a:lnSpc>
                <a:spcPct val="115000"/>
              </a:lnSpc>
            </a:pPr>
            <a:r>
              <a:rPr lang="ko-KR" altLang="en-US" b="1"/>
              <a:t>         변경시킬 수 없음</a:t>
            </a:r>
          </a:p>
          <a:p>
            <a:pPr eaLnBrk="1" hangingPunct="1">
              <a:lnSpc>
                <a:spcPct val="115000"/>
              </a:lnSpc>
            </a:pPr>
            <a:r>
              <a:rPr lang="ko-KR" altLang="en-US" b="1"/>
              <a:t>     </a:t>
            </a:r>
            <a:r>
              <a:rPr lang="en-US" altLang="ko-KR" b="1"/>
              <a:t>6) </a:t>
            </a:r>
            <a:r>
              <a:rPr lang="ko-KR" altLang="en-US" b="1"/>
              <a:t>별도의 번역과 </a:t>
            </a:r>
            <a:r>
              <a:rPr lang="en-US" altLang="ko-KR" b="1"/>
              <a:t>RAM</a:t>
            </a:r>
            <a:r>
              <a:rPr lang="ko-KR" altLang="en-US" b="1"/>
              <a:t>으로의 접근이 필요하지 않기 때문에 일반적인 소프트웨어</a:t>
            </a:r>
          </a:p>
          <a:p>
            <a:pPr eaLnBrk="1" hangingPunct="1">
              <a:lnSpc>
                <a:spcPct val="115000"/>
              </a:lnSpc>
            </a:pPr>
            <a:r>
              <a:rPr lang="ko-KR" altLang="en-US" b="1"/>
              <a:t>         와 구별하여 펌웨어 라고도 함 </a:t>
            </a:r>
            <a:r>
              <a:rPr lang="en-US" altLang="ko-KR" b="1"/>
              <a:t>(Firmware)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ko-KR" b="1"/>
              <a:t>     7) </a:t>
            </a:r>
            <a:r>
              <a:rPr lang="ko-KR" altLang="en-US" b="1"/>
              <a:t>마이크로프로그램에서 제어 메모리의 번지 결정 방법</a:t>
            </a:r>
          </a:p>
          <a:p>
            <a:pPr eaLnBrk="1" hangingPunct="1">
              <a:lnSpc>
                <a:spcPct val="115000"/>
              </a:lnSpc>
            </a:pPr>
            <a:r>
              <a:rPr lang="ko-KR" altLang="en-US" b="1"/>
              <a:t>        ① 마이크로 명령에서 지정하는 번지로 무조건 분기</a:t>
            </a:r>
          </a:p>
          <a:p>
            <a:pPr eaLnBrk="1" hangingPunct="1">
              <a:lnSpc>
                <a:spcPct val="115000"/>
              </a:lnSpc>
            </a:pPr>
            <a:r>
              <a:rPr lang="ko-KR" altLang="en-US" b="1"/>
              <a:t>        ② 서브루틴의 과 </a:t>
            </a:r>
            <a:r>
              <a:rPr lang="en-US" altLang="ko-KR" b="1"/>
              <a:t>call return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ko-KR" b="1"/>
              <a:t>        ③ </a:t>
            </a:r>
            <a:r>
              <a:rPr lang="ko-KR" altLang="en-US" b="1"/>
              <a:t>상태 비트에 따른 조건부 분기</a:t>
            </a:r>
          </a:p>
          <a:p>
            <a:pPr eaLnBrk="1" hangingPunct="1">
              <a:lnSpc>
                <a:spcPct val="115000"/>
              </a:lnSpc>
            </a:pPr>
            <a:r>
              <a:rPr lang="ko-KR" altLang="en-US" b="1"/>
              <a:t>     </a:t>
            </a:r>
            <a:r>
              <a:rPr lang="en-US" altLang="ko-KR" b="1"/>
              <a:t>8) </a:t>
            </a:r>
            <a:r>
              <a:rPr lang="ko-KR" altLang="en-US" b="1"/>
              <a:t>마이크로 명령 형식</a:t>
            </a:r>
          </a:p>
          <a:p>
            <a:pPr eaLnBrk="1" hangingPunct="1">
              <a:lnSpc>
                <a:spcPct val="115000"/>
              </a:lnSpc>
            </a:pPr>
            <a:r>
              <a:rPr lang="ko-KR" altLang="en-US" b="1"/>
              <a:t>        ① 수평 마이크로 명령</a:t>
            </a:r>
            <a:r>
              <a:rPr lang="en-US" altLang="ko-KR" b="1"/>
              <a:t>(Horizontal Micro Instruction)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ko-KR" b="1"/>
              <a:t>        ② </a:t>
            </a:r>
            <a:r>
              <a:rPr lang="ko-KR" altLang="en-US" b="1"/>
              <a:t>수직 마이크로 명령</a:t>
            </a:r>
            <a:r>
              <a:rPr lang="en-US" altLang="ko-KR" b="1"/>
              <a:t>(Vertical Micro Instruction)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ko-KR" b="1"/>
              <a:t>        ③ </a:t>
            </a:r>
            <a:r>
              <a:rPr lang="ko-KR" altLang="en-US" b="1"/>
              <a:t>나노 명령</a:t>
            </a:r>
            <a:r>
              <a:rPr lang="en-US" altLang="ko-KR" b="1"/>
              <a:t>(Nano Instruction)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1555</TotalTime>
  <Words>1370</Words>
  <Application>Microsoft Office PowerPoint</Application>
  <PresentationFormat>화면 슬라이드 쇼(4:3)</PresentationFormat>
  <Paragraphs>202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HY중고딕</vt:lpstr>
      <vt:lpstr>견고딕</vt:lpstr>
      <vt:lpstr>굴림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Kim Dong Hyun</dc:creator>
  <cp:lastModifiedBy>KimDong Hyun</cp:lastModifiedBy>
  <cp:revision>87</cp:revision>
  <dcterms:created xsi:type="dcterms:W3CDTF">2009-03-02T07:39:04Z</dcterms:created>
  <dcterms:modified xsi:type="dcterms:W3CDTF">2025-11-10T10:12:45Z</dcterms:modified>
</cp:coreProperties>
</file>