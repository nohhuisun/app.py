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7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5FE8EE0-9871-4C4E-8202-688C62A6A0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7E8C68A-2512-47DE-BDB7-A4D942FB3E6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3F08CB4-7519-4027-A5C1-C6A337361A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33246E2-3D0F-453C-81CC-7B682031306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37F09F2-6ABC-4F6A-95E7-9B4259EC46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167BCA9-B6AE-4443-92A8-A8F83CEE2E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074BE57F-41F6-4755-B17F-FDE246AC42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0A9A0896-B537-436E-829B-15CC5542BB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5650AD36-C094-4EB8-9EE8-C3DE047E30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4E17C96-670B-4823-ACAC-582C7FE97C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56D74BCB-8D52-43F3-9FC9-2F3C08206F1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9913" y="3749030"/>
            <a:ext cx="299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9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입출력 제어방식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50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AA3FEB-986B-44A3-BA39-FFE31BD237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D45AF23-771B-48C0-B5A6-1F3D9FB63A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0367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0C952AF-56B9-4143-803F-0D24E910ED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0855961-1367-455B-9419-0A2DB794E5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723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9464F0A-6903-469F-92CA-3F0E7AE775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D9A5C184-6A93-4AA6-809D-9B074651376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860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6FC4C-CAF4-4669-A17B-5E2F5EADD0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E225DE7-668F-4D1D-8434-BDDC912613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973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BE43CAA-11AE-4EB8-B5E1-775E9A3E23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4E004F2-1F8A-4E0C-9FE7-3B7E83D58A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398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C8A42CFD-4A13-42AA-BD83-06823F0AC5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00993BE-33D6-4C31-93B7-B80EF6951F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064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5014BF2-59C9-474A-A164-DFBCECF9637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C7FE5D9-9438-4529-B940-857E30966B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328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C412D6-D91A-4D48-9E3C-CD4CC0F8AD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DFEC2CF1-A3E4-475B-A4F4-6FE1F17B28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415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3DF82A-A53D-46C3-8E96-B78C9B451F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11E26AF-18E0-4AFC-8145-FBE6970D0F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92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4E0B16-78D9-4565-B35D-2B5E27F341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30692FC-6D64-4500-ABE9-BD84FB779F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02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AF9B06BF-B992-4702-BD90-79E3FE43E6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6451F85-4198-409C-A7A5-3FB3296A99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7F125ADB-643D-4480-AF3E-2112081A92D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B572EE16-BBE5-4DFF-9F3C-90B128877D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57ECA8CB-8DBC-4D5E-B83C-3B85CA66A69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29D93EA0-AC66-4C94-9F4F-9A52BF71F6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36EDBA0F-D311-4DF7-A350-AFA782EC08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2735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9</a:t>
            </a:r>
            <a:r>
              <a:rPr lang="ko-KR" altLang="en-US" sz="2000" b="1"/>
              <a:t>절 입출력제어방식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24863D97-B6E7-4BC5-9A40-F99239C09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B1EB6FC-1C68-4A7F-8B10-3E9552952BC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22F2684E-24F3-451A-99FA-6765B3D9C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92150"/>
            <a:ext cx="22653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입출력의 기본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99FBB086-846C-40AB-B66B-C04529777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6963"/>
            <a:ext cx="276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입출력 장치의 구성</a:t>
            </a:r>
            <a:endParaRPr lang="ko-KR" altLang="en-US" b="1"/>
          </a:p>
        </p:txBody>
      </p:sp>
      <p:sp>
        <p:nvSpPr>
          <p:cNvPr id="4101" name="Rectangle 36">
            <a:extLst>
              <a:ext uri="{FF2B5EF4-FFF2-40B4-BE49-F238E27FC236}">
                <a16:creationId xmlns:a16="http://schemas.microsoft.com/office/drawing/2014/main" id="{4C6D9CA6-FEF0-4AA5-BACD-BAEBDB740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557338"/>
            <a:ext cx="802640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b="1"/>
              <a:t>1) </a:t>
            </a:r>
            <a:r>
              <a:rPr lang="ko-KR" altLang="en-US" b="1"/>
              <a:t>입출력 제어장치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en-US" b="1"/>
              <a:t>① </a:t>
            </a:r>
            <a:r>
              <a:rPr lang="ko-KR" altLang="en-US" b="1"/>
              <a:t>입출력 제어장치는 입출력 장치와 컴퓨터 사이의 자료 전송을 제어하는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장치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en-US" b="1"/>
              <a:t>② </a:t>
            </a:r>
            <a:r>
              <a:rPr lang="ko-KR" altLang="en-US" b="1"/>
              <a:t>제어신호의 논리적</a:t>
            </a:r>
            <a:r>
              <a:rPr lang="en-US" altLang="ko-KR" b="1"/>
              <a:t>, </a:t>
            </a:r>
            <a:r>
              <a:rPr lang="ko-KR" altLang="en-US" b="1"/>
              <a:t>물리적 변환 그리고 오류를 제어함</a:t>
            </a:r>
            <a:r>
              <a:rPr lang="en-US" altLang="en-US" b="1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en-US" b="1"/>
              <a:t>③</a:t>
            </a:r>
            <a:r>
              <a:rPr lang="ko-KR" altLang="en-US" b="1"/>
              <a:t> </a:t>
            </a:r>
            <a:r>
              <a:rPr lang="en-US" altLang="en-US" b="1"/>
              <a:t>DMA,</a:t>
            </a:r>
            <a:r>
              <a:rPr lang="en-US" altLang="ko-KR" b="1"/>
              <a:t> </a:t>
            </a:r>
            <a:r>
              <a:rPr lang="ko-KR" altLang="en-US" b="1"/>
              <a:t>채널</a:t>
            </a:r>
            <a:r>
              <a:rPr lang="en-US" altLang="ko-KR" b="1"/>
              <a:t>, </a:t>
            </a:r>
            <a:r>
              <a:rPr lang="ko-KR" altLang="en-US" b="1"/>
              <a:t>입출력 컴퓨터 등이 입출력 제어장치에 해당됨</a:t>
            </a:r>
            <a:endParaRPr lang="en-US" altLang="en-US" b="1"/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en-US" b="1"/>
              <a:t>④ </a:t>
            </a:r>
            <a:r>
              <a:rPr lang="ko-KR" altLang="en-US" b="1"/>
              <a:t>데이터 버퍼 레지스터를 이용하여 두 장치간의 속도 차를 조절함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</a:t>
            </a:r>
            <a:r>
              <a:rPr lang="en-US" altLang="ko-KR" b="1"/>
              <a:t>(</a:t>
            </a:r>
            <a:r>
              <a:rPr lang="ko-KR" altLang="en-US" b="1"/>
              <a:t>데이터 버퍼링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10000"/>
              </a:lnSpc>
            </a:pPr>
            <a:endParaRPr lang="en-US" altLang="ko-KR" b="1"/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2) </a:t>
            </a:r>
            <a:r>
              <a:rPr lang="ko-KR" altLang="en-US" b="1"/>
              <a:t>입출력 인터페이스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① 메모리나 </a:t>
            </a:r>
            <a:r>
              <a:rPr lang="en-US" altLang="ko-KR" b="1"/>
              <a:t>CPU </a:t>
            </a:r>
            <a:r>
              <a:rPr lang="ko-KR" altLang="en-US" b="1"/>
              <a:t>레지스터와 같은 내부 저장 장치와 외부 </a:t>
            </a:r>
            <a:r>
              <a:rPr lang="en-US" altLang="ko-KR" b="1"/>
              <a:t>I/O </a:t>
            </a:r>
            <a:r>
              <a:rPr lang="ko-KR" altLang="en-US" b="1"/>
              <a:t>장치 간에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</a:t>
            </a:r>
            <a:r>
              <a:rPr lang="en-US" altLang="ko-KR" b="1"/>
              <a:t>2</a:t>
            </a:r>
            <a:r>
              <a:rPr lang="ko-KR" altLang="en-US" b="1"/>
              <a:t>진 정보를 전송하는 방법을 제공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② </a:t>
            </a:r>
            <a:r>
              <a:rPr lang="ko-KR" altLang="en-US" b="1" u="sng"/>
              <a:t>기계적인 장치인 주변 장치와</a:t>
            </a:r>
            <a:r>
              <a:rPr lang="ko-KR" altLang="en-US" b="1"/>
              <a:t> </a:t>
            </a:r>
            <a:r>
              <a:rPr lang="ko-KR" altLang="en-US" b="1" u="sng"/>
              <a:t>전자적인 장치인 </a:t>
            </a:r>
            <a:r>
              <a:rPr lang="en-US" altLang="ko-KR" b="1" u="sng"/>
              <a:t>CPU</a:t>
            </a:r>
            <a:r>
              <a:rPr lang="ko-KR" altLang="en-US" b="1"/>
              <a:t>와의  동기화 신호값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변환</a:t>
            </a:r>
            <a:r>
              <a:rPr lang="en-US" altLang="ko-KR" b="1"/>
              <a:t>, </a:t>
            </a:r>
            <a:r>
              <a:rPr lang="ko-KR" altLang="en-US" b="1"/>
              <a:t>주변 장치와 </a:t>
            </a:r>
            <a:r>
              <a:rPr lang="en-US" altLang="ko-KR" b="1"/>
              <a:t>CPU</a:t>
            </a:r>
            <a:r>
              <a:rPr lang="ko-KR" altLang="en-US" b="1"/>
              <a:t>의 속도 차이를 해결</a:t>
            </a:r>
            <a:r>
              <a:rPr lang="en-US" altLang="ko-KR" b="1"/>
              <a:t>, </a:t>
            </a:r>
            <a:r>
              <a:rPr lang="ko-KR" altLang="en-US" b="1"/>
              <a:t>주변 장치의 데이터 코드와 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메모리 </a:t>
            </a:r>
            <a:r>
              <a:rPr lang="en-US" altLang="ko-KR" b="1"/>
              <a:t>, CPU</a:t>
            </a:r>
            <a:r>
              <a:rPr lang="ko-KR" altLang="en-US" b="1"/>
              <a:t>의 워드 형식의 차이를 해결하며</a:t>
            </a:r>
            <a:r>
              <a:rPr lang="en-US" altLang="ko-KR" b="1"/>
              <a:t>, </a:t>
            </a:r>
            <a:r>
              <a:rPr lang="ko-KR" altLang="en-US" b="1"/>
              <a:t>각각의 주변 장치들이 서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로 방해되는 일이 없도록 하는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D1CAA6CA-3191-47C7-8E1D-7A5C53284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85B092A-51E7-4074-AA80-B3F8AE1E8B8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90289A6C-2850-47D9-98C0-D08ED0B31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08050"/>
            <a:ext cx="7056437" cy="330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en-US" b="1"/>
              <a:t>③ </a:t>
            </a:r>
            <a:r>
              <a:rPr lang="ko-KR" altLang="en-US" b="1"/>
              <a:t>입출력 장치 인터페이스에 포함되어야 하는 하드웨어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en-US" b="1"/>
              <a:t>•</a:t>
            </a:r>
            <a:r>
              <a:rPr lang="en-US" altLang="ko-KR" b="1"/>
              <a:t> </a:t>
            </a:r>
            <a:r>
              <a:rPr lang="ko-KR" altLang="en-US" b="1"/>
              <a:t>데이터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en-US" b="1"/>
              <a:t> •</a:t>
            </a:r>
            <a:r>
              <a:rPr lang="en-US" altLang="ko-KR" b="1"/>
              <a:t> </a:t>
            </a:r>
            <a:r>
              <a:rPr lang="ko-KR" altLang="en-US" b="1"/>
              <a:t>장치의 동작 상태를 나타내는 </a:t>
            </a:r>
            <a:r>
              <a:rPr lang="en-US" altLang="ko-KR" b="1"/>
              <a:t>flag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</a:t>
            </a:r>
            <a:r>
              <a:rPr lang="en-US" altLang="en-US" b="1"/>
              <a:t>• </a:t>
            </a:r>
            <a:r>
              <a:rPr lang="ko-KR" altLang="en-US" b="1"/>
              <a:t>장치 번호 디코더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en-US" b="1"/>
              <a:t>※ </a:t>
            </a:r>
            <a:r>
              <a:rPr lang="en-US" altLang="ko-KR" b="1"/>
              <a:t>I/O </a:t>
            </a:r>
            <a:r>
              <a:rPr lang="ko-KR" altLang="en-US" b="1"/>
              <a:t>인터페이스</a:t>
            </a:r>
            <a:r>
              <a:rPr lang="en-US" altLang="en-US" b="1"/>
              <a:t> Command </a:t>
            </a:r>
            <a:r>
              <a:rPr lang="ko-KR" altLang="en-US" b="1"/>
              <a:t>종류</a:t>
            </a:r>
            <a:endParaRPr lang="en-US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en-US" b="1"/>
              <a:t>• </a:t>
            </a:r>
            <a:r>
              <a:rPr lang="ko-KR" altLang="en-US" b="1"/>
              <a:t>제어</a:t>
            </a:r>
            <a:r>
              <a:rPr lang="en-US" altLang="en-US" b="1"/>
              <a:t> Command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</a:t>
            </a:r>
            <a:r>
              <a:rPr lang="en-US" altLang="en-US" b="1"/>
              <a:t>•</a:t>
            </a:r>
            <a:r>
              <a:rPr lang="en-US" altLang="ko-KR" b="1"/>
              <a:t> </a:t>
            </a:r>
            <a:r>
              <a:rPr lang="ko-KR" altLang="en-US" b="1"/>
              <a:t>데이터 출력</a:t>
            </a:r>
            <a:r>
              <a:rPr lang="en-US" altLang="en-US" b="1"/>
              <a:t> Command </a:t>
            </a:r>
            <a:endParaRPr lang="en-US" altLang="ko-KR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</a:t>
            </a:r>
            <a:r>
              <a:rPr lang="en-US" altLang="en-US" b="1"/>
              <a:t>•</a:t>
            </a:r>
            <a:r>
              <a:rPr lang="en-US" altLang="ko-KR" b="1"/>
              <a:t> </a:t>
            </a:r>
            <a:r>
              <a:rPr lang="ko-KR" altLang="en-US" b="1"/>
              <a:t>데이터 입력</a:t>
            </a:r>
            <a:r>
              <a:rPr lang="en-US" altLang="en-US" b="1"/>
              <a:t> Command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5A632866-F114-48D5-89AD-4E54E0FF8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7B510D5-9428-4128-8D60-FDD447D67F8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CA96298-30E8-4633-A1D1-16946FF40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97887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입출력 버스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입출력 버스는 주기억장치와 입출력 장치 사이의 데이터 전송을 위해 모든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주변장치의 인터페이스에 공통으로 연결된 버스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입출력 버스는 데이터 버스</a:t>
            </a:r>
            <a:r>
              <a:rPr lang="en-US" altLang="ko-KR" b="1"/>
              <a:t>, </a:t>
            </a:r>
            <a:r>
              <a:rPr lang="ko-KR" altLang="en-US" b="1"/>
              <a:t>주소 버스</a:t>
            </a:r>
            <a:r>
              <a:rPr lang="en-US" altLang="ko-KR" b="1"/>
              <a:t>, </a:t>
            </a:r>
            <a:r>
              <a:rPr lang="ko-KR" altLang="en-US" b="1"/>
              <a:t>제어 버스로 구성 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입출력장치의 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입력장치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OMR, OCR, MICR, </a:t>
            </a:r>
            <a:r>
              <a:rPr lang="ko-KR" altLang="en-US" b="1"/>
              <a:t>스캐너</a:t>
            </a:r>
            <a:r>
              <a:rPr lang="en-US" altLang="ko-KR" b="1"/>
              <a:t>, </a:t>
            </a:r>
            <a:r>
              <a:rPr lang="ko-KR" altLang="en-US" b="1"/>
              <a:t>마우스</a:t>
            </a:r>
            <a:r>
              <a:rPr lang="en-US" altLang="ko-KR" b="1"/>
              <a:t>, </a:t>
            </a:r>
            <a:r>
              <a:rPr lang="ko-KR" altLang="en-US" b="1"/>
              <a:t>라이트 펜</a:t>
            </a:r>
            <a:r>
              <a:rPr lang="en-US" altLang="ko-KR" b="1"/>
              <a:t>, </a:t>
            </a:r>
            <a:r>
              <a:rPr lang="ko-KR" altLang="en-US" b="1"/>
              <a:t>디지타이저</a:t>
            </a:r>
            <a:r>
              <a:rPr lang="en-US" altLang="ko-KR" b="1"/>
              <a:t>, </a:t>
            </a:r>
            <a:r>
              <a:rPr lang="ko-KR" altLang="en-US" b="1"/>
              <a:t>키보드 등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출력장치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모니터</a:t>
            </a:r>
            <a:r>
              <a:rPr lang="en-US" altLang="ko-KR" b="1"/>
              <a:t>, </a:t>
            </a:r>
            <a:r>
              <a:rPr lang="ko-KR" altLang="en-US" b="1"/>
              <a:t>프린터</a:t>
            </a:r>
            <a:r>
              <a:rPr lang="en-US" altLang="ko-KR" b="1"/>
              <a:t>, </a:t>
            </a:r>
            <a:r>
              <a:rPr lang="ko-KR" altLang="en-US" b="1"/>
              <a:t>플로터 등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</a:t>
            </a:r>
            <a:r>
              <a:rPr lang="ko-KR" altLang="en-US" b="1" u="sng"/>
              <a:t>보조기억장치</a:t>
            </a:r>
            <a:r>
              <a:rPr lang="ko-KR" altLang="en-US" b="1"/>
              <a:t> </a:t>
            </a:r>
            <a:r>
              <a:rPr lang="en-US" altLang="ko-KR" b="1"/>
              <a:t>(</a:t>
            </a:r>
            <a:r>
              <a:rPr lang="ko-KR" altLang="en-US" b="1"/>
              <a:t>입출력 겸용 장치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자기 테이프</a:t>
            </a:r>
            <a:r>
              <a:rPr lang="en-US" altLang="ko-KR" b="1"/>
              <a:t>, </a:t>
            </a:r>
            <a:r>
              <a:rPr lang="ko-KR" altLang="en-US" b="1"/>
              <a:t>자기 디스크</a:t>
            </a:r>
            <a:r>
              <a:rPr lang="en-US" altLang="ko-KR" b="1"/>
              <a:t>, </a:t>
            </a:r>
            <a:r>
              <a:rPr lang="ko-KR" altLang="en-US" b="1"/>
              <a:t>자기 드럼 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9A81B353-49D7-4177-9ADF-9326BD8C04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7D45C16-DAB3-4E34-B88C-15D31AD4DE9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2E4C933-24C7-4731-95D2-3CBC86D73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65175"/>
            <a:ext cx="8704262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기억장치와 입출력 장치의 동작 차이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기억장치는 처리 속도가 </a:t>
            </a:r>
            <a:r>
              <a:rPr lang="en-US" altLang="ko-KR" b="1"/>
              <a:t>nano(10</a:t>
            </a:r>
            <a:r>
              <a:rPr lang="en-US" altLang="ko-KR" b="1" baseline="30000"/>
              <a:t>-9</a:t>
            </a:r>
            <a:r>
              <a:rPr lang="en-US" altLang="ko-KR" b="1"/>
              <a:t>)</a:t>
            </a:r>
            <a:r>
              <a:rPr lang="ko-KR" altLang="en-US" b="1"/>
              <a:t>의 단위인 전자적인 장치이고 입출력 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는 </a:t>
            </a:r>
            <a:r>
              <a:rPr lang="en-US" altLang="ko-KR" b="1"/>
              <a:t>milli(10</a:t>
            </a:r>
            <a:r>
              <a:rPr lang="en-US" altLang="ko-KR" b="1" baseline="30000"/>
              <a:t>-3</a:t>
            </a:r>
            <a:r>
              <a:rPr lang="en-US" altLang="ko-KR" b="1"/>
              <a:t>)</a:t>
            </a:r>
            <a:r>
              <a:rPr lang="ko-KR" altLang="en-US" b="1"/>
              <a:t>의 단위인 기계적인 장치이므로 동작방식에는 많은 차이가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기억장치와 입출력 장치의 동작 차이점</a:t>
            </a:r>
          </a:p>
        </p:txBody>
      </p:sp>
      <p:graphicFrame>
        <p:nvGraphicFramePr>
          <p:cNvPr id="272476" name="Group 92">
            <a:extLst>
              <a:ext uri="{FF2B5EF4-FFF2-40B4-BE49-F238E27FC236}">
                <a16:creationId xmlns:a16="http://schemas.microsoft.com/office/drawing/2014/main" id="{C9E18070-A7D3-4375-AF25-002A362DFD76}"/>
              </a:ext>
            </a:extLst>
          </p:cNvPr>
          <p:cNvGraphicFramePr>
            <a:graphicFrameLocks noGrp="1"/>
          </p:cNvGraphicFramePr>
          <p:nvPr/>
        </p:nvGraphicFramePr>
        <p:xfrm>
          <a:off x="1619250" y="2492375"/>
          <a:ext cx="6096000" cy="2949575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7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비교 항목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입출력 장치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기억장치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동작의 속도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가장 중요 항목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느림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빠름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동작의 자율성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타율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자율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타율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정보의 단위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Block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Word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2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착오 발생률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많음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적음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98" name="Text Box 93">
            <a:extLst>
              <a:ext uri="{FF2B5EF4-FFF2-40B4-BE49-F238E27FC236}">
                <a16:creationId xmlns:a16="http://schemas.microsoft.com/office/drawing/2014/main" id="{FBC66C76-905C-44BB-A189-58E393657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5594350"/>
            <a:ext cx="7310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※ </a:t>
            </a:r>
            <a:r>
              <a:rPr lang="ko-KR" altLang="en-US" b="1"/>
              <a:t>입</a:t>
            </a:r>
            <a:r>
              <a:rPr lang="en-US" altLang="ko-KR" b="1"/>
              <a:t>/</a:t>
            </a:r>
            <a:r>
              <a:rPr lang="ko-KR" altLang="en-US" b="1"/>
              <a:t>출력 장치와 기억장치의 데이터 전송을 위하여 입</a:t>
            </a:r>
            <a:r>
              <a:rPr lang="en-US" altLang="ko-KR" b="1"/>
              <a:t>/</a:t>
            </a:r>
            <a:r>
              <a:rPr lang="ko-KR" altLang="en-US" b="1"/>
              <a:t>출력 제어기가 </a:t>
            </a:r>
          </a:p>
          <a:p>
            <a:pPr eaLnBrk="1" hangingPunct="1"/>
            <a:r>
              <a:rPr lang="ko-KR" altLang="en-US" b="1"/>
              <a:t>    필요한 가장 중요한 이유 </a:t>
            </a:r>
            <a:r>
              <a:rPr lang="en-US" altLang="ko-KR" b="1"/>
              <a:t>-&gt; </a:t>
            </a:r>
            <a:r>
              <a:rPr lang="ko-KR" altLang="en-US" b="1"/>
              <a:t>동작 속도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0FDD672C-8FED-40E6-85EA-57F435EAE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B072ECD-03BE-4639-8181-FA9FEABCEB1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29">
            <a:extLst>
              <a:ext uri="{FF2B5EF4-FFF2-40B4-BE49-F238E27FC236}">
                <a16:creationId xmlns:a16="http://schemas.microsoft.com/office/drawing/2014/main" id="{31D53238-FE7F-47ED-B523-A8ADA0ED2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24862" cy="441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비동기 데이터 전송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핸드셰이킹 방식 </a:t>
            </a:r>
            <a:r>
              <a:rPr lang="en-US" altLang="ko-KR" b="1"/>
              <a:t>(Handshaking)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컴퓨터와 주변장치 사이에 </a:t>
            </a:r>
            <a:r>
              <a:rPr lang="en-US" altLang="ko-KR" b="1"/>
              <a:t>Data </a:t>
            </a:r>
            <a:r>
              <a:rPr lang="ko-KR" altLang="en-US" b="1"/>
              <a:t>전송을 할 때 입출력의 준비나 완료를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나타내는 신호</a:t>
            </a:r>
            <a:r>
              <a:rPr lang="en-US" altLang="ko-KR" b="1"/>
              <a:t>(RDY, STB) </a:t>
            </a:r>
            <a:r>
              <a:rPr lang="ko-KR" altLang="en-US" b="1"/>
              <a:t>를 사용하여 </a:t>
            </a:r>
            <a:r>
              <a:rPr lang="en-US" altLang="ko-KR" b="1"/>
              <a:t>Data </a:t>
            </a:r>
            <a:r>
              <a:rPr lang="ko-KR" altLang="en-US" b="1"/>
              <a:t>입출력을 하는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전송을 시작한 장치에 응답하는 제 </a:t>
            </a:r>
            <a:r>
              <a:rPr lang="en-US" altLang="ko-KR" b="1"/>
              <a:t>2</a:t>
            </a:r>
            <a:r>
              <a:rPr lang="ko-KR" altLang="en-US" b="1"/>
              <a:t>의 제어신호를 전송함으로써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스트로브 제어 방법보다 높은 융통성과 신뢰성을 가짐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</a:t>
            </a:r>
            <a:r>
              <a:rPr lang="en-US" altLang="ko-KR" b="1"/>
              <a:t>2~3</a:t>
            </a:r>
            <a:r>
              <a:rPr lang="ko-KR" altLang="en-US" b="1"/>
              <a:t>개의 제어선을 이용함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스트로브 펄스 </a:t>
            </a:r>
            <a:r>
              <a:rPr lang="en-US" altLang="ko-KR" b="1"/>
              <a:t>(Strobe Pulse) </a:t>
            </a:r>
            <a:r>
              <a:rPr lang="ko-KR" altLang="en-US" b="1"/>
              <a:t>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데이터 버스와  </a:t>
            </a:r>
            <a:r>
              <a:rPr lang="en-US" altLang="ko-KR" b="1"/>
              <a:t>1</a:t>
            </a:r>
            <a:r>
              <a:rPr lang="ko-KR" altLang="en-US" b="1"/>
              <a:t>개의 제어선을 이용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메모리와 </a:t>
            </a:r>
            <a:r>
              <a:rPr lang="en-US" altLang="ko-KR" b="1"/>
              <a:t>CPU </a:t>
            </a:r>
            <a:r>
              <a:rPr lang="ko-KR" altLang="en-US" b="1"/>
              <a:t>사이에서 정보를 교환할 때 사용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전송을 시작한 송신 장치는 수신 장치가 데이터를 받았는지를 알 수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6E985CA6-CF56-4D68-B376-22B3E7731A10}"/>
              </a:ext>
            </a:extLst>
          </p:cNvPr>
          <p:cNvSpPr txBox="1">
            <a:spLocks noGrp="1"/>
          </p:cNvSpPr>
          <p:nvPr/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59CB2E5-7AE5-4219-ADE7-DEBD1096C47C}" type="slidenum">
              <a:rPr lang="en-US" altLang="ko-KR" sz="1600" b="1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 algn="ctr" eaLnBrk="1" hangingPunct="1"/>
              <a:t>7</a:t>
            </a:fld>
            <a:endParaRPr lang="en-US" altLang="ko-KR" sz="1600" b="1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Text Box 4">
            <a:extLst>
              <a:ext uri="{FF2B5EF4-FFF2-40B4-BE49-F238E27FC236}">
                <a16:creationId xmlns:a16="http://schemas.microsoft.com/office/drawing/2014/main" id="{2C8FC2F0-5499-4279-ADB5-C8BE4BDA8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769938"/>
            <a:ext cx="1098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/>
              <a:t>병행처리</a:t>
            </a:r>
            <a:endParaRPr lang="en-US" altLang="ko-KR"/>
          </a:p>
        </p:txBody>
      </p:sp>
      <p:pic>
        <p:nvPicPr>
          <p:cNvPr id="9220" name="Picture 7" descr="이미지를 클릭하시면 창이 닫힙니다">
            <a:extLst>
              <a:ext uri="{FF2B5EF4-FFF2-40B4-BE49-F238E27FC236}">
                <a16:creationId xmlns:a16="http://schemas.microsoft.com/office/drawing/2014/main" id="{01D6EF93-F0B4-4D67-A2DF-2F9516A3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32038"/>
            <a:ext cx="279717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8" descr="download">
            <a:extLst>
              <a:ext uri="{FF2B5EF4-FFF2-40B4-BE49-F238E27FC236}">
                <a16:creationId xmlns:a16="http://schemas.microsoft.com/office/drawing/2014/main" id="{ECC743C5-9141-4E5D-8610-204A8DCF9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765175"/>
            <a:ext cx="177006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9" descr="MM900323743[2]">
            <a:extLst>
              <a:ext uri="{FF2B5EF4-FFF2-40B4-BE49-F238E27FC236}">
                <a16:creationId xmlns:a16="http://schemas.microsoft.com/office/drawing/2014/main" id="{50C6118C-485A-4656-8523-4FBF0103786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311400"/>
            <a:ext cx="15113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0" name="AutoShape 10">
            <a:extLst>
              <a:ext uri="{FF2B5EF4-FFF2-40B4-BE49-F238E27FC236}">
                <a16:creationId xmlns:a16="http://schemas.microsoft.com/office/drawing/2014/main" id="{7FECCB94-DFBB-4E28-8F50-EACCB5DEC2DF}"/>
              </a:ext>
            </a:extLst>
          </p:cNvPr>
          <p:cNvSpPr>
            <a:spLocks noChangeArrowheads="1"/>
          </p:cNvSpPr>
          <p:nvPr/>
        </p:nvSpPr>
        <p:spPr bwMode="auto">
          <a:xfrm rot="-1679841">
            <a:off x="2339975" y="1700213"/>
            <a:ext cx="1727200" cy="576262"/>
          </a:xfrm>
          <a:prstGeom prst="leftArrow">
            <a:avLst>
              <a:gd name="adj1" fmla="val 40528"/>
              <a:gd name="adj2" fmla="val 67743"/>
            </a:avLst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2" name="AutoShape 12">
            <a:extLst>
              <a:ext uri="{FF2B5EF4-FFF2-40B4-BE49-F238E27FC236}">
                <a16:creationId xmlns:a16="http://schemas.microsoft.com/office/drawing/2014/main" id="{6BBBDCCC-0F95-4C6B-BFC1-55CC5FC20DA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16238" y="2852738"/>
            <a:ext cx="3960812" cy="504825"/>
          </a:xfrm>
          <a:prstGeom prst="leftArrow">
            <a:avLst>
              <a:gd name="adj1" fmla="val 40528"/>
              <a:gd name="adj2" fmla="val 177332"/>
            </a:avLst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3" name="Oval 13">
            <a:extLst>
              <a:ext uri="{FF2B5EF4-FFF2-40B4-BE49-F238E27FC236}">
                <a16:creationId xmlns:a16="http://schemas.microsoft.com/office/drawing/2014/main" id="{0DB71A8C-4B10-42D0-8AC4-965EDE773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300663"/>
            <a:ext cx="2970213" cy="617537"/>
          </a:xfrm>
          <a:prstGeom prst="ellipse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400" b="1"/>
              <a:t>HDD</a:t>
            </a:r>
          </a:p>
        </p:txBody>
      </p:sp>
      <p:sp>
        <p:nvSpPr>
          <p:cNvPr id="30735" name="AutoShape 15">
            <a:extLst>
              <a:ext uri="{FF2B5EF4-FFF2-40B4-BE49-F238E27FC236}">
                <a16:creationId xmlns:a16="http://schemas.microsoft.com/office/drawing/2014/main" id="{5DD0009E-ED62-4388-BA99-6F1C2D0CA7AF}"/>
              </a:ext>
            </a:extLst>
          </p:cNvPr>
          <p:cNvSpPr>
            <a:spLocks noChangeArrowheads="1"/>
          </p:cNvSpPr>
          <p:nvPr/>
        </p:nvSpPr>
        <p:spPr bwMode="auto">
          <a:xfrm rot="-8072777">
            <a:off x="2301082" y="4393406"/>
            <a:ext cx="1727200" cy="576263"/>
          </a:xfrm>
          <a:prstGeom prst="leftArrow">
            <a:avLst>
              <a:gd name="adj1" fmla="val 40528"/>
              <a:gd name="adj2" fmla="val 67743"/>
            </a:avLst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0736" name="AutoShape 16">
            <a:extLst>
              <a:ext uri="{FF2B5EF4-FFF2-40B4-BE49-F238E27FC236}">
                <a16:creationId xmlns:a16="http://schemas.microsoft.com/office/drawing/2014/main" id="{19D8B28D-1396-4B6E-8C64-FA1D5A77CABF}"/>
              </a:ext>
            </a:extLst>
          </p:cNvPr>
          <p:cNvSpPr>
            <a:spLocks noChangeArrowheads="1"/>
          </p:cNvSpPr>
          <p:nvPr/>
        </p:nvSpPr>
        <p:spPr bwMode="auto">
          <a:xfrm rot="8392598">
            <a:off x="5868988" y="4365625"/>
            <a:ext cx="1727200" cy="576263"/>
          </a:xfrm>
          <a:prstGeom prst="leftArrow">
            <a:avLst>
              <a:gd name="adj1" fmla="val 40528"/>
              <a:gd name="adj2" fmla="val 67743"/>
            </a:avLst>
          </a:prstGeom>
          <a:solidFill>
            <a:srgbClr val="99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0" grpId="0" animBg="1"/>
      <p:bldP spid="30732" grpId="0" animBg="1"/>
      <p:bldP spid="30733" grpId="0" animBg="1"/>
      <p:bldP spid="30735" grpId="0" animBg="1"/>
      <p:bldP spid="307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C5567E4D-487E-45C0-BA56-137E4840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CD6E6A6-23B5-4B63-AF0C-A6C31710503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8DC9F78-5E77-48AB-AF8A-DEEF85B49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17550"/>
            <a:ext cx="882015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(4) </a:t>
            </a:r>
            <a:r>
              <a:rPr lang="ko-KR" altLang="en-US" b="1"/>
              <a:t>버퍼링과 스풀링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1) </a:t>
            </a:r>
            <a:r>
              <a:rPr lang="ko-KR" altLang="en-US" b="1"/>
              <a:t>버퍼링 </a:t>
            </a:r>
            <a:r>
              <a:rPr lang="en-US" altLang="ko-KR" b="1"/>
              <a:t>(Buffering)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① </a:t>
            </a:r>
            <a:r>
              <a:rPr lang="ko-KR" altLang="en-US" b="1"/>
              <a:t>저속의 입출력 장치와 고속의  </a:t>
            </a:r>
            <a:r>
              <a:rPr lang="en-US" altLang="ko-KR" b="1"/>
              <a:t>CPU</a:t>
            </a:r>
            <a:r>
              <a:rPr lang="ko-KR" altLang="en-US" b="1"/>
              <a:t>의 처리 속도 차이를 개선하기 위한 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② 주기억 장치의 일부 공간을 버퍼공간으로 할당하여 처리할 데이터를 임시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기억하여 처리하는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③ 버퍼의 위치는 주기억장치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④ 한번 나와 있는 데이터가 </a:t>
            </a:r>
            <a:r>
              <a:rPr lang="en-US" altLang="ko-KR" b="1"/>
              <a:t>CPU </a:t>
            </a:r>
            <a:r>
              <a:rPr lang="ko-KR" altLang="en-US" b="1"/>
              <a:t>에서 여러 번 사용함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⑤ 많은 데이터를 주기억장치에서 한 번에 가져 나감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⑥ 데이터를 주기억장치에서 읽어 내거나 주기억장치에 저장하기 위해 임시로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자료를 기억하는 공간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2) </a:t>
            </a:r>
            <a:r>
              <a:rPr lang="ko-KR" altLang="en-US" b="1"/>
              <a:t>스풀링 </a:t>
            </a:r>
            <a:r>
              <a:rPr lang="en-US" altLang="ko-KR" b="1"/>
              <a:t>(Spooling)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① I /O</a:t>
            </a:r>
            <a:r>
              <a:rPr lang="ko-KR" altLang="en-US" b="1"/>
              <a:t>효율을 높이기 위해 </a:t>
            </a:r>
            <a:r>
              <a:rPr lang="en-US" altLang="ko-KR" b="1"/>
              <a:t>I/O </a:t>
            </a:r>
            <a:r>
              <a:rPr lang="ko-KR" altLang="en-US" b="1"/>
              <a:t>의 내용을 디스크 등에 모아두었다가 처리하는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② 디스크 일부를 매우 큰 버퍼처럼 사용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③ 스풀의 위치는 보조기억장치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④ 어떤 작업의 입</a:t>
            </a:r>
            <a:r>
              <a:rPr lang="en-US" altLang="ko-KR" b="1"/>
              <a:t>/</a:t>
            </a:r>
            <a:r>
              <a:rPr lang="ko-KR" altLang="en-US" b="1"/>
              <a:t>출력과 다른 작업의 계산을 병행 처리하는 기법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7B188170-CCB9-478E-AE69-05EFAA448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7511E95-FB33-4DC8-89C4-A27C95B5B7E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1AAC6B5-31A3-482C-BCE9-DC5AEDF6B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50" y="889000"/>
            <a:ext cx="861377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버퍼링과 스풀링의 차이점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버퍼링은 일반적으로 하드웨어적 구현이지만 스풀링은 소프트웨어적 구현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버퍼링은 일반적으로 단일작업 단일사용자이지만 스풀링은 다중작업 다중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사용자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버퍼링에서 일반적으로 버퍼의 위치는 주기억 장치이지만 스풀링에서 스풀의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위치는 디스크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F6BBCEA3-55A1-4215-8C4E-5DD95BB21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9981752-A3DB-4C35-8A87-333DB3CBD3C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1DFAAE34-536B-477B-A968-B84AA0F82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698500"/>
            <a:ext cx="2540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 </a:t>
            </a:r>
            <a:r>
              <a:rPr lang="ko-KR" altLang="en-US" sz="2200" b="1"/>
              <a:t>입출력 제어방식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BEB8E5E-CD29-4763-852D-68B4F12D6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8064500" cy="410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(1) CPU </a:t>
            </a:r>
            <a:r>
              <a:rPr lang="ko-KR" altLang="en-US" sz="2000" b="1"/>
              <a:t>의 관여 여부에 따라 나누어짐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CPU </a:t>
            </a:r>
            <a:r>
              <a:rPr lang="ko-KR" altLang="en-US" b="1"/>
              <a:t>관여 </a:t>
            </a:r>
            <a:r>
              <a:rPr lang="en-US" altLang="ko-KR" b="1"/>
              <a:t>(O) :  Program I/O </a:t>
            </a:r>
            <a:r>
              <a:rPr lang="ko-KR" altLang="en-US" b="1"/>
              <a:t>에 의한  </a:t>
            </a:r>
            <a:r>
              <a:rPr lang="en-US" altLang="ko-KR" b="1"/>
              <a:t>I/O, Interrupt</a:t>
            </a:r>
            <a:r>
              <a:rPr lang="ko-KR" altLang="en-US" b="1"/>
              <a:t>에 의한 </a:t>
            </a:r>
            <a:r>
              <a:rPr lang="ko-KR" altLang="en-US"/>
              <a:t> </a:t>
            </a:r>
            <a:r>
              <a:rPr lang="en-US" altLang="ko-KR" b="1"/>
              <a:t>I/O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2) CPU </a:t>
            </a:r>
            <a:r>
              <a:rPr lang="ko-KR" altLang="en-US" b="1"/>
              <a:t>관여 </a:t>
            </a:r>
            <a:r>
              <a:rPr lang="en-US" altLang="ko-KR" b="1"/>
              <a:t>(X) :  DMA</a:t>
            </a:r>
            <a:r>
              <a:rPr lang="ko-KR" altLang="en-US" b="1"/>
              <a:t>에 의한 </a:t>
            </a:r>
            <a:r>
              <a:rPr lang="en-US" altLang="ko-KR" b="1"/>
              <a:t>I/O,  Channel</a:t>
            </a:r>
            <a:r>
              <a:rPr lang="ko-KR" altLang="en-US" b="1"/>
              <a:t>에 의한 </a:t>
            </a:r>
            <a:r>
              <a:rPr lang="en-US" altLang="ko-KR" b="1"/>
              <a:t>I/O</a:t>
            </a:r>
          </a:p>
          <a:p>
            <a:pPr eaLnBrk="1" hangingPunct="1">
              <a:lnSpc>
                <a:spcPct val="130000"/>
              </a:lnSpc>
            </a:pPr>
            <a:endParaRPr lang="en-US" altLang="ko-KR" b="1"/>
          </a:p>
          <a:p>
            <a:pPr eaLnBrk="1" hangingPunct="1">
              <a:lnSpc>
                <a:spcPct val="13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입출력 제어방식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Programmed I/O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① </a:t>
            </a:r>
            <a:r>
              <a:rPr lang="ko-KR" altLang="en-US" b="1"/>
              <a:t>프로그램을 통한 입출력 방식에서 입출력 장치 인터페이스에 포함 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어야 하는 하드웨어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② 데이터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③ 장치의 동작 상태를 나타내는 </a:t>
            </a:r>
            <a:r>
              <a:rPr lang="en-US" altLang="ko-KR" b="1"/>
              <a:t>Flag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④ </a:t>
            </a:r>
            <a:r>
              <a:rPr lang="ko-KR" altLang="en-US" b="1"/>
              <a:t>장치 번호 디코더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04583928-7C5C-4893-846A-4B0D7D9A5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E7448C7-4FF9-43E7-89E0-8A6B7AEEC01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920008B-1ACE-4FFF-9283-56CA8781E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144838"/>
            <a:ext cx="6983412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ko-KR" b="1"/>
              <a:t>※ </a:t>
            </a:r>
            <a:r>
              <a:rPr lang="ko-KR" altLang="en-US" b="1"/>
              <a:t>입출력 인터페이스 상태 </a:t>
            </a:r>
            <a:r>
              <a:rPr lang="en-US" altLang="ko-KR" b="1"/>
              <a:t>(</a:t>
            </a:r>
            <a:r>
              <a:rPr lang="ko-KR" altLang="en-US" b="1"/>
              <a:t>입력의 경우 </a:t>
            </a:r>
            <a:r>
              <a:rPr lang="en-US" altLang="ko-KR" b="1"/>
              <a:t>-&gt; </a:t>
            </a:r>
            <a:r>
              <a:rPr lang="ko-KR" altLang="en-US" b="1"/>
              <a:t>출력은 반대</a:t>
            </a:r>
            <a:r>
              <a:rPr lang="en-US" altLang="ko-KR" b="1"/>
              <a:t>)</a:t>
            </a:r>
          </a:p>
          <a:p>
            <a:pPr lvl="1" eaLnBrk="1" hangingPunct="1">
              <a:lnSpc>
                <a:spcPct val="150000"/>
              </a:lnSpc>
              <a:buFontTx/>
              <a:buChar char="-"/>
            </a:pPr>
            <a:r>
              <a:rPr lang="en-US" altLang="ko-KR" b="1"/>
              <a:t> D(Done Flag) = 0 , B(Busy Flag) = 1 </a:t>
            </a:r>
            <a:r>
              <a:rPr lang="ko-KR" altLang="en-US" b="1"/>
              <a:t>일 때</a:t>
            </a:r>
          </a:p>
          <a:p>
            <a:pPr lvl="1" eaLnBrk="1" hangingPunct="1">
              <a:lnSpc>
                <a:spcPct val="150000"/>
              </a:lnSpc>
            </a:pPr>
            <a:r>
              <a:rPr lang="ko-KR" altLang="en-US" b="1"/>
              <a:t>          입력 장치에서 인터페이스로 데이터 전송</a:t>
            </a:r>
          </a:p>
          <a:p>
            <a:pPr lvl="1" eaLnBrk="1" hangingPunct="1">
              <a:lnSpc>
                <a:spcPct val="150000"/>
              </a:lnSpc>
              <a:buFontTx/>
              <a:buChar char="-"/>
            </a:pPr>
            <a:r>
              <a:rPr lang="ko-KR" altLang="en-US" b="1"/>
              <a:t> </a:t>
            </a:r>
            <a:r>
              <a:rPr lang="en-US" altLang="ko-KR" b="1"/>
              <a:t>D(Done Flag) = 1 , B(Busy Flag) = 0 </a:t>
            </a:r>
            <a:r>
              <a:rPr lang="ko-KR" altLang="en-US" b="1"/>
              <a:t>일 때</a:t>
            </a:r>
          </a:p>
          <a:p>
            <a:pPr eaLnBrk="1" hangingPunct="1">
              <a:lnSpc>
                <a:spcPct val="150000"/>
              </a:lnSpc>
            </a:pPr>
            <a:r>
              <a:rPr lang="ko-KR" altLang="en-US" b="1"/>
              <a:t>                인터페이스에서 </a:t>
            </a:r>
            <a:r>
              <a:rPr lang="en-US" altLang="ko-KR" b="1"/>
              <a:t>CPU</a:t>
            </a:r>
            <a:r>
              <a:rPr lang="ko-KR" altLang="en-US" b="1"/>
              <a:t>로 전송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23D58C70-6245-47B9-B661-7F9D4E884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1649413"/>
            <a:ext cx="957262" cy="92551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  </a:t>
            </a:r>
          </a:p>
          <a:p>
            <a:pPr algn="ctr" eaLnBrk="1" hangingPunct="1"/>
            <a:r>
              <a:rPr lang="en-US" altLang="ko-KR" b="1"/>
              <a:t>  CPU  </a:t>
            </a:r>
          </a:p>
          <a:p>
            <a:pPr algn="ctr" eaLnBrk="1" hangingPunct="1"/>
            <a:endParaRPr lang="en-US" altLang="ko-KR" b="1"/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DECBECEC-2753-4461-8889-1062ACBE3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9175" y="1865313"/>
            <a:ext cx="13668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2203A55F-E5A7-43D7-98AF-8B5E24B31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9175" y="2297113"/>
            <a:ext cx="13668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95A2533F-0E95-4176-9BAC-9BBCD969F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512888"/>
            <a:ext cx="1462088" cy="1200150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  </a:t>
            </a:r>
          </a:p>
          <a:p>
            <a:pPr algn="ctr" eaLnBrk="1" hangingPunct="1"/>
            <a:r>
              <a:rPr lang="en-US" altLang="ko-KR" b="1"/>
              <a:t> </a:t>
            </a:r>
            <a:r>
              <a:rPr lang="ko-KR" altLang="en-US" b="1"/>
              <a:t>입출력</a:t>
            </a:r>
          </a:p>
          <a:p>
            <a:pPr algn="ctr" eaLnBrk="1" hangingPunct="1"/>
            <a:r>
              <a:rPr lang="ko-KR" altLang="en-US" b="1"/>
              <a:t>인터페이스  </a:t>
            </a:r>
          </a:p>
          <a:p>
            <a:pPr algn="ctr" eaLnBrk="1" hangingPunct="1"/>
            <a:endParaRPr lang="en-US" altLang="ko-KR" b="1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8B75602A-9E49-406D-B391-6AF51DE76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1865313"/>
            <a:ext cx="13668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F5F3E82E-3C1E-4C41-A304-D61673CC2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1925" y="2297113"/>
            <a:ext cx="136683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8B93DA10-BF52-4AA4-8AFD-7421A036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25" y="1658938"/>
            <a:ext cx="1089025" cy="925512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  </a:t>
            </a:r>
          </a:p>
          <a:p>
            <a:pPr algn="ctr" eaLnBrk="1" hangingPunct="1"/>
            <a:r>
              <a:rPr lang="ko-KR" altLang="en-US" b="1"/>
              <a:t>입력장치</a:t>
            </a:r>
          </a:p>
          <a:p>
            <a:pPr algn="ctr" eaLnBrk="1" hangingPunct="1"/>
            <a:endParaRPr lang="en-US" altLang="ko-KR" b="1"/>
          </a:p>
        </p:txBody>
      </p:sp>
      <p:sp>
        <p:nvSpPr>
          <p:cNvPr id="13323" name="Line 13">
            <a:extLst>
              <a:ext uri="{FF2B5EF4-FFF2-40B4-BE49-F238E27FC236}">
                <a16:creationId xmlns:a16="http://schemas.microsoft.com/office/drawing/2014/main" id="{A6963DD2-4810-4355-9E60-E8CAF82EB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166813"/>
            <a:ext cx="10080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24" name="Line 14">
            <a:extLst>
              <a:ext uri="{FF2B5EF4-FFF2-40B4-BE49-F238E27FC236}">
                <a16:creationId xmlns:a16="http://schemas.microsoft.com/office/drawing/2014/main" id="{AD03D8CD-6BEC-4178-8BAE-E4B5F18A6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1166813"/>
            <a:ext cx="9350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25" name="Text Box 15">
            <a:extLst>
              <a:ext uri="{FF2B5EF4-FFF2-40B4-BE49-F238E27FC236}">
                <a16:creationId xmlns:a16="http://schemas.microsoft.com/office/drawing/2014/main" id="{579243EC-3DCB-4D74-AD1B-9ECA96132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977900"/>
            <a:ext cx="11541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제어 흐름</a:t>
            </a:r>
          </a:p>
        </p:txBody>
      </p:sp>
      <p:sp>
        <p:nvSpPr>
          <p:cNvPr id="13326" name="Text Box 16">
            <a:extLst>
              <a:ext uri="{FF2B5EF4-FFF2-40B4-BE49-F238E27FC236}">
                <a16:creationId xmlns:a16="http://schemas.microsoft.com/office/drawing/2014/main" id="{EB46A625-203E-4960-84F9-F5454FA0C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963613"/>
            <a:ext cx="1377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입출력 흐름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BFB1A885-FBEC-432C-B838-04179EF69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C454A65-7B6D-4E1F-B75F-57C80090C85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9E54FA5D-FCE3-4BC3-B3B2-A54702002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723900"/>
            <a:ext cx="8893175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2) Interrupt I/O</a:t>
            </a:r>
          </a:p>
          <a:p>
            <a:pPr eaLnBrk="1" hangingPunct="1"/>
            <a:r>
              <a:rPr lang="en-US" altLang="ko-KR" b="1"/>
              <a:t>   ① CPU</a:t>
            </a:r>
            <a:r>
              <a:rPr lang="ko-KR" altLang="en-US" b="1"/>
              <a:t>가 계속 </a:t>
            </a:r>
            <a:r>
              <a:rPr lang="en-US" altLang="ko-KR" b="1"/>
              <a:t>flag</a:t>
            </a:r>
            <a:r>
              <a:rPr lang="ko-KR" altLang="en-US" b="1"/>
              <a:t>를 검사하지 않고 데이터가 준비되면 인터페이스가 </a:t>
            </a:r>
            <a:r>
              <a:rPr lang="en-US" altLang="ko-KR" b="1"/>
              <a:t>CPU</a:t>
            </a:r>
            <a:r>
              <a:rPr lang="ko-KR" altLang="en-US" b="1"/>
              <a:t>에</a:t>
            </a:r>
          </a:p>
          <a:p>
            <a:pPr eaLnBrk="1" hangingPunct="1"/>
            <a:r>
              <a:rPr lang="ko-KR" altLang="en-US" b="1"/>
              <a:t>       입출력을 요구하고 입출력 전송이 완료되면 </a:t>
            </a:r>
            <a:r>
              <a:rPr lang="en-US" altLang="ko-KR" b="1"/>
              <a:t>CPU</a:t>
            </a:r>
            <a:r>
              <a:rPr lang="ko-KR" altLang="en-US" b="1"/>
              <a:t>는 수행 중이던 프로그램으로 </a:t>
            </a:r>
          </a:p>
          <a:p>
            <a:pPr eaLnBrk="1" hangingPunct="1"/>
            <a:r>
              <a:rPr lang="ko-KR" altLang="en-US" b="1"/>
              <a:t>       되돌아가서 수행을 재개하는 입출력 방식</a:t>
            </a:r>
          </a:p>
          <a:p>
            <a:pPr eaLnBrk="1" hangingPunct="1"/>
            <a:r>
              <a:rPr lang="ko-KR" altLang="en-US" b="1"/>
              <a:t>   ② </a:t>
            </a:r>
            <a:r>
              <a:rPr lang="en-US" altLang="ko-KR" b="1"/>
              <a:t>CPU</a:t>
            </a:r>
            <a:r>
              <a:rPr lang="ko-KR" altLang="en-US" b="1"/>
              <a:t>가 계속 </a:t>
            </a:r>
            <a:r>
              <a:rPr lang="en-US" altLang="ko-KR" b="1"/>
              <a:t>Flag</a:t>
            </a:r>
            <a:r>
              <a:rPr lang="ko-KR" altLang="en-US" b="1"/>
              <a:t>를 검사하지 않아도 되기 때문에 </a:t>
            </a:r>
            <a:r>
              <a:rPr lang="en-US" altLang="ko-KR" b="1"/>
              <a:t>Programmed I/O </a:t>
            </a:r>
            <a:r>
              <a:rPr lang="ko-KR" altLang="en-US" b="1"/>
              <a:t>보다 </a:t>
            </a:r>
          </a:p>
          <a:p>
            <a:pPr eaLnBrk="1" hangingPunct="1"/>
            <a:r>
              <a:rPr lang="ko-KR" altLang="en-US" b="1"/>
              <a:t>       효율적임</a:t>
            </a:r>
          </a:p>
          <a:p>
            <a:pPr eaLnBrk="1" hangingPunct="1"/>
            <a:r>
              <a:rPr lang="en-US" altLang="ko-KR" b="1"/>
              <a:t>3) DMA </a:t>
            </a:r>
            <a:r>
              <a:rPr lang="ko-KR" altLang="en-US" b="1"/>
              <a:t>에 의한 </a:t>
            </a:r>
            <a:r>
              <a:rPr lang="en-US" altLang="ko-KR" b="1"/>
              <a:t>I/O</a:t>
            </a:r>
          </a:p>
          <a:p>
            <a:pPr eaLnBrk="1" hangingPunct="1"/>
            <a:r>
              <a:rPr lang="en-US" altLang="ko-KR" b="1"/>
              <a:t>   ① DMA (Direct Memory Access)</a:t>
            </a:r>
          </a:p>
          <a:p>
            <a:pPr eaLnBrk="1" hangingPunct="1"/>
            <a:r>
              <a:rPr lang="en-US" altLang="ko-KR" b="1"/>
              <a:t>       • </a:t>
            </a:r>
            <a:r>
              <a:rPr lang="ko-KR" altLang="en-US" b="1"/>
              <a:t>데이터 입출력 전송이 </a:t>
            </a:r>
            <a:r>
              <a:rPr lang="en-US" altLang="ko-KR" b="1"/>
              <a:t>CPU</a:t>
            </a:r>
            <a:r>
              <a:rPr lang="ko-KR" altLang="en-US" b="1"/>
              <a:t>를 통하지 않고 직접 주기억장치와 주변장치 사이</a:t>
            </a:r>
          </a:p>
          <a:p>
            <a:pPr eaLnBrk="1" hangingPunct="1"/>
            <a:r>
              <a:rPr lang="ko-KR" altLang="en-US" b="1"/>
              <a:t>         에서 수행되는 방식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CPU</a:t>
            </a:r>
            <a:r>
              <a:rPr lang="ko-KR" altLang="en-US" b="1"/>
              <a:t>를 거치지 않고 메모리와 입출력장치가 직접 통신하기 때문에 </a:t>
            </a:r>
            <a:r>
              <a:rPr lang="en-US" altLang="ko-KR" b="1"/>
              <a:t>CPU</a:t>
            </a:r>
            <a:r>
              <a:rPr lang="ko-KR" altLang="en-US" b="1"/>
              <a:t>에 </a:t>
            </a:r>
          </a:p>
          <a:p>
            <a:pPr eaLnBrk="1" hangingPunct="1"/>
            <a:r>
              <a:rPr lang="ko-KR" altLang="en-US" b="1"/>
              <a:t>         부하가 증가되지 않음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CPU </a:t>
            </a:r>
            <a:r>
              <a:rPr lang="ko-KR" altLang="en-US" b="1"/>
              <a:t>와 </a:t>
            </a:r>
            <a:r>
              <a:rPr lang="en-US" altLang="ko-KR" b="1"/>
              <a:t>DMA </a:t>
            </a:r>
            <a:r>
              <a:rPr lang="ko-KR" altLang="en-US" b="1"/>
              <a:t>제어기는 메모리와 버스를 공유함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DMA</a:t>
            </a:r>
            <a:r>
              <a:rPr lang="ko-KR" altLang="en-US" b="1"/>
              <a:t>는 기억장치와 주변장치 사이의 직접적인 데이터 전송을 제공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DMA</a:t>
            </a:r>
            <a:r>
              <a:rPr lang="ko-KR" altLang="en-US" b="1"/>
              <a:t>는 블록으로 대용량의 데이터를 전송할 수 있음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자료를 입출력 할 때 가장 효과적인 방법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메모리 장치 외의 통신에서 </a:t>
            </a:r>
            <a:r>
              <a:rPr lang="en-US" altLang="ko-KR" b="1"/>
              <a:t>CPU</a:t>
            </a:r>
            <a:r>
              <a:rPr lang="ko-KR" altLang="en-US" b="1"/>
              <a:t>보다 우선권을 가지고 있음 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보다 빠른 데이터의 전송이 가능함 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데이터 대량전송 </a:t>
            </a:r>
            <a:r>
              <a:rPr lang="en-US" altLang="ko-KR" b="1"/>
              <a:t>(burst transfer) </a:t>
            </a:r>
            <a:r>
              <a:rPr lang="ko-KR" altLang="en-US" b="1"/>
              <a:t>및 사이클 스틸링 </a:t>
            </a:r>
            <a:r>
              <a:rPr lang="en-US" altLang="ko-KR" b="1"/>
              <a:t>(cycle stealing)</a:t>
            </a:r>
            <a:r>
              <a:rPr lang="ko-KR" altLang="en-US" b="1"/>
              <a:t>과 관계 </a:t>
            </a:r>
          </a:p>
          <a:p>
            <a:pPr eaLnBrk="1" hangingPunct="1"/>
            <a:r>
              <a:rPr lang="ko-KR" altLang="en-US" b="1"/>
              <a:t>         있는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94F65A31-3D2A-4A8C-AD5A-33C2941C9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2C99B25-0357-41C7-94F6-AF1447EDD95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A294397-D41F-4720-909E-06BC31C51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835342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② </a:t>
            </a:r>
            <a:r>
              <a:rPr lang="ko-KR" altLang="en-US" b="1"/>
              <a:t>사이클 스틸링 </a:t>
            </a:r>
            <a:r>
              <a:rPr lang="en-US" altLang="ko-KR" b="1"/>
              <a:t>(Cycle Stealing)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• DMA </a:t>
            </a:r>
            <a:r>
              <a:rPr lang="ko-KR" altLang="en-US" b="1"/>
              <a:t>제어기가 한 번에 한 데이터 워드를 전송하고</a:t>
            </a:r>
            <a:r>
              <a:rPr lang="en-US" altLang="ko-KR" b="1"/>
              <a:t>, </a:t>
            </a:r>
            <a:r>
              <a:rPr lang="ko-KR" altLang="en-US" b="1"/>
              <a:t>버스의 제어를 </a:t>
            </a:r>
            <a:r>
              <a:rPr lang="en-US" altLang="ko-KR" b="1"/>
              <a:t>CPU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</a:t>
            </a:r>
            <a:r>
              <a:rPr lang="ko-KR" altLang="en-US" b="1"/>
              <a:t>에게 돌려주는 방법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Cycle Steal </a:t>
            </a:r>
            <a:r>
              <a:rPr lang="ko-KR" altLang="en-US" b="1"/>
              <a:t>을 이용하면 입출력 자료의 전송을 빠르게 처리해 주는 장점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이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사이클 스틸은  </a:t>
            </a:r>
            <a:r>
              <a:rPr lang="en-US" altLang="ko-KR" b="1"/>
              <a:t>DMA </a:t>
            </a:r>
            <a:r>
              <a:rPr lang="ko-KR" altLang="en-US" b="1"/>
              <a:t>인터페이스에 의해서 이루어짐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사이클 스틸 </a:t>
            </a:r>
            <a:r>
              <a:rPr lang="en-US" altLang="ko-KR" b="1"/>
              <a:t>(Cycle Steal)</a:t>
            </a:r>
            <a:r>
              <a:rPr lang="ko-KR" altLang="en-US" b="1"/>
              <a:t>과 인터럽트</a:t>
            </a:r>
            <a:r>
              <a:rPr lang="en-US" altLang="ko-KR" b="1"/>
              <a:t>(Interrupt)</a:t>
            </a:r>
            <a:r>
              <a:rPr lang="ko-KR" altLang="en-US" b="1"/>
              <a:t>의 차이점</a:t>
            </a:r>
          </a:p>
        </p:txBody>
      </p:sp>
      <p:graphicFrame>
        <p:nvGraphicFramePr>
          <p:cNvPr id="278587" name="Group 59">
            <a:extLst>
              <a:ext uri="{FF2B5EF4-FFF2-40B4-BE49-F238E27FC236}">
                <a16:creationId xmlns:a16="http://schemas.microsoft.com/office/drawing/2014/main" id="{C1CDC52F-C0BD-4851-9881-9AF4D9A7F0D0}"/>
              </a:ext>
            </a:extLst>
          </p:cNvPr>
          <p:cNvGraphicFramePr>
            <a:graphicFrameLocks noGrp="1"/>
          </p:cNvGraphicFramePr>
          <p:nvPr/>
        </p:nvGraphicFramePr>
        <p:xfrm>
          <a:off x="898525" y="3357563"/>
          <a:ext cx="7777163" cy="2781300"/>
        </p:xfrm>
        <a:graphic>
          <a:graphicData uri="http://schemas.openxmlformats.org/drawingml/2006/table">
            <a:tbl>
              <a:tblPr/>
              <a:tblGrid>
                <a:gridCol w="388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5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사이클 스틸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(Cycle Steal)</a:t>
                      </a:r>
                    </a:p>
                  </a:txBody>
                  <a:tcPr marL="90000" marR="90000" marT="46791" marB="467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인터럽트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(Interrupt)</a:t>
                      </a:r>
                    </a:p>
                  </a:txBody>
                  <a:tcPr marL="90000" marR="90000" marT="46791" marB="467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CPU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상태를 보존할 필요가 없음</a:t>
                      </a:r>
                    </a:p>
                  </a:txBody>
                  <a:tcPr marL="90000" marR="90000" marT="46791" marB="467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CPU(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중앙처리장치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상태를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보존해야 함</a:t>
                      </a:r>
                    </a:p>
                  </a:txBody>
                  <a:tcPr marL="90000" marR="90000" marT="46791" marB="467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6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잠시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CPU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 쉼</a:t>
                      </a:r>
                    </a:p>
                  </a:txBody>
                  <a:tcPr marL="90000" marR="90000" marT="46791" marB="467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CPU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는 인터럽트를 처리해야 함</a:t>
                      </a:r>
                    </a:p>
                  </a:txBody>
                  <a:tcPr marL="90000" marR="90000" marT="46791" marB="467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실행 사이클에 훔치는 것이 가능함</a:t>
                      </a:r>
                    </a:p>
                  </a:txBody>
                  <a:tcPr marL="90000" marR="90000" marT="46791" marB="467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항상 실행 사이클 이후에만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인터럽트가 인지됨</a:t>
                      </a:r>
                    </a:p>
                  </a:txBody>
                  <a:tcPr marL="90000" marR="90000" marT="46791" marB="467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3F3B910C-1724-41E0-9623-1568FF9EB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2645D10-B49C-43E3-ADA5-BC5CD13B2C7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20">
            <a:extLst>
              <a:ext uri="{FF2B5EF4-FFF2-40B4-BE49-F238E27FC236}">
                <a16:creationId xmlns:a16="http://schemas.microsoft.com/office/drawing/2014/main" id="{D4F9BAB0-ECBC-4A67-A850-C24CA2808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388350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③ DMA vs </a:t>
            </a:r>
            <a:r>
              <a:rPr lang="ko-KR" altLang="en-US" b="1"/>
              <a:t>인터럽트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인터럽트인 경우 주변장치와 처리기 레지스터 간에 자료를 이동시킴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대량의 자료전송 시 인터럽트 방법은 중앙처리기의 부담을 증가시킴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다양한 인터럽트 처리를 위해서 인터럽트에 우선순위를 부여할 수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④ </a:t>
            </a:r>
            <a:r>
              <a:rPr lang="en-US" altLang="ko-KR" b="1"/>
              <a:t>DMA </a:t>
            </a:r>
            <a:r>
              <a:rPr lang="ko-KR" altLang="en-US" b="1"/>
              <a:t>의 구성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워드 카운트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주소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자료 버퍼 레지스터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⑤ </a:t>
            </a:r>
            <a:r>
              <a:rPr lang="en-US" altLang="ko-KR" b="1"/>
              <a:t>DMA </a:t>
            </a:r>
            <a:r>
              <a:rPr lang="ko-KR" altLang="en-US" b="1"/>
              <a:t>과정에서 인터럽트가 발생하는 시점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DMA </a:t>
            </a:r>
            <a:r>
              <a:rPr lang="ko-KR" altLang="en-US" b="1"/>
              <a:t>제어기가 자료 전송을 종료했을 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135EC25E-8A21-4B46-9123-156AE244D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0F5737A-67DB-4ADB-B7C7-27C55BE18F1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CE112B-80BC-4D99-8CD2-83D62FC1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908050"/>
            <a:ext cx="8658225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채널에 의한 </a:t>
            </a:r>
            <a:r>
              <a:rPr lang="en-US" altLang="ko-KR" b="1"/>
              <a:t>I/O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채널</a:t>
            </a:r>
            <a:r>
              <a:rPr lang="en-US" altLang="ko-KR" b="1"/>
              <a:t>(Channel)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신호를 보낼 수 있는 전송로 </a:t>
            </a:r>
            <a:r>
              <a:rPr lang="en-US" altLang="ko-KR" b="1"/>
              <a:t>(</a:t>
            </a:r>
            <a:r>
              <a:rPr lang="ko-KR" altLang="en-US" b="1"/>
              <a:t>입출력 장치와 주기억장치를 연결하는 중계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역할을 담당하는 부분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• </a:t>
            </a:r>
            <a:r>
              <a:rPr lang="ko-KR" altLang="en-US" b="1"/>
              <a:t>입출력은  </a:t>
            </a:r>
            <a:r>
              <a:rPr lang="en-US" altLang="ko-KR" b="1"/>
              <a:t>DMA </a:t>
            </a:r>
            <a:r>
              <a:rPr lang="ko-KR" altLang="en-US" b="1"/>
              <a:t>방법으로도 수행함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입출력 수행 중 어떤 오류조건에서 중앙처리장치에 인터럽트를 걸 수 있음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CPU </a:t>
            </a:r>
            <a:r>
              <a:rPr lang="ko-KR" altLang="en-US" b="1"/>
              <a:t>의 명령을 받고 입출력 조작을 개시하면 </a:t>
            </a:r>
            <a:r>
              <a:rPr lang="en-US" altLang="ko-KR" b="1"/>
              <a:t>CPU </a:t>
            </a:r>
            <a:r>
              <a:rPr lang="ko-KR" altLang="en-US" b="1"/>
              <a:t>와는 독립적으로 조작함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채널 제어장치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입출력 장치와  </a:t>
            </a:r>
            <a:r>
              <a:rPr lang="en-US" altLang="ko-KR" b="1"/>
              <a:t>CPU</a:t>
            </a:r>
            <a:r>
              <a:rPr lang="ko-KR" altLang="en-US" b="1"/>
              <a:t>사이에 존재하는 속도의 차이로 인하여 발생하는 단점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을 해결하기 위해서 고려됨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03676D36-BB8E-4C7D-8B6A-CDCB7E39B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50AC82D-E07B-4CD5-A917-FA7EAD61D2F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47BA24B-789C-4E7F-8B7B-9DA47826B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74700"/>
            <a:ext cx="8424862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③ </a:t>
            </a:r>
            <a:r>
              <a:rPr lang="ko-KR" altLang="en-US" b="1"/>
              <a:t>채널의 종류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Selector Channel (</a:t>
            </a:r>
            <a:r>
              <a:rPr lang="ko-KR" altLang="en-US" b="1"/>
              <a:t>선택 채널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- </a:t>
            </a:r>
            <a:r>
              <a:rPr lang="ko-KR" altLang="en-US" b="1"/>
              <a:t>입출력이 실제로 일어나고 있을 때는 채널 제어기가 임의의 시점에서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볼 때 마치 어느 한 입출력 장치의 전용인 것처럼 운영되는 채널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특정한 한 개의 장치를 독점하여 입출력함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Multiplexer Channel (</a:t>
            </a:r>
            <a:r>
              <a:rPr lang="ko-KR" altLang="en-US" b="1"/>
              <a:t>다중 채널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- </a:t>
            </a:r>
            <a:r>
              <a:rPr lang="ko-KR" altLang="en-US" b="1"/>
              <a:t>동시에 여러 개의 입출력 장치를 제어할 수 있는 채널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저속 입출력장치 제어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Block Multiplexer Channel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- </a:t>
            </a:r>
            <a:r>
              <a:rPr lang="ko-KR" altLang="en-US" b="1"/>
              <a:t>동시에 여러 개의 입출력 장치를 제어할 수 있는 채널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- </a:t>
            </a:r>
            <a:r>
              <a:rPr lang="ko-KR" altLang="en-US" b="1"/>
              <a:t>저속 입출력장치 제어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</a:t>
            </a:r>
            <a:r>
              <a:rPr lang="en-US" altLang="ko-KR" b="1"/>
              <a:t>※ </a:t>
            </a:r>
            <a:r>
              <a:rPr lang="ko-KR" altLang="en-US" b="1"/>
              <a:t>입출력 </a:t>
            </a:r>
            <a:r>
              <a:rPr lang="en-US" altLang="ko-KR" b="1"/>
              <a:t>throughput </a:t>
            </a:r>
            <a:r>
              <a:rPr lang="ko-KR" altLang="en-US" b="1"/>
              <a:t>비율이 증가하는 순서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폴링 </a:t>
            </a:r>
            <a:r>
              <a:rPr lang="en-US" altLang="ko-KR" b="1"/>
              <a:t>&lt; </a:t>
            </a:r>
            <a:r>
              <a:rPr lang="ko-KR" altLang="en-US" b="1"/>
              <a:t>인터럽트 </a:t>
            </a:r>
            <a:r>
              <a:rPr lang="en-US" altLang="ko-KR" b="1"/>
              <a:t>&lt; DMA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1632</TotalTime>
  <Words>1402</Words>
  <Application>Microsoft Office PowerPoint</Application>
  <PresentationFormat>화면 슬라이드 쇼(4:3)</PresentationFormat>
  <Paragraphs>208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HY중고딕</vt:lpstr>
      <vt:lpstr>견고딕</vt:lpstr>
      <vt:lpstr>굴림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90</cp:revision>
  <dcterms:created xsi:type="dcterms:W3CDTF">2009-03-02T07:39:04Z</dcterms:created>
  <dcterms:modified xsi:type="dcterms:W3CDTF">2025-11-10T10:13:26Z</dcterms:modified>
</cp:coreProperties>
</file>