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15"/>
  </p:notesMasterIdLst>
  <p:sldIdLst>
    <p:sldId id="256" r:id="rId2"/>
    <p:sldId id="258" r:id="rId3"/>
    <p:sldId id="267" r:id="rId4"/>
    <p:sldId id="26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9" r:id="rId13"/>
    <p:sldId id="266" r:id="rId14"/>
  </p:sldIdLst>
  <p:sldSz cx="9144000" cy="6858000" type="screen4x3"/>
  <p:notesSz cx="6858000" cy="9144000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b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b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b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b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99FF99"/>
    <a:srgbClr val="FFFF99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173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306DC071-3BA2-48DF-BA98-464C512666B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 b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1B5CF25D-92C9-4AAE-ACA3-6C20C4848F8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b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F5C14017-7D86-4C0A-BE55-3AF324814E7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9BAC8216-231B-4AE7-824E-5BF244643FD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079A4115-1B5B-48BD-8C17-48CB791ECAE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 b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1E401E98-E3F5-4100-97DC-B3D1B3B618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b="0" smtClean="0"/>
            </a:lvl1pPr>
          </a:lstStyle>
          <a:p>
            <a:pPr>
              <a:defRPr/>
            </a:pPr>
            <a:fld id="{884B962F-1B0F-4BFB-9701-5F36BA6767F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realpt-039A">
            <a:extLst>
              <a:ext uri="{FF2B5EF4-FFF2-40B4-BE49-F238E27FC236}">
                <a16:creationId xmlns:a16="http://schemas.microsoft.com/office/drawing/2014/main" id="{7EF68653-6850-41B8-A94C-384A9915664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AutoShape 8">
            <a:extLst>
              <a:ext uri="{FF2B5EF4-FFF2-40B4-BE49-F238E27FC236}">
                <a16:creationId xmlns:a16="http://schemas.microsoft.com/office/drawing/2014/main" id="{1C0874E3-2CB8-4E08-A9C4-14E1DF46B30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87500" y="685800"/>
            <a:ext cx="6019800" cy="1600200"/>
          </a:xfrm>
          <a:prstGeom prst="roundRect">
            <a:avLst>
              <a:gd name="adj" fmla="val 16667"/>
            </a:avLst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2759F8A3-7675-4EBF-B74E-BB9B39579DF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25613" y="990600"/>
            <a:ext cx="57150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5400" dirty="0">
                <a:solidFill>
                  <a:schemeClr val="bg1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컴 퓨 터 구 조</a:t>
            </a:r>
          </a:p>
        </p:txBody>
      </p:sp>
      <p:sp>
        <p:nvSpPr>
          <p:cNvPr id="5" name="Text Box 10">
            <a:extLst>
              <a:ext uri="{FF2B5EF4-FFF2-40B4-BE49-F238E27FC236}">
                <a16:creationId xmlns:a16="http://schemas.microsoft.com/office/drawing/2014/main" id="{2712F3D1-7A60-4EF5-B3CE-F191A1EC691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062288" y="3749030"/>
            <a:ext cx="30813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2000" dirty="0">
                <a:solidFill>
                  <a:srgbClr val="003366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Ch3. </a:t>
            </a:r>
            <a:r>
              <a:rPr lang="ko-KR" altLang="en-US" sz="2000" dirty="0">
                <a:solidFill>
                  <a:srgbClr val="003366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자료의 외부적 표현</a:t>
            </a:r>
            <a:endParaRPr lang="en-US" altLang="ko-KR" sz="2000" dirty="0">
              <a:solidFill>
                <a:srgbClr val="003366"/>
              </a:solidFill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2724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BE479E5-E90E-4DE5-8521-494119D5A55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1F77B985-EC7A-4FB4-9BAC-6A3A4A5C220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15881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11EAB57-B8E5-42F4-A4AC-592966FF36D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B5E0E8DF-AA5A-48EB-A8DB-9007BB41425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87649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6D7B7B0-360E-4B59-9107-E4A71A02238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33504735-4DC0-4536-9644-6E5E740B0CA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48001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DFFCEE-06F9-495A-8A78-77CFD3B458D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F6F2A663-35B1-4868-A1CD-50D95EBB7A1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08126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C05DD109-4417-40EC-8A59-1E0D891FE27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F66B2B17-2436-41D2-90CE-5F40C8563B2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97116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F34F2076-4959-4DC3-8D23-B40921DD81F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9C41829E-94ED-4A27-B7C0-2A79C55FA83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65031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796F5A3-76CA-45CF-8D7D-CD2A6CA583B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BA0C1CA6-7958-4D6D-80EB-DD292140C6A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46948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81EBDFF-2B83-4628-87EA-C7C815A8CD0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C096A9DF-6322-4908-AB6F-C3E79061BD5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27814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26C3E84-2C5F-4137-BDCA-FEDA3661586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EA5DD834-D900-467E-BEEA-85E99E0BAA3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38810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6C7DFE8-D7DB-4C84-9E4B-09993A11B89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2954E7C2-7BE3-4EC5-9846-955557B78E8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31934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6">
            <a:extLst>
              <a:ext uri="{FF2B5EF4-FFF2-40B4-BE49-F238E27FC236}">
                <a16:creationId xmlns:a16="http://schemas.microsoft.com/office/drawing/2014/main" id="{3C8CB969-A770-4726-9918-4BC206D7567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492500" y="6408738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600" smtClean="0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defRPr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FECA4C9B-D6A2-42A6-BEE3-11F06BEA77A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27" name="Line 7">
            <a:extLst>
              <a:ext uri="{FF2B5EF4-FFF2-40B4-BE49-F238E27FC236}">
                <a16:creationId xmlns:a16="http://schemas.microsoft.com/office/drawing/2014/main" id="{C70A2CE8-1CE3-4FEC-9EA2-8DFD08A8C088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9525" y="508000"/>
            <a:ext cx="9132888" cy="1588"/>
          </a:xfrm>
          <a:prstGeom prst="line">
            <a:avLst/>
          </a:prstGeom>
          <a:noFill/>
          <a:ln w="38100" cmpd="thinThick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8" name="Rectangle 8">
            <a:extLst>
              <a:ext uri="{FF2B5EF4-FFF2-40B4-BE49-F238E27FC236}">
                <a16:creationId xmlns:a16="http://schemas.microsoft.com/office/drawing/2014/main" id="{6C484D20-A2B1-4CE5-BB34-7DF6E2FD73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533400"/>
          </a:xfrm>
          <a:prstGeom prst="rect">
            <a:avLst/>
          </a:prstGeom>
          <a:solidFill>
            <a:srgbClr val="C3C3C3"/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wrap="none" anchor="ctr"/>
          <a:lstStyle>
            <a:lvl1pPr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029" name="Line 9">
            <a:extLst>
              <a:ext uri="{FF2B5EF4-FFF2-40B4-BE49-F238E27FC236}">
                <a16:creationId xmlns:a16="http://schemas.microsoft.com/office/drawing/2014/main" id="{08567B0E-F6B6-477C-ADCB-CA4139C64476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6381750"/>
            <a:ext cx="9144000" cy="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30" name="AutoShape 11">
            <a:extLst>
              <a:ext uri="{FF2B5EF4-FFF2-40B4-BE49-F238E27FC236}">
                <a16:creationId xmlns:a16="http://schemas.microsoft.com/office/drawing/2014/main" id="{5575FC20-B0E0-4BAA-BF5A-54DB1D70FB1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0838" y="73025"/>
            <a:ext cx="4365625" cy="381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031" name="Text Box 12">
            <a:extLst>
              <a:ext uri="{FF2B5EF4-FFF2-40B4-BE49-F238E27FC236}">
                <a16:creationId xmlns:a16="http://schemas.microsoft.com/office/drawing/2014/main" id="{C7EF28F4-3857-4365-8851-E9F39B0B947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57188" y="55563"/>
            <a:ext cx="314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sz="2000"/>
              <a:t>제 </a:t>
            </a:r>
            <a:r>
              <a:rPr lang="en-US" altLang="ko-KR" sz="2000"/>
              <a:t>3</a:t>
            </a:r>
            <a:r>
              <a:rPr lang="ko-KR" altLang="en-US" sz="2000"/>
              <a:t>절 자료의 외부적 표현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번호 개체 틀 1">
            <a:extLst>
              <a:ext uri="{FF2B5EF4-FFF2-40B4-BE49-F238E27FC236}">
                <a16:creationId xmlns:a16="http://schemas.microsoft.com/office/drawing/2014/main" id="{C11EAD29-88F4-4DF5-A68F-B9366C0BDE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BBD08A37-CD19-4C7C-8A04-437E3FDBE037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2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4099" name="Text Box 5">
            <a:extLst>
              <a:ext uri="{FF2B5EF4-FFF2-40B4-BE49-F238E27FC236}">
                <a16:creationId xmlns:a16="http://schemas.microsoft.com/office/drawing/2014/main" id="{A4203471-2024-401F-B98C-1AA7CEB4EB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613" y="1196975"/>
            <a:ext cx="8178800" cy="294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  <a:buFontTx/>
              <a:buAutoNum type="arabicParenBoth"/>
            </a:pPr>
            <a:r>
              <a:rPr lang="en-US" altLang="ko-KR"/>
              <a:t> ASCII </a:t>
            </a:r>
            <a:r>
              <a:rPr lang="ko-KR" altLang="en-US"/>
              <a:t>코드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/>
              <a:t>      </a:t>
            </a:r>
            <a:r>
              <a:rPr lang="en-US" altLang="ko-KR"/>
              <a:t>(American Standard Code for Information Interchange)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/>
              <a:t>     1) </a:t>
            </a:r>
            <a:r>
              <a:rPr lang="ko-KR" altLang="en-US"/>
              <a:t>자료의 외부적 표현방식으로 가장 흔히 사용되는 코드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/>
              <a:t>     </a:t>
            </a:r>
            <a:r>
              <a:rPr lang="en-US" altLang="ko-KR"/>
              <a:t>2) </a:t>
            </a:r>
            <a:r>
              <a:rPr lang="ko-KR" altLang="en-US"/>
              <a:t>영문자 </a:t>
            </a:r>
            <a:r>
              <a:rPr lang="en-US" altLang="ko-KR"/>
              <a:t>(Alphanumeric) </a:t>
            </a:r>
            <a:r>
              <a:rPr lang="ko-KR" altLang="en-US"/>
              <a:t>코드에 해당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/>
              <a:t>     </a:t>
            </a:r>
            <a:r>
              <a:rPr lang="en-US" altLang="ko-KR"/>
              <a:t>3) IBM</a:t>
            </a:r>
            <a:r>
              <a:rPr lang="ko-KR" altLang="en-US"/>
              <a:t>사에서 개발한 것으로 데이터 통신 및 마이크로 컴퓨터에서 많이 채택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/>
              <a:t>         되고 있는 코드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/>
              <a:t>     </a:t>
            </a:r>
            <a:r>
              <a:rPr lang="en-US" altLang="ko-KR"/>
              <a:t>4) ASCII </a:t>
            </a:r>
            <a:r>
              <a:rPr lang="ko-KR" altLang="en-US"/>
              <a:t>코드를 사용하여 통신을 할 때 </a:t>
            </a:r>
            <a:r>
              <a:rPr lang="en-US" altLang="ko-KR"/>
              <a:t>1Bit</a:t>
            </a:r>
            <a:r>
              <a:rPr lang="ko-KR" altLang="en-US"/>
              <a:t>의 패리티 비트를 추가하여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/>
              <a:t>         통신함</a:t>
            </a:r>
          </a:p>
        </p:txBody>
      </p:sp>
      <p:sp>
        <p:nvSpPr>
          <p:cNvPr id="4100" name="Rectangle 7">
            <a:extLst>
              <a:ext uri="{FF2B5EF4-FFF2-40B4-BE49-F238E27FC236}">
                <a16:creationId xmlns:a16="http://schemas.microsoft.com/office/drawing/2014/main" id="{87374C4C-D9D4-4C9B-AA43-85F0879D5E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765175"/>
            <a:ext cx="28289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/>
              <a:t>1. 2</a:t>
            </a:r>
            <a:r>
              <a:rPr lang="ko-KR" altLang="en-US"/>
              <a:t>진수를 기초로 한 코드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슬라이드 번호 개체 틀 1">
            <a:extLst>
              <a:ext uri="{FF2B5EF4-FFF2-40B4-BE49-F238E27FC236}">
                <a16:creationId xmlns:a16="http://schemas.microsoft.com/office/drawing/2014/main" id="{0808FD9F-4A96-4177-9B42-C99C755B77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2C4E2255-5962-4FD2-8407-2A37E08F1CDB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3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5123" name="Text Box 2">
            <a:extLst>
              <a:ext uri="{FF2B5EF4-FFF2-40B4-BE49-F238E27FC236}">
                <a16:creationId xmlns:a16="http://schemas.microsoft.com/office/drawing/2014/main" id="{F583E1E4-26BA-4E99-9EB7-3441FCDE4D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812800"/>
            <a:ext cx="7877175" cy="4735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/>
              <a:t>(2) BCD </a:t>
            </a:r>
            <a:r>
              <a:rPr lang="ko-KR" altLang="en-US"/>
              <a:t>코드 </a:t>
            </a:r>
            <a:r>
              <a:rPr lang="en-US" altLang="ko-KR"/>
              <a:t>(Binary Coded Decimal, 2</a:t>
            </a:r>
            <a:r>
              <a:rPr lang="ko-KR" altLang="en-US"/>
              <a:t>진화 </a:t>
            </a:r>
            <a:r>
              <a:rPr lang="en-US" altLang="ko-KR"/>
              <a:t>10</a:t>
            </a:r>
            <a:r>
              <a:rPr lang="ko-KR" altLang="en-US"/>
              <a:t>진 코드</a:t>
            </a:r>
            <a:r>
              <a:rPr lang="en-US" altLang="ko-KR"/>
              <a:t>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/>
              <a:t>     1) 10</a:t>
            </a:r>
            <a:r>
              <a:rPr lang="ko-KR" altLang="en-US"/>
              <a:t>진수 </a:t>
            </a:r>
            <a:r>
              <a:rPr lang="en-US" altLang="ko-KR"/>
              <a:t>1</a:t>
            </a:r>
            <a:r>
              <a:rPr lang="ko-KR" altLang="en-US"/>
              <a:t>자리의 수를 </a:t>
            </a:r>
            <a:r>
              <a:rPr lang="en-US" altLang="ko-KR"/>
              <a:t>2</a:t>
            </a:r>
            <a:r>
              <a:rPr lang="ko-KR" altLang="en-US"/>
              <a:t>진수 </a:t>
            </a:r>
            <a:r>
              <a:rPr lang="en-US" altLang="ko-KR"/>
              <a:t>4Bit </a:t>
            </a:r>
            <a:r>
              <a:rPr lang="ko-KR" altLang="en-US"/>
              <a:t>로 표현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/>
              <a:t>     </a:t>
            </a:r>
            <a:r>
              <a:rPr lang="en-US" altLang="ko-KR"/>
              <a:t>2) 4Bit </a:t>
            </a:r>
            <a:r>
              <a:rPr lang="ko-KR" altLang="en-US"/>
              <a:t>의 </a:t>
            </a:r>
            <a:r>
              <a:rPr lang="en-US" altLang="ko-KR"/>
              <a:t>2</a:t>
            </a:r>
            <a:r>
              <a:rPr lang="ko-KR" altLang="en-US"/>
              <a:t>진수 각 </a:t>
            </a:r>
            <a:r>
              <a:rPr lang="en-US" altLang="ko-KR"/>
              <a:t>Bit</a:t>
            </a:r>
            <a:r>
              <a:rPr lang="ko-KR" altLang="en-US"/>
              <a:t>가 </a:t>
            </a:r>
            <a:r>
              <a:rPr lang="en-US" altLang="ko-KR"/>
              <a:t>8(2</a:t>
            </a:r>
            <a:r>
              <a:rPr lang="en-US" altLang="ko-KR" baseline="30000"/>
              <a:t>3</a:t>
            </a:r>
            <a:r>
              <a:rPr lang="en-US" altLang="ko-KR"/>
              <a:t>), 4(2</a:t>
            </a:r>
            <a:r>
              <a:rPr lang="en-US" altLang="ko-KR" baseline="30000"/>
              <a:t>2</a:t>
            </a:r>
            <a:r>
              <a:rPr lang="en-US" altLang="ko-KR"/>
              <a:t>), 2(2</a:t>
            </a:r>
            <a:r>
              <a:rPr lang="en-US" altLang="ko-KR" baseline="30000"/>
              <a:t>1</a:t>
            </a:r>
            <a:r>
              <a:rPr lang="en-US" altLang="ko-KR"/>
              <a:t>), 1(2</a:t>
            </a:r>
            <a:r>
              <a:rPr lang="en-US" altLang="ko-KR" baseline="30000"/>
              <a:t>0</a:t>
            </a:r>
            <a:r>
              <a:rPr lang="en-US" altLang="ko-KR"/>
              <a:t>)</a:t>
            </a:r>
            <a:r>
              <a:rPr lang="ko-KR" altLang="en-US"/>
              <a:t>의 자리 값을 가지므로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/>
              <a:t>         </a:t>
            </a:r>
            <a:r>
              <a:rPr lang="en-US" altLang="ko-KR"/>
              <a:t>8421</a:t>
            </a:r>
            <a:r>
              <a:rPr lang="ko-KR" altLang="en-US"/>
              <a:t>코드라고도 함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/>
              <a:t>     </a:t>
            </a:r>
            <a:r>
              <a:rPr lang="en-US" altLang="ko-KR"/>
              <a:t>3) </a:t>
            </a:r>
            <a:r>
              <a:rPr lang="ko-KR" altLang="en-US"/>
              <a:t>대표적인 가중치 코드 </a:t>
            </a:r>
            <a:r>
              <a:rPr lang="en-US" altLang="ko-KR"/>
              <a:t>(Weight Code)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/>
              <a:t>     4) BCD</a:t>
            </a:r>
            <a:r>
              <a:rPr lang="ko-KR" altLang="en-US"/>
              <a:t>코드를 사용하는 이유 </a:t>
            </a:r>
            <a:r>
              <a:rPr lang="en-US" altLang="ko-KR"/>
              <a:t>: 10</a:t>
            </a:r>
            <a:r>
              <a:rPr lang="ko-KR" altLang="en-US"/>
              <a:t>진수 입</a:t>
            </a:r>
            <a:r>
              <a:rPr lang="en-US" altLang="ko-KR"/>
              <a:t>.</a:t>
            </a:r>
            <a:r>
              <a:rPr lang="ko-KR" altLang="en-US"/>
              <a:t>출력이 간편함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/>
              <a:t>     </a:t>
            </a:r>
            <a:r>
              <a:rPr lang="en-US" altLang="ko-KR"/>
              <a:t>5) </a:t>
            </a:r>
            <a:r>
              <a:rPr lang="ko-KR" altLang="en-US"/>
              <a:t>자체 보수화 </a:t>
            </a:r>
            <a:r>
              <a:rPr lang="en-US" altLang="ko-KR"/>
              <a:t>(self-complementary) </a:t>
            </a:r>
            <a:r>
              <a:rPr lang="ko-KR" altLang="en-US"/>
              <a:t>는 불가능함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/>
              <a:t>     </a:t>
            </a:r>
            <a:r>
              <a:rPr lang="en-US" altLang="ko-KR"/>
              <a:t>6) 1010, 1011, 1100, 1101, 1110, 1111</a:t>
            </a:r>
            <a:r>
              <a:rPr lang="ko-KR" altLang="en-US"/>
              <a:t>은 사용하지 않음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/>
              <a:t>     </a:t>
            </a:r>
            <a:r>
              <a:rPr lang="en-US" altLang="ko-KR"/>
              <a:t>6) </a:t>
            </a:r>
            <a:r>
              <a:rPr lang="ko-KR" altLang="en-US"/>
              <a:t>예제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/>
              <a:t>         ① </a:t>
            </a:r>
            <a:r>
              <a:rPr lang="en-US" altLang="ko-KR"/>
              <a:t>10</a:t>
            </a:r>
            <a:r>
              <a:rPr lang="ko-KR" altLang="en-US"/>
              <a:t>진수 </a:t>
            </a:r>
            <a:r>
              <a:rPr lang="en-US" altLang="ko-KR"/>
              <a:t>456</a:t>
            </a:r>
            <a:r>
              <a:rPr lang="ko-KR" altLang="en-US"/>
              <a:t>을 </a:t>
            </a:r>
            <a:r>
              <a:rPr lang="en-US" altLang="ko-KR"/>
              <a:t>BCD </a:t>
            </a:r>
            <a:r>
              <a:rPr lang="ko-KR" altLang="en-US"/>
              <a:t>코드로 변환 </a:t>
            </a:r>
            <a:r>
              <a:rPr lang="en-US" altLang="ko-KR"/>
              <a:t>: 0100 0101 0110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/>
              <a:t>         ② 10</a:t>
            </a:r>
            <a:r>
              <a:rPr lang="ko-KR" altLang="en-US"/>
              <a:t>진수 </a:t>
            </a:r>
            <a:r>
              <a:rPr lang="en-US" altLang="ko-KR"/>
              <a:t>634</a:t>
            </a:r>
            <a:r>
              <a:rPr lang="ko-KR" altLang="en-US"/>
              <a:t>를 </a:t>
            </a:r>
            <a:r>
              <a:rPr lang="en-US" altLang="ko-KR"/>
              <a:t>BCD </a:t>
            </a:r>
            <a:r>
              <a:rPr lang="ko-KR" altLang="en-US"/>
              <a:t>코드로 변환 </a:t>
            </a:r>
            <a:r>
              <a:rPr lang="en-US" altLang="ko-KR"/>
              <a:t>: 0110 0011 0100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/>
              <a:t>         ③ 10</a:t>
            </a:r>
            <a:r>
              <a:rPr lang="ko-KR" altLang="en-US"/>
              <a:t>진수 </a:t>
            </a:r>
            <a:r>
              <a:rPr lang="en-US" altLang="ko-KR"/>
              <a:t>956</a:t>
            </a:r>
            <a:r>
              <a:rPr lang="ko-KR" altLang="en-US"/>
              <a:t>을 </a:t>
            </a:r>
            <a:r>
              <a:rPr lang="en-US" altLang="ko-KR"/>
              <a:t>BCD </a:t>
            </a:r>
            <a:r>
              <a:rPr lang="ko-KR" altLang="en-US"/>
              <a:t>코드로 변환 </a:t>
            </a:r>
            <a:r>
              <a:rPr lang="en-US" altLang="ko-KR"/>
              <a:t>: 1001 0101 0110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/>
              <a:t>         ④ 10</a:t>
            </a:r>
            <a:r>
              <a:rPr lang="ko-KR" altLang="en-US"/>
              <a:t>진수 </a:t>
            </a:r>
            <a:r>
              <a:rPr lang="en-US" altLang="ko-KR"/>
              <a:t>396</a:t>
            </a:r>
            <a:r>
              <a:rPr lang="ko-KR" altLang="en-US"/>
              <a:t>을 </a:t>
            </a:r>
            <a:r>
              <a:rPr lang="en-US" altLang="ko-KR"/>
              <a:t>8421</a:t>
            </a:r>
            <a:r>
              <a:rPr lang="ko-KR" altLang="en-US"/>
              <a:t>코드로 변환  </a:t>
            </a:r>
            <a:r>
              <a:rPr lang="en-US" altLang="ko-KR"/>
              <a:t>: 0011 1001 0110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슬라이드 번호 개체 틀 1">
            <a:extLst>
              <a:ext uri="{FF2B5EF4-FFF2-40B4-BE49-F238E27FC236}">
                <a16:creationId xmlns:a16="http://schemas.microsoft.com/office/drawing/2014/main" id="{67409130-68A5-4A30-B886-45278EC724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B28A492B-CD00-4185-8CE8-5EC147AA3295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4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4BD1E44A-4CA8-471D-9C62-9FA5F9545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413" y="836613"/>
            <a:ext cx="8496300" cy="116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/>
              <a:t>(3) EBCDIC(Extended BCD Interchange Code, </a:t>
            </a:r>
            <a:r>
              <a:rPr lang="ko-KR" altLang="en-US"/>
              <a:t>확장 </a:t>
            </a:r>
            <a:r>
              <a:rPr lang="en-US" altLang="ko-KR"/>
              <a:t>2</a:t>
            </a:r>
            <a:r>
              <a:rPr lang="ko-KR" altLang="en-US"/>
              <a:t>진화 </a:t>
            </a:r>
            <a:r>
              <a:rPr lang="en-US" altLang="ko-KR"/>
              <a:t>10</a:t>
            </a:r>
            <a:r>
              <a:rPr lang="ko-KR" altLang="en-US"/>
              <a:t>진 코드</a:t>
            </a:r>
            <a:r>
              <a:rPr lang="en-US" altLang="ko-KR"/>
              <a:t>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/>
              <a:t>    1) </a:t>
            </a:r>
            <a:r>
              <a:rPr lang="ko-KR" altLang="en-US"/>
              <a:t>각각의 문자에 대하여 </a:t>
            </a:r>
            <a:r>
              <a:rPr lang="en-US" altLang="ko-KR"/>
              <a:t>8</a:t>
            </a:r>
            <a:r>
              <a:rPr lang="ko-KR" altLang="en-US"/>
              <a:t>개의 비트 </a:t>
            </a:r>
            <a:r>
              <a:rPr lang="en-US" altLang="ko-KR"/>
              <a:t>(4</a:t>
            </a:r>
            <a:r>
              <a:rPr lang="ko-KR" altLang="en-US"/>
              <a:t>개의 </a:t>
            </a:r>
            <a:r>
              <a:rPr lang="en-US" altLang="ko-KR"/>
              <a:t>Zone Bit + 4</a:t>
            </a:r>
            <a:r>
              <a:rPr lang="ko-KR" altLang="en-US"/>
              <a:t>개의 </a:t>
            </a:r>
            <a:r>
              <a:rPr lang="en-US" altLang="ko-KR"/>
              <a:t>Digit Bit) </a:t>
            </a:r>
            <a:r>
              <a:rPr lang="ko-KR" altLang="en-US"/>
              <a:t>와 </a:t>
            </a:r>
            <a:r>
              <a:rPr lang="en-US" altLang="ko-KR"/>
              <a:t>1</a:t>
            </a:r>
            <a:r>
              <a:rPr lang="ko-KR" altLang="en-US"/>
              <a:t>개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/>
              <a:t>        의 피리티 비트로 구성됨</a:t>
            </a:r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1264A93E-DCEB-4AB6-8ECB-CAA868382C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38" y="2144713"/>
            <a:ext cx="8239125" cy="272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9" name="Rectangle 5">
            <a:extLst>
              <a:ext uri="{FF2B5EF4-FFF2-40B4-BE49-F238E27FC236}">
                <a16:creationId xmlns:a16="http://schemas.microsoft.com/office/drawing/2014/main" id="{3C35E719-6021-48E6-B7F0-95C7E11486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941888"/>
            <a:ext cx="7775575" cy="116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/>
              <a:t>2) IBM </a:t>
            </a:r>
            <a:r>
              <a:rPr lang="ko-KR" altLang="en-US"/>
              <a:t>사에서 개발한 것으로 대형 컴퓨터용으로 쓰임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/>
              <a:t>3) </a:t>
            </a:r>
            <a:r>
              <a:rPr lang="ko-KR" altLang="en-US"/>
              <a:t>예제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/>
              <a:t>    </a:t>
            </a:r>
            <a:r>
              <a:rPr lang="en-US" altLang="ko-KR"/>
              <a:t>EBCDIC </a:t>
            </a:r>
            <a:r>
              <a:rPr lang="ko-KR" altLang="en-US"/>
              <a:t>로 </a:t>
            </a:r>
            <a:r>
              <a:rPr lang="en-US" altLang="ko-KR"/>
              <a:t>10 </a:t>
            </a:r>
            <a:r>
              <a:rPr lang="ko-KR" altLang="en-US"/>
              <a:t>진 숫자 </a:t>
            </a:r>
            <a:r>
              <a:rPr lang="en-US" altLang="ko-KR"/>
              <a:t>5 </a:t>
            </a:r>
            <a:r>
              <a:rPr lang="ko-KR" altLang="en-US"/>
              <a:t>를 표현 </a:t>
            </a:r>
            <a:r>
              <a:rPr lang="en-US" altLang="ko-KR"/>
              <a:t>: 11110101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번호 개체 틀 1">
            <a:extLst>
              <a:ext uri="{FF2B5EF4-FFF2-40B4-BE49-F238E27FC236}">
                <a16:creationId xmlns:a16="http://schemas.microsoft.com/office/drawing/2014/main" id="{6C96634E-DDB9-46D0-9EFE-BB503A2EA3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BE0A3716-53A1-4A2A-931C-EDFA9665B519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5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7171" name="Rectangle 4">
            <a:extLst>
              <a:ext uri="{FF2B5EF4-FFF2-40B4-BE49-F238E27FC236}">
                <a16:creationId xmlns:a16="http://schemas.microsoft.com/office/drawing/2014/main" id="{BD160646-FF1B-4819-AF8C-8F4DC2C8B9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765175"/>
            <a:ext cx="6389688" cy="4735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/>
              <a:t>(4) 3</a:t>
            </a:r>
            <a:r>
              <a:rPr lang="ko-KR" altLang="en-US"/>
              <a:t>초과 코드 </a:t>
            </a:r>
            <a:r>
              <a:rPr lang="en-US" altLang="ko-KR"/>
              <a:t>(Excess-3 Code)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/>
              <a:t>    1) 10</a:t>
            </a:r>
            <a:r>
              <a:rPr lang="ko-KR" altLang="en-US"/>
              <a:t>진수를 표현하기 위한 부호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/>
              <a:t>    </a:t>
            </a:r>
            <a:r>
              <a:rPr lang="en-US" altLang="ko-KR"/>
              <a:t>2) BCD </a:t>
            </a:r>
            <a:r>
              <a:rPr lang="ko-KR" altLang="en-US"/>
              <a:t>부호에 </a:t>
            </a:r>
            <a:r>
              <a:rPr lang="en-US" altLang="ko-KR"/>
              <a:t>3</a:t>
            </a:r>
            <a:r>
              <a:rPr lang="ko-KR" altLang="en-US"/>
              <a:t>을 더한 것과 같음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/>
              <a:t>    </a:t>
            </a:r>
            <a:r>
              <a:rPr lang="en-US" altLang="ko-KR"/>
              <a:t>3) </a:t>
            </a:r>
            <a:r>
              <a:rPr lang="ko-KR" altLang="en-US"/>
              <a:t>부호를 구성하는 어떤 비트 값도 </a:t>
            </a:r>
            <a:r>
              <a:rPr lang="en-US" altLang="ko-KR"/>
              <a:t>0 </a:t>
            </a:r>
            <a:r>
              <a:rPr lang="ko-KR" altLang="en-US"/>
              <a:t>이 아님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/>
              <a:t>    </a:t>
            </a:r>
            <a:r>
              <a:rPr lang="en-US" altLang="ko-KR"/>
              <a:t>4) BCD code </a:t>
            </a:r>
            <a:r>
              <a:rPr lang="ko-KR" altLang="en-US"/>
              <a:t>중에서 산술 연산 작용에 가장 적합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/>
              <a:t>    </a:t>
            </a:r>
            <a:r>
              <a:rPr lang="en-US" altLang="ko-KR"/>
              <a:t>5) </a:t>
            </a:r>
            <a:r>
              <a:rPr lang="ko-KR" altLang="en-US"/>
              <a:t>대표적인 자기 보수 코드</a:t>
            </a:r>
            <a:r>
              <a:rPr lang="en-US" altLang="ko-KR"/>
              <a:t>, </a:t>
            </a:r>
            <a:r>
              <a:rPr lang="ko-KR" altLang="en-US"/>
              <a:t>비가중치 코드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/>
              <a:t>    </a:t>
            </a:r>
            <a:r>
              <a:rPr lang="en-US" altLang="ko-KR"/>
              <a:t>6) 3</a:t>
            </a:r>
            <a:r>
              <a:rPr lang="ko-KR" altLang="en-US"/>
              <a:t>초과 코드에서 존재할 수 없는 코드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/>
              <a:t>        </a:t>
            </a:r>
            <a:r>
              <a:rPr lang="en-US" altLang="ko-KR"/>
              <a:t>0000, 0001, 0010, 1111, 1110, 1100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/>
              <a:t>    7) </a:t>
            </a:r>
            <a:r>
              <a:rPr lang="ko-KR" altLang="en-US"/>
              <a:t>예제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/>
              <a:t>        ① </a:t>
            </a:r>
            <a:r>
              <a:rPr lang="en-US" altLang="ko-KR"/>
              <a:t>10</a:t>
            </a:r>
            <a:r>
              <a:rPr lang="ko-KR" altLang="en-US"/>
              <a:t>진수 </a:t>
            </a:r>
            <a:r>
              <a:rPr lang="en-US" altLang="ko-KR"/>
              <a:t>8</a:t>
            </a:r>
            <a:r>
              <a:rPr lang="ko-KR" altLang="en-US"/>
              <a:t>을  </a:t>
            </a:r>
            <a:r>
              <a:rPr lang="en-US" altLang="ko-KR"/>
              <a:t>Excess-3 </a:t>
            </a:r>
            <a:r>
              <a:rPr lang="ko-KR" altLang="en-US"/>
              <a:t>코드로 표시하면</a:t>
            </a:r>
            <a:r>
              <a:rPr lang="en-US" altLang="ko-KR"/>
              <a:t>?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/>
              <a:t>            1000 + 0011 = 1011</a:t>
            </a:r>
            <a:r>
              <a:rPr lang="en-US" altLang="ko-KR" baseline="-25000"/>
              <a:t>(E)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/>
              <a:t>        ② 10</a:t>
            </a:r>
            <a:r>
              <a:rPr lang="ko-KR" altLang="en-US"/>
              <a:t>진수 </a:t>
            </a:r>
            <a:r>
              <a:rPr lang="en-US" altLang="ko-KR"/>
              <a:t>9</a:t>
            </a:r>
            <a:r>
              <a:rPr lang="ko-KR" altLang="en-US"/>
              <a:t>를  </a:t>
            </a:r>
            <a:r>
              <a:rPr lang="en-US" altLang="ko-KR"/>
              <a:t>Excess-3</a:t>
            </a:r>
            <a:r>
              <a:rPr lang="ko-KR" altLang="en-US"/>
              <a:t>코드로 표시하면</a:t>
            </a:r>
            <a:r>
              <a:rPr lang="en-US" altLang="ko-KR"/>
              <a:t>?    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/>
              <a:t>            1001 + 0011 = 1100</a:t>
            </a:r>
            <a:r>
              <a:rPr lang="en-US" altLang="ko-KR" baseline="-25000"/>
              <a:t>(E)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슬라이드 번호 개체 틀 1">
            <a:extLst>
              <a:ext uri="{FF2B5EF4-FFF2-40B4-BE49-F238E27FC236}">
                <a16:creationId xmlns:a16="http://schemas.microsoft.com/office/drawing/2014/main" id="{7072A582-8467-4C54-B1EB-E825D98013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D4F98A1E-8D35-4AC1-91A0-42A119BB5F4E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6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graphicFrame>
        <p:nvGraphicFramePr>
          <p:cNvPr id="140349" name="Group 61">
            <a:extLst>
              <a:ext uri="{FF2B5EF4-FFF2-40B4-BE49-F238E27FC236}">
                <a16:creationId xmlns:a16="http://schemas.microsoft.com/office/drawing/2014/main" id="{018AD671-B6FC-4C42-A311-ED91B18D6350}"/>
              </a:ext>
            </a:extLst>
          </p:cNvPr>
          <p:cNvGraphicFramePr>
            <a:graphicFrameLocks noGrp="1"/>
          </p:cNvGraphicFramePr>
          <p:nvPr/>
        </p:nvGraphicFramePr>
        <p:xfrm>
          <a:off x="1330325" y="1125538"/>
          <a:ext cx="6697663" cy="4203700"/>
        </p:xfrm>
        <a:graphic>
          <a:graphicData uri="http://schemas.openxmlformats.org/drawingml/2006/table">
            <a:tbl>
              <a:tblPr/>
              <a:tblGrid>
                <a:gridCol w="1584325">
                  <a:extLst>
                    <a:ext uri="{9D8B030D-6E8A-4147-A177-3AD203B41FA5}">
                      <a16:colId xmlns:a16="http://schemas.microsoft.com/office/drawing/2014/main" val="2820926066"/>
                    </a:ext>
                  </a:extLst>
                </a:gridCol>
                <a:gridCol w="1728788">
                  <a:extLst>
                    <a:ext uri="{9D8B030D-6E8A-4147-A177-3AD203B41FA5}">
                      <a16:colId xmlns:a16="http://schemas.microsoft.com/office/drawing/2014/main" val="3365368440"/>
                    </a:ext>
                  </a:extLst>
                </a:gridCol>
                <a:gridCol w="1800225">
                  <a:extLst>
                    <a:ext uri="{9D8B030D-6E8A-4147-A177-3AD203B41FA5}">
                      <a16:colId xmlns:a16="http://schemas.microsoft.com/office/drawing/2014/main" val="179817367"/>
                    </a:ext>
                  </a:extLst>
                </a:gridCol>
                <a:gridCol w="1584325">
                  <a:extLst>
                    <a:ext uri="{9D8B030D-6E8A-4147-A177-3AD203B41FA5}">
                      <a16:colId xmlns:a16="http://schemas.microsoft.com/office/drawing/2014/main" val="110744149"/>
                    </a:ext>
                  </a:extLst>
                </a:gridCol>
              </a:tblGrid>
              <a:tr h="50867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10 </a:t>
                      </a:r>
                      <a:r>
                        <a:rPr kumimoji="1" lang="ko-KR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진수</a:t>
                      </a:r>
                    </a:p>
                  </a:txBody>
                  <a:tcPr marT="46214" marB="46214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3 </a:t>
                      </a:r>
                      <a:r>
                        <a:rPr kumimoji="1" lang="ko-KR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초과 코드</a:t>
                      </a:r>
                    </a:p>
                  </a:txBody>
                  <a:tcPr marT="46214" marB="462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3 </a:t>
                      </a:r>
                      <a:r>
                        <a:rPr kumimoji="1" lang="ko-KR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초과 코드</a:t>
                      </a:r>
                    </a:p>
                  </a:txBody>
                  <a:tcPr marT="46214" marB="462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10</a:t>
                      </a:r>
                      <a:r>
                        <a:rPr kumimoji="1" lang="ko-KR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진수</a:t>
                      </a:r>
                    </a:p>
                  </a:txBody>
                  <a:tcPr marT="46214" marB="462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604815"/>
                  </a:ext>
                </a:extLst>
              </a:tr>
              <a:tr h="369503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4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5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6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7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8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9</a:t>
                      </a:r>
                    </a:p>
                  </a:txBody>
                  <a:tcPr marT="46214" marB="46214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0011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0100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0101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0110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0111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1000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1001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1010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1011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1100</a:t>
                      </a:r>
                    </a:p>
                  </a:txBody>
                  <a:tcPr marT="46214" marB="462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1100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1011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1010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1001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1000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0111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0110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0101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0100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0011</a:t>
                      </a:r>
                    </a:p>
                  </a:txBody>
                  <a:tcPr marT="46214" marB="462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9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8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7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6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5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4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marT="46214" marB="462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6044576"/>
                  </a:ext>
                </a:extLst>
              </a:tr>
            </a:tbl>
          </a:graphicData>
        </a:graphic>
      </p:graphicFrame>
      <p:sp>
        <p:nvSpPr>
          <p:cNvPr id="8212" name="Text Box 52">
            <a:extLst>
              <a:ext uri="{FF2B5EF4-FFF2-40B4-BE49-F238E27FC236}">
                <a16:creationId xmlns:a16="http://schemas.microsoft.com/office/drawing/2014/main" id="{43C952D7-6DA0-41B1-9BE6-5DEF43E4E4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2138" y="5589588"/>
            <a:ext cx="3149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/>
              <a:t>[</a:t>
            </a:r>
            <a:r>
              <a:rPr lang="ko-KR" altLang="en-US"/>
              <a:t>표</a:t>
            </a:r>
            <a:r>
              <a:rPr lang="en-US" altLang="ko-KR"/>
              <a:t>] 3</a:t>
            </a:r>
            <a:r>
              <a:rPr lang="ko-KR" altLang="en-US"/>
              <a:t>초과 코드 및 보수 관계</a:t>
            </a:r>
          </a:p>
        </p:txBody>
      </p:sp>
      <p:grpSp>
        <p:nvGrpSpPr>
          <p:cNvPr id="8213" name="Group 65">
            <a:extLst>
              <a:ext uri="{FF2B5EF4-FFF2-40B4-BE49-F238E27FC236}">
                <a16:creationId xmlns:a16="http://schemas.microsoft.com/office/drawing/2014/main" id="{B3003B25-707C-49A6-866D-A0E1A68A03DE}"/>
              </a:ext>
            </a:extLst>
          </p:cNvPr>
          <p:cNvGrpSpPr>
            <a:grpSpLocks/>
          </p:cNvGrpSpPr>
          <p:nvPr/>
        </p:nvGrpSpPr>
        <p:grpSpPr bwMode="auto">
          <a:xfrm>
            <a:off x="4189413" y="2814638"/>
            <a:ext cx="871537" cy="701675"/>
            <a:chOff x="2639" y="1773"/>
            <a:chExt cx="549" cy="442"/>
          </a:xfrm>
        </p:grpSpPr>
        <p:sp>
          <p:nvSpPr>
            <p:cNvPr id="8214" name="AutoShape 62">
              <a:extLst>
                <a:ext uri="{FF2B5EF4-FFF2-40B4-BE49-F238E27FC236}">
                  <a16:creationId xmlns:a16="http://schemas.microsoft.com/office/drawing/2014/main" id="{A181C8C1-E477-476A-816A-58FD7D8778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3" y="1989"/>
              <a:ext cx="545" cy="226"/>
            </a:xfrm>
            <a:prstGeom prst="leftRightArrow">
              <a:avLst>
                <a:gd name="adj1" fmla="val 50000"/>
                <a:gd name="adj2" fmla="val 4823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latinLnBrk="1">
                <a:defRPr kumimoji="1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/>
              <a:endParaRPr lang="ko-KR" altLang="ko-KR" b="0"/>
            </a:p>
          </p:txBody>
        </p:sp>
        <p:sp>
          <p:nvSpPr>
            <p:cNvPr id="8215" name="Text Box 64">
              <a:extLst>
                <a:ext uri="{FF2B5EF4-FFF2-40B4-BE49-F238E27FC236}">
                  <a16:creationId xmlns:a16="http://schemas.microsoft.com/office/drawing/2014/main" id="{DD9661AA-9903-46C9-9333-699FC6EB9E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9" y="1773"/>
              <a:ext cx="53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defRPr kumimoji="1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/>
                <a:t>보   수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슬라이드 번호 개체 틀 1">
            <a:extLst>
              <a:ext uri="{FF2B5EF4-FFF2-40B4-BE49-F238E27FC236}">
                <a16:creationId xmlns:a16="http://schemas.microsoft.com/office/drawing/2014/main" id="{CFDF86F2-6B04-47DC-9531-B7EF46F9EE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98317B88-B391-425F-BDC3-FC16B7488D6D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7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9219" name="Rectangle 4">
            <a:extLst>
              <a:ext uri="{FF2B5EF4-FFF2-40B4-BE49-F238E27FC236}">
                <a16:creationId xmlns:a16="http://schemas.microsoft.com/office/drawing/2014/main" id="{00EFD277-AE0D-4B12-8EE6-F8970ED074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692150"/>
            <a:ext cx="8135937" cy="240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/>
              <a:t>(5) </a:t>
            </a:r>
            <a:r>
              <a:rPr lang="ko-KR" altLang="en-US"/>
              <a:t>그레이 코드 </a:t>
            </a:r>
            <a:r>
              <a:rPr lang="en-US" altLang="ko-KR"/>
              <a:t>(Gray Code)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/>
              <a:t>     1) BCD</a:t>
            </a:r>
            <a:r>
              <a:rPr lang="ko-KR" altLang="en-US"/>
              <a:t>코드의 인접하는 비트를 </a:t>
            </a:r>
            <a:r>
              <a:rPr lang="en-US" altLang="ko-KR"/>
              <a:t>XOR </a:t>
            </a:r>
            <a:r>
              <a:rPr lang="ko-KR" altLang="en-US"/>
              <a:t>연산하여 만든 코드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/>
              <a:t>     </a:t>
            </a:r>
            <a:r>
              <a:rPr lang="en-US" altLang="ko-KR"/>
              <a:t>2) </a:t>
            </a:r>
            <a:r>
              <a:rPr lang="ko-KR" altLang="en-US"/>
              <a:t>이웃하는 코드가 한 비트만 다르기 때문에 코드 변환이 용이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/>
              <a:t>     </a:t>
            </a:r>
            <a:r>
              <a:rPr lang="en-US" altLang="ko-KR"/>
              <a:t>3) A/D </a:t>
            </a:r>
            <a:r>
              <a:rPr lang="ko-KR" altLang="en-US"/>
              <a:t>변환</a:t>
            </a:r>
            <a:r>
              <a:rPr lang="en-US" altLang="ko-KR"/>
              <a:t>, </a:t>
            </a:r>
            <a:r>
              <a:rPr lang="ko-KR" altLang="en-US"/>
              <a:t>입</a:t>
            </a:r>
            <a:r>
              <a:rPr lang="en-US" altLang="ko-KR"/>
              <a:t>.</a:t>
            </a:r>
            <a:r>
              <a:rPr lang="ko-KR" altLang="en-US"/>
              <a:t>출력 장치 등에 주로 사용됨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/>
              <a:t>     </a:t>
            </a:r>
            <a:r>
              <a:rPr lang="en-US" altLang="ko-KR"/>
              <a:t>4) Hardware error </a:t>
            </a:r>
            <a:r>
              <a:rPr lang="ko-KR" altLang="en-US"/>
              <a:t>를 최소로 하는데 적합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/>
              <a:t>       </a:t>
            </a:r>
            <a:r>
              <a:rPr lang="en-US" altLang="ko-KR"/>
              <a:t>(1 Bit</a:t>
            </a:r>
            <a:r>
              <a:rPr lang="ko-KR" altLang="en-US"/>
              <a:t>만 변화시켜 다음 수치로 증가시키므로</a:t>
            </a:r>
            <a:r>
              <a:rPr lang="en-US" altLang="ko-KR"/>
              <a:t>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/>
              <a:t>     5) </a:t>
            </a:r>
            <a:r>
              <a:rPr lang="ko-KR" altLang="en-US"/>
              <a:t>변환 방법</a:t>
            </a:r>
          </a:p>
        </p:txBody>
      </p:sp>
      <p:pic>
        <p:nvPicPr>
          <p:cNvPr id="9220" name="Picture 5">
            <a:extLst>
              <a:ext uri="{FF2B5EF4-FFF2-40B4-BE49-F238E27FC236}">
                <a16:creationId xmlns:a16="http://schemas.microsoft.com/office/drawing/2014/main" id="{B7F54D85-3968-4955-A322-AB9BBE1006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3141663"/>
            <a:ext cx="5113338" cy="2519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번호 개체 틀 1">
            <a:extLst>
              <a:ext uri="{FF2B5EF4-FFF2-40B4-BE49-F238E27FC236}">
                <a16:creationId xmlns:a16="http://schemas.microsoft.com/office/drawing/2014/main" id="{3EF7607B-38C9-481D-90A9-5A5449B021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600A5EBE-1B23-4309-A781-E1D82575B4E1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8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0243" name="Rectangle 4">
            <a:extLst>
              <a:ext uri="{FF2B5EF4-FFF2-40B4-BE49-F238E27FC236}">
                <a16:creationId xmlns:a16="http://schemas.microsoft.com/office/drawing/2014/main" id="{EF03FC1E-9BB3-4500-AC5A-F2694EE900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765175"/>
            <a:ext cx="7345363" cy="25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/>
              <a:t>6) </a:t>
            </a:r>
            <a:r>
              <a:rPr lang="ko-KR" altLang="en-US"/>
              <a:t>예제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/>
              <a:t>    ① </a:t>
            </a:r>
            <a:r>
              <a:rPr lang="en-US" altLang="ko-KR"/>
              <a:t>2</a:t>
            </a:r>
            <a:r>
              <a:rPr lang="ko-KR" altLang="en-US"/>
              <a:t>진수  </a:t>
            </a:r>
            <a:r>
              <a:rPr lang="en-US" altLang="ko-KR"/>
              <a:t>(1010)</a:t>
            </a:r>
            <a:r>
              <a:rPr lang="en-US" altLang="ko-KR" baseline="-25000"/>
              <a:t>2</a:t>
            </a:r>
            <a:r>
              <a:rPr lang="en-US" altLang="ko-KR"/>
              <a:t> </a:t>
            </a:r>
            <a:r>
              <a:rPr lang="ko-KR" altLang="en-US"/>
              <a:t>을 그레이 코드 변환하면</a:t>
            </a:r>
            <a:r>
              <a:rPr lang="en-US" altLang="ko-KR"/>
              <a:t>?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/>
              <a:t>        1111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/>
              <a:t>    ② 2</a:t>
            </a:r>
            <a:r>
              <a:rPr lang="ko-KR" altLang="en-US"/>
              <a:t>진수 </a:t>
            </a:r>
            <a:r>
              <a:rPr lang="en-US" altLang="ko-KR"/>
              <a:t>11011 </a:t>
            </a:r>
            <a:r>
              <a:rPr lang="ko-KR" altLang="en-US"/>
              <a:t>을 그레이 코드로 변환하면</a:t>
            </a:r>
            <a:r>
              <a:rPr lang="en-US" altLang="ko-KR"/>
              <a:t>?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/>
              <a:t>        10110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/>
              <a:t>    ③ Gray code (011011)</a:t>
            </a:r>
            <a:r>
              <a:rPr lang="en-US" altLang="ko-KR" baseline="-25000"/>
              <a:t>G</a:t>
            </a:r>
            <a:r>
              <a:rPr lang="ko-KR" altLang="en-US"/>
              <a:t>을 </a:t>
            </a:r>
            <a:r>
              <a:rPr lang="en-US" altLang="ko-KR"/>
              <a:t>binary number </a:t>
            </a:r>
            <a:r>
              <a:rPr lang="ko-KR" altLang="en-US"/>
              <a:t>로 변환시키면</a:t>
            </a:r>
            <a:r>
              <a:rPr lang="en-US" altLang="ko-KR"/>
              <a:t>?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/>
              <a:t>        (010010)</a:t>
            </a:r>
            <a:r>
              <a:rPr lang="en-US" altLang="ko-KR" baseline="-25000"/>
              <a:t>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슬라이드 번호 개체 틀 1">
            <a:extLst>
              <a:ext uri="{FF2B5EF4-FFF2-40B4-BE49-F238E27FC236}">
                <a16:creationId xmlns:a16="http://schemas.microsoft.com/office/drawing/2014/main" id="{BB2AB5FE-21EC-470C-B60A-AB3C6EB785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C7DCDF0A-A312-4E33-8805-295031832CF8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9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1267" name="Rectangle 4">
            <a:extLst>
              <a:ext uri="{FF2B5EF4-FFF2-40B4-BE49-F238E27FC236}">
                <a16:creationId xmlns:a16="http://schemas.microsoft.com/office/drawing/2014/main" id="{5413D0A1-EDE6-46D8-9FA3-163129C3AB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715963"/>
            <a:ext cx="8569325" cy="544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/>
              <a:t>(6) </a:t>
            </a:r>
            <a:r>
              <a:rPr lang="ko-KR" altLang="en-US"/>
              <a:t>패리티 검사 코드 </a:t>
            </a:r>
            <a:r>
              <a:rPr lang="en-US" altLang="ko-KR"/>
              <a:t>(Parity Check Code)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/>
              <a:t>     1) </a:t>
            </a:r>
            <a:r>
              <a:rPr lang="ko-KR" altLang="en-US"/>
              <a:t>코드의 오류</a:t>
            </a:r>
            <a:r>
              <a:rPr lang="en-US" altLang="ko-KR"/>
              <a:t>(error, </a:t>
            </a:r>
            <a:r>
              <a:rPr lang="ko-KR" altLang="en-US"/>
              <a:t>에러 착오</a:t>
            </a:r>
            <a:r>
              <a:rPr lang="en-US" altLang="ko-KR"/>
              <a:t>)</a:t>
            </a:r>
            <a:r>
              <a:rPr lang="ko-KR" altLang="en-US"/>
              <a:t>를 검사하기 위해서 </a:t>
            </a:r>
            <a:r>
              <a:rPr lang="en-US" altLang="ko-KR"/>
              <a:t>Data Bit </a:t>
            </a:r>
            <a:r>
              <a:rPr lang="ko-KR" altLang="en-US"/>
              <a:t>외에 </a:t>
            </a:r>
            <a:r>
              <a:rPr lang="en-US" altLang="ko-KR"/>
              <a:t>1Bit</a:t>
            </a:r>
            <a:r>
              <a:rPr lang="ko-KR" altLang="en-US"/>
              <a:t>의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/>
              <a:t>         패리티 체크 비트를 추가하는 것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/>
              <a:t>     </a:t>
            </a:r>
            <a:r>
              <a:rPr lang="en-US" altLang="ko-KR"/>
              <a:t>2) </a:t>
            </a:r>
            <a:r>
              <a:rPr lang="ko-KR" altLang="en-US"/>
              <a:t>패리티 비트 </a:t>
            </a:r>
            <a:r>
              <a:rPr lang="en-US" altLang="ko-KR"/>
              <a:t>(Parity Bit)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/>
              <a:t>         </a:t>
            </a:r>
            <a:r>
              <a:rPr lang="ko-KR" altLang="en-US"/>
              <a:t>오류 정보를 검출하기 위해 사용하는 비트 </a:t>
            </a:r>
            <a:r>
              <a:rPr lang="en-US" altLang="ko-KR"/>
              <a:t>(error </a:t>
            </a:r>
            <a:r>
              <a:rPr lang="ko-KR" altLang="en-US"/>
              <a:t>검출용 비트</a:t>
            </a:r>
            <a:r>
              <a:rPr lang="en-US" altLang="ko-KR"/>
              <a:t>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/>
              <a:t>     3) 1 Bit </a:t>
            </a:r>
            <a:r>
              <a:rPr lang="ko-KR" altLang="en-US"/>
              <a:t>의 오류만 검출 가능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/>
              <a:t>     </a:t>
            </a:r>
            <a:r>
              <a:rPr lang="en-US" altLang="ko-KR"/>
              <a:t>4) </a:t>
            </a:r>
            <a:r>
              <a:rPr lang="ko-KR" altLang="en-US"/>
              <a:t>종류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/>
              <a:t>         ① </a:t>
            </a:r>
            <a:r>
              <a:rPr lang="en-US" altLang="ko-KR"/>
              <a:t>Odd Parity (</a:t>
            </a:r>
            <a:r>
              <a:rPr lang="ko-KR" altLang="en-US"/>
              <a:t>기수 패리티</a:t>
            </a:r>
            <a:r>
              <a:rPr lang="en-US" altLang="ko-KR"/>
              <a:t>, </a:t>
            </a:r>
            <a:r>
              <a:rPr lang="ko-KR" altLang="en-US"/>
              <a:t>홀수 패리티</a:t>
            </a:r>
            <a:r>
              <a:rPr lang="en-US" altLang="ko-KR"/>
              <a:t>)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/>
              <a:t>             • </a:t>
            </a:r>
            <a:r>
              <a:rPr lang="ko-KR" altLang="en-US"/>
              <a:t>코드에서 </a:t>
            </a:r>
            <a:r>
              <a:rPr lang="en-US" altLang="ko-KR"/>
              <a:t>1</a:t>
            </a:r>
            <a:r>
              <a:rPr lang="ko-KR" altLang="en-US"/>
              <a:t>인 비트의 수가 홀수가 되도록 </a:t>
            </a:r>
            <a:r>
              <a:rPr lang="en-US" altLang="ko-KR"/>
              <a:t>0 </a:t>
            </a:r>
            <a:r>
              <a:rPr lang="ko-KR" altLang="en-US"/>
              <a:t>이나 </a:t>
            </a:r>
            <a:r>
              <a:rPr lang="en-US" altLang="ko-KR"/>
              <a:t>1</a:t>
            </a:r>
            <a:r>
              <a:rPr lang="ko-KR" altLang="en-US"/>
              <a:t>을 추가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/>
              <a:t>             </a:t>
            </a:r>
            <a:r>
              <a:rPr lang="en-US" altLang="ko-KR"/>
              <a:t>• 10100001 </a:t>
            </a:r>
            <a:r>
              <a:rPr lang="ko-KR" altLang="en-US"/>
              <a:t>에 홀수 패리티를 추가하시오</a:t>
            </a:r>
            <a:r>
              <a:rPr lang="en-US" altLang="ko-KR"/>
              <a:t>.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/>
              <a:t>               10100001 ⇨ 101000010 (1</a:t>
            </a:r>
            <a:r>
              <a:rPr lang="ko-KR" altLang="en-US"/>
              <a:t>의 개수가 홀수이므로 </a:t>
            </a:r>
            <a:r>
              <a:rPr lang="en-US" altLang="ko-KR"/>
              <a:t>0</a:t>
            </a:r>
            <a:r>
              <a:rPr lang="ko-KR" altLang="en-US"/>
              <a:t>을 추가</a:t>
            </a:r>
            <a:r>
              <a:rPr lang="en-US" altLang="ko-KR"/>
              <a:t>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/>
              <a:t>         ② Even Parity (</a:t>
            </a:r>
            <a:r>
              <a:rPr lang="ko-KR" altLang="en-US"/>
              <a:t>우수 패리티</a:t>
            </a:r>
            <a:r>
              <a:rPr lang="en-US" altLang="ko-KR"/>
              <a:t>, </a:t>
            </a:r>
            <a:r>
              <a:rPr lang="ko-KR" altLang="en-US"/>
              <a:t>짝수 패리티</a:t>
            </a:r>
            <a:r>
              <a:rPr lang="en-US" altLang="ko-KR"/>
              <a:t>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/>
              <a:t>             • </a:t>
            </a:r>
            <a:r>
              <a:rPr lang="ko-KR" altLang="en-US"/>
              <a:t>코드에서 </a:t>
            </a:r>
            <a:r>
              <a:rPr lang="en-US" altLang="ko-KR"/>
              <a:t>1</a:t>
            </a:r>
            <a:r>
              <a:rPr lang="ko-KR" altLang="en-US"/>
              <a:t>인 비트의 수가 짝수가 되도록 </a:t>
            </a:r>
            <a:r>
              <a:rPr lang="en-US" altLang="ko-KR"/>
              <a:t>0</a:t>
            </a:r>
            <a:r>
              <a:rPr lang="ko-KR" altLang="en-US"/>
              <a:t>이나 </a:t>
            </a:r>
            <a:r>
              <a:rPr lang="en-US" altLang="ko-KR"/>
              <a:t>1</a:t>
            </a:r>
            <a:r>
              <a:rPr lang="ko-KR" altLang="en-US"/>
              <a:t>을 추가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/>
              <a:t>             </a:t>
            </a:r>
            <a:r>
              <a:rPr lang="en-US" altLang="ko-KR"/>
              <a:t>• 10100001 </a:t>
            </a:r>
            <a:r>
              <a:rPr lang="ko-KR" altLang="en-US"/>
              <a:t>에 짝수 패리티를 추가하시오</a:t>
            </a:r>
            <a:r>
              <a:rPr lang="en-US" altLang="ko-KR"/>
              <a:t>.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/>
              <a:t>               10100001 ⇨ 101000011 (1</a:t>
            </a:r>
            <a:r>
              <a:rPr lang="ko-KR" altLang="en-US"/>
              <a:t>의 개수가 홀수이므로 </a:t>
            </a:r>
            <a:r>
              <a:rPr lang="en-US" altLang="ko-KR"/>
              <a:t>1</a:t>
            </a:r>
            <a:r>
              <a:rPr lang="ko-KR" altLang="en-US"/>
              <a:t>을 추가</a:t>
            </a:r>
            <a:r>
              <a:rPr lang="en-US" altLang="ko-KR"/>
              <a:t>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슬라이드 번호 개체 틀 1">
            <a:extLst>
              <a:ext uri="{FF2B5EF4-FFF2-40B4-BE49-F238E27FC236}">
                <a16:creationId xmlns:a16="http://schemas.microsoft.com/office/drawing/2014/main" id="{A9181EC8-C169-4DFE-A002-BFBC69C911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82FF7E4A-56E7-4E90-8CEF-2A5C7BA04A7E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10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2291" name="Rectangle 4">
            <a:extLst>
              <a:ext uri="{FF2B5EF4-FFF2-40B4-BE49-F238E27FC236}">
                <a16:creationId xmlns:a16="http://schemas.microsoft.com/office/drawing/2014/main" id="{17563C48-1230-4616-88F9-41488B9F8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765175"/>
            <a:ext cx="8532812" cy="3306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/>
              <a:t>(7) </a:t>
            </a:r>
            <a:r>
              <a:rPr lang="ko-KR" altLang="en-US"/>
              <a:t>해밍 코드 </a:t>
            </a:r>
            <a:r>
              <a:rPr lang="en-US" altLang="ko-KR"/>
              <a:t>(Hamming Code)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/>
              <a:t>     1) </a:t>
            </a:r>
            <a:r>
              <a:rPr lang="ko-KR" altLang="en-US"/>
              <a:t>오류 검출 및 교정이 가능한 코드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/>
              <a:t>     </a:t>
            </a:r>
            <a:r>
              <a:rPr lang="en-US" altLang="ko-KR"/>
              <a:t>2) </a:t>
            </a:r>
            <a:r>
              <a:rPr lang="ko-KR" altLang="en-US"/>
              <a:t>해밍 코드는 </a:t>
            </a:r>
            <a:r>
              <a:rPr lang="en-US" altLang="ko-KR"/>
              <a:t>2Bit</a:t>
            </a:r>
            <a:r>
              <a:rPr lang="ko-KR" altLang="en-US"/>
              <a:t>의 오류를 검출할 수 있고</a:t>
            </a:r>
            <a:r>
              <a:rPr lang="en-US" altLang="ko-KR"/>
              <a:t>, 1Bit </a:t>
            </a:r>
            <a:r>
              <a:rPr lang="ko-KR" altLang="en-US"/>
              <a:t>의 오류를 교정할 수 있음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/>
              <a:t>     </a:t>
            </a:r>
            <a:r>
              <a:rPr lang="en-US" altLang="ko-KR"/>
              <a:t>3) </a:t>
            </a:r>
            <a:r>
              <a:rPr lang="ko-KR" altLang="en-US"/>
              <a:t>해밍 코드 중 </a:t>
            </a:r>
            <a:r>
              <a:rPr lang="en-US" altLang="ko-KR"/>
              <a:t>1, 2, 4, 8, 16, … 2</a:t>
            </a:r>
            <a:r>
              <a:rPr lang="en-US" altLang="ko-KR" baseline="30000"/>
              <a:t>n </a:t>
            </a:r>
            <a:r>
              <a:rPr lang="ko-KR" altLang="en-US"/>
              <a:t>번째는 오류 검출을 위한 패리티 비트임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/>
              <a:t>         </a:t>
            </a:r>
            <a:r>
              <a:rPr lang="en-US" altLang="ko-KR"/>
              <a:t>※ </a:t>
            </a:r>
            <a:r>
              <a:rPr lang="ko-KR" altLang="en-US"/>
              <a:t>해밍 코드 방식에 의하여 구성된 코드가 </a:t>
            </a:r>
            <a:r>
              <a:rPr lang="en-US" altLang="ko-KR"/>
              <a:t>16 </a:t>
            </a:r>
            <a:r>
              <a:rPr lang="ko-KR" altLang="en-US"/>
              <a:t>비트인 경우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/>
              <a:t>             데이터 비트의 수 및 패리티 비트의 수는 각각 몇 개씩인가</a:t>
            </a:r>
            <a:r>
              <a:rPr lang="en-US" altLang="ko-KR"/>
              <a:t>?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/>
              <a:t>             ⇨ 1, 2, 4, 8, 16 </a:t>
            </a:r>
            <a:r>
              <a:rPr lang="ko-KR" altLang="en-US"/>
              <a:t>번째가 패리티 비트이므로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/>
              <a:t>               데이터 비트</a:t>
            </a:r>
            <a:r>
              <a:rPr lang="en-US" altLang="ko-KR"/>
              <a:t>: 11 </a:t>
            </a:r>
            <a:r>
              <a:rPr lang="ko-KR" altLang="en-US"/>
              <a:t>비트 패리티 비트</a:t>
            </a:r>
            <a:r>
              <a:rPr lang="en-US" altLang="ko-KR"/>
              <a:t>: 5 </a:t>
            </a:r>
            <a:r>
              <a:rPr lang="ko-KR" altLang="en-US"/>
              <a:t>비트</a:t>
            </a:r>
            <a:endParaRPr lang="ko-KR" altLang="en-US" b="0"/>
          </a:p>
          <a:p>
            <a:pPr eaLnBrk="1" hangingPunct="1">
              <a:lnSpc>
                <a:spcPct val="130000"/>
              </a:lnSpc>
            </a:pPr>
            <a:endParaRPr lang="en-US" altLang="ko-K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번호 개체 틀 1">
            <a:extLst>
              <a:ext uri="{FF2B5EF4-FFF2-40B4-BE49-F238E27FC236}">
                <a16:creationId xmlns:a16="http://schemas.microsoft.com/office/drawing/2014/main" id="{5B1786FE-3681-465A-AD9B-49F4F46C73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CB5E11E5-ECA7-4337-800D-31438F36B905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11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graphicFrame>
        <p:nvGraphicFramePr>
          <p:cNvPr id="145528" name="Group 120">
            <a:extLst>
              <a:ext uri="{FF2B5EF4-FFF2-40B4-BE49-F238E27FC236}">
                <a16:creationId xmlns:a16="http://schemas.microsoft.com/office/drawing/2014/main" id="{1A761DC8-6146-4BEE-8E6C-E2923C4465E2}"/>
              </a:ext>
            </a:extLst>
          </p:cNvPr>
          <p:cNvGraphicFramePr>
            <a:graphicFrameLocks noGrp="1"/>
          </p:cNvGraphicFramePr>
          <p:nvPr/>
        </p:nvGraphicFramePr>
        <p:xfrm>
          <a:off x="611188" y="2479675"/>
          <a:ext cx="7993062" cy="2665413"/>
        </p:xfrm>
        <a:graphic>
          <a:graphicData uri="http://schemas.openxmlformats.org/drawingml/2006/table">
            <a:tbl>
              <a:tblPr/>
              <a:tblGrid>
                <a:gridCol w="1223962">
                  <a:extLst>
                    <a:ext uri="{9D8B030D-6E8A-4147-A177-3AD203B41FA5}">
                      <a16:colId xmlns:a16="http://schemas.microsoft.com/office/drawing/2014/main" val="4179187679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974045601"/>
                    </a:ext>
                  </a:extLst>
                </a:gridCol>
                <a:gridCol w="687388">
                  <a:extLst>
                    <a:ext uri="{9D8B030D-6E8A-4147-A177-3AD203B41FA5}">
                      <a16:colId xmlns:a16="http://schemas.microsoft.com/office/drawing/2014/main" val="3444420983"/>
                    </a:ext>
                  </a:extLst>
                </a:gridCol>
                <a:gridCol w="681037">
                  <a:extLst>
                    <a:ext uri="{9D8B030D-6E8A-4147-A177-3AD203B41FA5}">
                      <a16:colId xmlns:a16="http://schemas.microsoft.com/office/drawing/2014/main" val="1182457105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434609802"/>
                    </a:ext>
                  </a:extLst>
                </a:gridCol>
                <a:gridCol w="649288">
                  <a:extLst>
                    <a:ext uri="{9D8B030D-6E8A-4147-A177-3AD203B41FA5}">
                      <a16:colId xmlns:a16="http://schemas.microsoft.com/office/drawing/2014/main" val="402269250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1574602127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307092126"/>
                    </a:ext>
                  </a:extLst>
                </a:gridCol>
                <a:gridCol w="2160587">
                  <a:extLst>
                    <a:ext uri="{9D8B030D-6E8A-4147-A177-3AD203B41FA5}">
                      <a16:colId xmlns:a16="http://schemas.microsoft.com/office/drawing/2014/main" val="3765744366"/>
                    </a:ext>
                  </a:extLst>
                </a:gridCol>
              </a:tblGrid>
              <a:tr h="6492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검사내용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1300458"/>
                  </a:ext>
                </a:extLst>
              </a:tr>
              <a:tr h="2016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원래코드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오류코드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C</a:t>
                      </a:r>
                      <a:r>
                        <a:rPr kumimoji="1" lang="en-US" altLang="ko-KR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검사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C</a:t>
                      </a:r>
                      <a:r>
                        <a:rPr kumimoji="1" lang="en-US" altLang="ko-KR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2</a:t>
                      </a: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검사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C</a:t>
                      </a:r>
                      <a:r>
                        <a:rPr kumimoji="1" lang="en-US" altLang="ko-KR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3</a:t>
                      </a: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검사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검사결과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이 홀수 개 </a:t>
                      </a: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= 1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일 짝수 개 </a:t>
                      </a: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= 0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이 홀수 개 </a:t>
                      </a: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= 1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C</a:t>
                      </a:r>
                      <a:r>
                        <a:rPr kumimoji="1" lang="en-US" altLang="ko-KR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3</a:t>
                      </a: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, C</a:t>
                      </a:r>
                      <a:r>
                        <a:rPr kumimoji="1" lang="en-US" altLang="ko-KR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2</a:t>
                      </a: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, C</a:t>
                      </a:r>
                      <a:r>
                        <a:rPr kumimoji="1" lang="en-US" altLang="ko-KR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= 101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6564497"/>
                  </a:ext>
                </a:extLst>
              </a:tr>
            </a:tbl>
          </a:graphicData>
        </a:graphic>
      </p:graphicFrame>
      <p:sp>
        <p:nvSpPr>
          <p:cNvPr id="13348" name="Text Box 96">
            <a:extLst>
              <a:ext uri="{FF2B5EF4-FFF2-40B4-BE49-F238E27FC236}">
                <a16:creationId xmlns:a16="http://schemas.microsoft.com/office/drawing/2014/main" id="{2ACC7757-CD2F-4CCF-A46C-115E18C5AF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2420938"/>
            <a:ext cx="8556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/>
              <a:t>비트열</a:t>
            </a:r>
          </a:p>
        </p:txBody>
      </p:sp>
      <p:sp>
        <p:nvSpPr>
          <p:cNvPr id="13349" name="Text Box 97">
            <a:extLst>
              <a:ext uri="{FF2B5EF4-FFF2-40B4-BE49-F238E27FC236}">
                <a16:creationId xmlns:a16="http://schemas.microsoft.com/office/drawing/2014/main" id="{4FEE1444-11CE-4192-B73F-91E672F098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2768600"/>
            <a:ext cx="6318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/>
              <a:t>구분</a:t>
            </a:r>
          </a:p>
        </p:txBody>
      </p:sp>
      <p:sp>
        <p:nvSpPr>
          <p:cNvPr id="13350" name="Text Box 121">
            <a:extLst>
              <a:ext uri="{FF2B5EF4-FFF2-40B4-BE49-F238E27FC236}">
                <a16:creationId xmlns:a16="http://schemas.microsoft.com/office/drawing/2014/main" id="{AC85F7AD-86EC-4B63-BC31-9BD2F6520A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875" y="5289550"/>
            <a:ext cx="36925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/>
              <a:t>[</a:t>
            </a:r>
            <a:r>
              <a:rPr lang="ko-KR" altLang="en-US"/>
              <a:t>표</a:t>
            </a:r>
            <a:r>
              <a:rPr lang="en-US" altLang="ko-KR"/>
              <a:t>] </a:t>
            </a:r>
            <a:r>
              <a:rPr lang="ko-KR" altLang="en-US"/>
              <a:t>짝수 패리티를 이용한 검사 예</a:t>
            </a:r>
          </a:p>
        </p:txBody>
      </p:sp>
      <p:sp>
        <p:nvSpPr>
          <p:cNvPr id="13351" name="Rectangle 122">
            <a:extLst>
              <a:ext uri="{FF2B5EF4-FFF2-40B4-BE49-F238E27FC236}">
                <a16:creationId xmlns:a16="http://schemas.microsoft.com/office/drawing/2014/main" id="{BB4960B4-30E0-4A20-B2CE-E4C54BE88C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981075"/>
            <a:ext cx="7416800" cy="152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  <a:buFontTx/>
              <a:buChar char="-"/>
            </a:pPr>
            <a:r>
              <a:rPr lang="en-US" altLang="ko-KR"/>
              <a:t> C1 : 1,3,5,7 </a:t>
            </a:r>
            <a:r>
              <a:rPr lang="ko-KR" altLang="en-US"/>
              <a:t>비트에 대한 짝수 패리티 체크</a:t>
            </a:r>
          </a:p>
          <a:p>
            <a:pPr eaLnBrk="1" hangingPunct="1">
              <a:lnSpc>
                <a:spcPct val="130000"/>
              </a:lnSpc>
              <a:buFontTx/>
              <a:buChar char="-"/>
            </a:pPr>
            <a:r>
              <a:rPr lang="ko-KR" altLang="en-US"/>
              <a:t> </a:t>
            </a:r>
            <a:r>
              <a:rPr lang="en-US" altLang="ko-KR"/>
              <a:t>C2 : 2,3,6,7 </a:t>
            </a:r>
            <a:r>
              <a:rPr lang="ko-KR" altLang="en-US"/>
              <a:t>비트에 대한 짝수 패리티 체크</a:t>
            </a:r>
          </a:p>
          <a:p>
            <a:pPr eaLnBrk="1" hangingPunct="1">
              <a:lnSpc>
                <a:spcPct val="130000"/>
              </a:lnSpc>
              <a:buFontTx/>
              <a:buChar char="-"/>
            </a:pPr>
            <a:r>
              <a:rPr lang="ko-KR" altLang="en-US"/>
              <a:t> </a:t>
            </a:r>
            <a:r>
              <a:rPr lang="en-US" altLang="ko-KR"/>
              <a:t>C3 : 4,5,6,7, </a:t>
            </a:r>
            <a:r>
              <a:rPr lang="ko-KR" altLang="en-US"/>
              <a:t>비트에 대한 짝수 패리티 체크</a:t>
            </a:r>
          </a:p>
          <a:p>
            <a:pPr eaLnBrk="1" hangingPunct="1">
              <a:lnSpc>
                <a:spcPct val="130000"/>
              </a:lnSpc>
            </a:pPr>
            <a:endParaRPr lang="en-US" altLang="ko-K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번호 개체 틀 1">
            <a:extLst>
              <a:ext uri="{FF2B5EF4-FFF2-40B4-BE49-F238E27FC236}">
                <a16:creationId xmlns:a16="http://schemas.microsoft.com/office/drawing/2014/main" id="{E754D24A-AC27-496B-AD01-17562167B5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F2EDC09C-AABC-4592-B168-ADD2BBE19D92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12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pic>
        <p:nvPicPr>
          <p:cNvPr id="14339" name="Picture 41">
            <a:extLst>
              <a:ext uri="{FF2B5EF4-FFF2-40B4-BE49-F238E27FC236}">
                <a16:creationId xmlns:a16="http://schemas.microsoft.com/office/drawing/2014/main" id="{6CB82ECA-63C2-449A-8937-5922E28453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414463"/>
            <a:ext cx="8353425" cy="395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0" name="Rectangle 42">
            <a:extLst>
              <a:ext uri="{FF2B5EF4-FFF2-40B4-BE49-F238E27FC236}">
                <a16:creationId xmlns:a16="http://schemas.microsoft.com/office/drawing/2014/main" id="{0D43051F-9090-4CDE-83C4-DC35B9D34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836613"/>
            <a:ext cx="17494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/>
              <a:t>(8) </a:t>
            </a:r>
            <a:r>
              <a:rPr lang="ko-KR" altLang="en-US"/>
              <a:t>코드의 분류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번호 개체 틀 1">
            <a:extLst>
              <a:ext uri="{FF2B5EF4-FFF2-40B4-BE49-F238E27FC236}">
                <a16:creationId xmlns:a16="http://schemas.microsoft.com/office/drawing/2014/main" id="{698CB308-1338-4E7A-95DE-871DB34FF8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0413BC72-43AB-4E34-9827-9F00E5B5A0F6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13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5363" name="Rectangle 4">
            <a:extLst>
              <a:ext uri="{FF2B5EF4-FFF2-40B4-BE49-F238E27FC236}">
                <a16:creationId xmlns:a16="http://schemas.microsoft.com/office/drawing/2014/main" id="{83C00D8C-DC65-475C-8228-F2D5811622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715963"/>
            <a:ext cx="8532813" cy="544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/>
              <a:t>(8) </a:t>
            </a:r>
            <a:r>
              <a:rPr lang="ko-KR" altLang="en-US"/>
              <a:t>기타 데이터의 표현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/>
              <a:t>     </a:t>
            </a:r>
            <a:r>
              <a:rPr lang="en-US" altLang="ko-KR"/>
              <a:t>1) </a:t>
            </a:r>
            <a:r>
              <a:rPr lang="ko-KR" altLang="en-US"/>
              <a:t>논리 데이터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/>
              <a:t>         참</a:t>
            </a:r>
            <a:r>
              <a:rPr lang="en-US" altLang="ko-KR"/>
              <a:t>(true), </a:t>
            </a:r>
            <a:r>
              <a:rPr lang="ko-KR" altLang="en-US"/>
              <a:t>거짓</a:t>
            </a:r>
            <a:r>
              <a:rPr lang="en-US" altLang="ko-KR"/>
              <a:t>(false) </a:t>
            </a:r>
            <a:r>
              <a:rPr lang="ko-KR" altLang="en-US"/>
              <a:t>두 가지 논리 값을 가지는 데이터로 </a:t>
            </a:r>
            <a:r>
              <a:rPr lang="en-US" altLang="ko-KR"/>
              <a:t>1bit</a:t>
            </a:r>
            <a:r>
              <a:rPr lang="ko-KR" altLang="en-US"/>
              <a:t>로 표현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/>
              <a:t>         </a:t>
            </a:r>
            <a:r>
              <a:rPr lang="en-US" altLang="ko-KR"/>
              <a:t>-&gt; </a:t>
            </a:r>
            <a:r>
              <a:rPr lang="ko-KR" altLang="en-US"/>
              <a:t>참 일 때 </a:t>
            </a:r>
            <a:r>
              <a:rPr lang="en-US" altLang="ko-KR"/>
              <a:t>1 </a:t>
            </a:r>
            <a:r>
              <a:rPr lang="ko-KR" altLang="en-US"/>
              <a:t>거짓 일 때 </a:t>
            </a:r>
            <a:r>
              <a:rPr lang="en-US" altLang="ko-KR"/>
              <a:t>0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/>
              <a:t>     2) </a:t>
            </a:r>
            <a:r>
              <a:rPr lang="ko-KR" altLang="en-US"/>
              <a:t>영상 데이터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/>
              <a:t>         </a:t>
            </a:r>
            <a:r>
              <a:rPr lang="en-US" altLang="ko-KR"/>
              <a:t>- </a:t>
            </a:r>
            <a:r>
              <a:rPr lang="ko-KR" altLang="en-US"/>
              <a:t>그림을 구성하는 점의 집합으로 이루어진다</a:t>
            </a:r>
            <a:r>
              <a:rPr lang="en-US" altLang="ko-KR"/>
              <a:t>.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/>
              <a:t>         - 8 </a:t>
            </a:r>
            <a:r>
              <a:rPr lang="ko-KR" altLang="en-US"/>
              <a:t>가지 이내의 색깔 표현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/>
              <a:t>            </a:t>
            </a:r>
            <a:r>
              <a:rPr lang="en-US" altLang="ko-KR"/>
              <a:t>. 1</a:t>
            </a:r>
            <a:r>
              <a:rPr lang="ko-KR" altLang="en-US"/>
              <a:t>개의 점에 대응되는 </a:t>
            </a:r>
            <a:r>
              <a:rPr lang="en-US" altLang="ko-KR"/>
              <a:t>3</a:t>
            </a:r>
            <a:r>
              <a:rPr lang="ko-KR" altLang="en-US"/>
              <a:t>개의 비트 상태인 </a:t>
            </a:r>
            <a:r>
              <a:rPr lang="en-US" altLang="ko-KR"/>
              <a:t>000~111</a:t>
            </a:r>
            <a:r>
              <a:rPr lang="ko-KR" altLang="en-US"/>
              <a:t>에 따라 색깔의 표시와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/>
              <a:t>              밝기의 조절이 가능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/>
              <a:t>     </a:t>
            </a:r>
            <a:r>
              <a:rPr lang="en-US" altLang="ko-KR"/>
              <a:t>3) </a:t>
            </a:r>
            <a:r>
              <a:rPr lang="ko-KR" altLang="en-US"/>
              <a:t>음성 데이터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/>
              <a:t>         </a:t>
            </a:r>
            <a:r>
              <a:rPr lang="en-US" altLang="ko-KR"/>
              <a:t>- </a:t>
            </a:r>
            <a:r>
              <a:rPr lang="ko-KR" altLang="en-US"/>
              <a:t>음성의 장단</a:t>
            </a:r>
            <a:r>
              <a:rPr lang="en-US" altLang="ko-KR"/>
              <a:t>, </a:t>
            </a:r>
            <a:r>
              <a:rPr lang="ko-KR" altLang="en-US"/>
              <a:t>고저</a:t>
            </a:r>
            <a:r>
              <a:rPr lang="en-US" altLang="ko-KR"/>
              <a:t>, </a:t>
            </a:r>
            <a:r>
              <a:rPr lang="ko-KR" altLang="en-US"/>
              <a:t>강약</a:t>
            </a:r>
            <a:r>
              <a:rPr lang="en-US" altLang="ko-KR"/>
              <a:t>, </a:t>
            </a:r>
            <a:r>
              <a:rPr lang="ko-KR" altLang="en-US"/>
              <a:t>음색에 따라 각기 다른 상태를 표현할 수 있어야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/>
              <a:t>            하기 때문에 어려운 점이 많다</a:t>
            </a:r>
            <a:r>
              <a:rPr lang="en-US" altLang="ko-KR"/>
              <a:t>.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/>
              <a:t>     4) </a:t>
            </a:r>
            <a:r>
              <a:rPr lang="ko-KR" altLang="en-US"/>
              <a:t>한글 및 한자 자료의 표현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/>
              <a:t>         </a:t>
            </a:r>
            <a:r>
              <a:rPr lang="en-US" altLang="ko-KR"/>
              <a:t>- </a:t>
            </a:r>
            <a:r>
              <a:rPr lang="ko-KR" altLang="en-US"/>
              <a:t>초성</a:t>
            </a:r>
            <a:r>
              <a:rPr lang="en-US" altLang="ko-KR"/>
              <a:t>, </a:t>
            </a:r>
            <a:r>
              <a:rPr lang="ko-KR" altLang="en-US"/>
              <a:t>중성</a:t>
            </a:r>
            <a:r>
              <a:rPr lang="en-US" altLang="ko-KR"/>
              <a:t>, </a:t>
            </a:r>
            <a:r>
              <a:rPr lang="ko-KR" altLang="en-US"/>
              <a:t>종성을 모아 </a:t>
            </a:r>
            <a:r>
              <a:rPr lang="en-US" altLang="ko-KR"/>
              <a:t>2Byte </a:t>
            </a:r>
            <a:r>
              <a:rPr lang="ko-KR" altLang="en-US"/>
              <a:t>에 표현 </a:t>
            </a:r>
            <a:endParaRPr lang="ko-KR" altLang="en-US" b="0"/>
          </a:p>
          <a:p>
            <a:pPr eaLnBrk="1" hangingPunct="1">
              <a:lnSpc>
                <a:spcPct val="130000"/>
              </a:lnSpc>
            </a:pPr>
            <a:endParaRPr lang="en-US" altLang="ko-K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604</TotalTime>
  <Words>1146</Words>
  <Application>Microsoft Office PowerPoint</Application>
  <PresentationFormat>화면 슬라이드 쇼(4:3)</PresentationFormat>
  <Paragraphs>208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HY중고딕</vt:lpstr>
      <vt:lpstr>견고딕</vt:lpstr>
      <vt:lpstr>굴림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Kim Dong Hyun</dc:creator>
  <cp:lastModifiedBy>KimDong Hyun</cp:lastModifiedBy>
  <cp:revision>41</cp:revision>
  <dcterms:created xsi:type="dcterms:W3CDTF">2009-03-02T07:39:04Z</dcterms:created>
  <dcterms:modified xsi:type="dcterms:W3CDTF">2025-11-10T10:09:32Z</dcterms:modified>
</cp:coreProperties>
</file>