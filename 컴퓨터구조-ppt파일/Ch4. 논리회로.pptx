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87" r:id="rId32"/>
    <p:sldId id="290" r:id="rId33"/>
    <p:sldId id="305" r:id="rId34"/>
    <p:sldId id="291" r:id="rId35"/>
    <p:sldId id="292" r:id="rId36"/>
    <p:sldId id="293" r:id="rId37"/>
    <p:sldId id="294" r:id="rId38"/>
    <p:sldId id="295" r:id="rId39"/>
    <p:sldId id="306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C1288F5-C9A3-4DDB-8B77-63BEED0E53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1671B3F-A4D3-4491-89EA-8CC23A3CA58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5629DCB8-980A-48D3-A9FD-7F09B4C935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FDBB24F-7FBB-4AD3-87DB-893770074ED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6B2E8CC-148A-4034-88CB-77860E1C0DA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BE8D23C-45CB-40E0-829C-7BC1BD5E9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6A64EE43-3FC0-4B86-BA45-0FC5669FAF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B6CBFD87-363D-49E6-BC15-8B9C9C819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598B46C1-BF6D-4E6C-A1B0-934DBBC831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A7454A5-2855-4AAC-8947-799E685532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941F4793-2E1B-43C5-9C68-62C533092B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89350" y="3677022"/>
            <a:ext cx="1866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Ch4.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논리회로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698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075B312-A26C-4709-B4DE-56C0896F75C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B4CCB4DA-74FB-4295-BD67-D47F12B97AB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492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498ACD-0763-48A2-8340-D48665947F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3991D5BF-5461-4D7D-9BA5-39994B8DB0B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666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978CF2-1D84-4FC1-9A71-BB28C6F73F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EF290AD-12F5-44FD-850F-7533B47814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217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8686EC-85A8-4392-8175-A0DABA7FDE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14617F2-E943-4CE3-8D48-F57BC38114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9457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FF4DAC9-B3EA-4D31-B2EC-800B0C24D8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119C9687-C769-4EEF-9214-BE35C1FB23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1628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00FEE69-DF38-4879-A931-54497FE82EB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DD49F3D-B367-4465-824C-6B974B4CC8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73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D1E8BE-2CDA-43AB-81CB-FAA712D5F8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A718FECC-B23C-4DF6-AA3D-BA8BA250484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593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236265E-AFD8-476F-925E-7536902985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00E6895D-4E8A-4240-AF1E-38518A9053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445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B1025B6-8CD8-4E97-A7C9-70B0804FC9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854D93EE-F567-45EE-ABE4-699DFDF9947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6727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5C80749-6063-45F1-B8DE-B377BE09146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6CD7A80-BA42-4DE5-B77E-007F9D75950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3322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DE6E6FE9-875A-4DD1-8C79-1F17BFD5DFF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8731AB5A-ACD8-4277-8FDA-80F799FD6D8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A4095BF0-E429-4482-85B1-4FD508CE41C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FCB738AB-5F88-4246-8F2F-C26C582C29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B7A9D6BF-0F9A-4206-9AF6-F4B2F3E46AB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F807D73D-AEFD-4697-A430-F5B9BB77F8B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93342C41-00CF-4A4D-9466-5D5B79BBEA5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20701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제 </a:t>
            </a:r>
            <a:r>
              <a:rPr lang="en-US" altLang="ko-KR" sz="2000" b="1"/>
              <a:t>4</a:t>
            </a:r>
            <a:r>
              <a:rPr lang="ko-KR" altLang="en-US" sz="2000" b="1"/>
              <a:t>절 논리 회로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F63CCAEA-26D6-4A6D-B9C7-F5B156B81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67EADEC-170E-4BDA-8327-0058EFE6908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10">
            <a:extLst>
              <a:ext uri="{FF2B5EF4-FFF2-40B4-BE49-F238E27FC236}">
                <a16:creationId xmlns:a16="http://schemas.microsoft.com/office/drawing/2014/main" id="{CA3AF9AA-4C0B-41E8-9F68-63801B8A1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792163"/>
            <a:ext cx="171608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1. </a:t>
            </a:r>
            <a:r>
              <a:rPr lang="ko-KR" altLang="en-US" sz="2200" b="1"/>
              <a:t>부울 대수</a:t>
            </a:r>
          </a:p>
        </p:txBody>
      </p:sp>
      <p:sp>
        <p:nvSpPr>
          <p:cNvPr id="4100" name="Text Box 11">
            <a:extLst>
              <a:ext uri="{FF2B5EF4-FFF2-40B4-BE49-F238E27FC236}">
                <a16:creationId xmlns:a16="http://schemas.microsoft.com/office/drawing/2014/main" id="{C258DDB7-A3B2-439D-9438-116FA4AC8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1196975"/>
            <a:ext cx="8020050" cy="498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  <a:buFontTx/>
              <a:buAutoNum type="arabicParenBoth"/>
            </a:pPr>
            <a:r>
              <a:rPr lang="en-US" altLang="ko-KR" sz="2000" b="1"/>
              <a:t> </a:t>
            </a:r>
            <a:r>
              <a:rPr lang="ko-KR" altLang="en-US" sz="2000" b="1"/>
              <a:t>부울 대수</a:t>
            </a:r>
            <a:r>
              <a:rPr lang="en-US" altLang="ko-KR" sz="2000" b="1"/>
              <a:t>(Boolean Algebra) </a:t>
            </a:r>
            <a:r>
              <a:rPr lang="ko-KR" altLang="en-US" sz="2000" b="1"/>
              <a:t>개요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하나의 명제가 참 또는 거짓인가를 판단하는 데 이용되는 수학적인 방법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컴퓨터는 </a:t>
            </a:r>
            <a:r>
              <a:rPr lang="en-US" altLang="ko-KR" b="1"/>
              <a:t>1</a:t>
            </a:r>
            <a:r>
              <a:rPr lang="ko-KR" altLang="en-US" b="1"/>
              <a:t>과 </a:t>
            </a:r>
            <a:r>
              <a:rPr lang="en-US" altLang="ko-KR" b="1"/>
              <a:t>0</a:t>
            </a:r>
            <a:r>
              <a:rPr lang="ko-KR" altLang="en-US" b="1"/>
              <a:t>의 두 가지 상태로만 표현하여 처리하는 </a:t>
            </a:r>
            <a:r>
              <a:rPr lang="en-US" altLang="ko-KR" b="1"/>
              <a:t>2 </a:t>
            </a:r>
            <a:r>
              <a:rPr lang="ko-KR" altLang="en-US" b="1"/>
              <a:t>진 논리회로로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구성 되어 있으므로 이러한 논리회로를 간략화 하여 표현할 때 부울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대수가 사용됨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기본적인 논리함수</a:t>
            </a:r>
            <a:r>
              <a:rPr lang="ko-KR" altLang="en-US" b="1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논리곱 </a:t>
            </a:r>
            <a:r>
              <a:rPr lang="en-US" altLang="ko-KR" b="1"/>
              <a:t>(AND)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입력변수가 모두 </a:t>
            </a:r>
            <a:r>
              <a:rPr lang="en-US" altLang="ko-KR" b="1"/>
              <a:t>1</a:t>
            </a:r>
            <a:r>
              <a:rPr lang="ko-KR" altLang="en-US" b="1"/>
              <a:t>인 경우에만 출력변수가 </a:t>
            </a:r>
            <a:r>
              <a:rPr lang="en-US" altLang="ko-KR" b="1"/>
              <a:t>1</a:t>
            </a:r>
            <a:r>
              <a:rPr lang="ko-KR" altLang="en-US" b="1"/>
              <a:t>이 됨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② 입력변수가 </a:t>
            </a:r>
            <a:r>
              <a:rPr lang="en-US" altLang="ko-KR" b="1"/>
              <a:t>A,B</a:t>
            </a:r>
            <a:r>
              <a:rPr lang="ko-KR" altLang="en-US" b="1"/>
              <a:t>라면 </a:t>
            </a:r>
            <a:r>
              <a:rPr lang="en-US" altLang="ko-KR" b="1"/>
              <a:t>A AND B </a:t>
            </a:r>
            <a:r>
              <a:rPr lang="ko-KR" altLang="en-US" b="1"/>
              <a:t>또는 또는 </a:t>
            </a:r>
            <a:r>
              <a:rPr lang="en-US" altLang="ko-KR" b="1"/>
              <a:t>A</a:t>
            </a:r>
            <a:r>
              <a:rPr lang="ko-KR" altLang="en-US" b="1"/>
              <a:t>ㆍ</a:t>
            </a:r>
            <a:r>
              <a:rPr lang="en-US" altLang="ko-KR" b="1"/>
              <a:t>B</a:t>
            </a:r>
            <a:r>
              <a:rPr lang="ko-KR" altLang="en-US" b="1"/>
              <a:t>로 </a:t>
            </a:r>
            <a:r>
              <a:rPr lang="en-US" altLang="ko-KR" b="1"/>
              <a:t>AB</a:t>
            </a:r>
            <a:r>
              <a:rPr lang="ko-KR" altLang="en-US" b="1"/>
              <a:t>표현함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논리합 </a:t>
            </a:r>
            <a:r>
              <a:rPr lang="en-US" altLang="ko-KR" b="1"/>
              <a:t>(OR)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입력변수 중 하나라도 </a:t>
            </a:r>
            <a:r>
              <a:rPr lang="en-US" altLang="ko-KR" b="1"/>
              <a:t>1</a:t>
            </a:r>
            <a:r>
              <a:rPr lang="ko-KR" altLang="en-US" b="1"/>
              <a:t>이면 출력값이 </a:t>
            </a:r>
            <a:r>
              <a:rPr lang="en-US" altLang="ko-KR" b="1"/>
              <a:t>1</a:t>
            </a:r>
            <a:r>
              <a:rPr lang="ko-KR" altLang="en-US" b="1"/>
              <a:t>이 됨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② 입력변수가 </a:t>
            </a:r>
            <a:r>
              <a:rPr lang="en-US" altLang="ko-KR" b="1"/>
              <a:t>A,B</a:t>
            </a:r>
            <a:r>
              <a:rPr lang="ko-KR" altLang="en-US" b="1"/>
              <a:t>라면 </a:t>
            </a:r>
            <a:r>
              <a:rPr lang="en-US" altLang="ko-KR" b="1"/>
              <a:t>A OR B </a:t>
            </a:r>
            <a:r>
              <a:rPr lang="ko-KR" altLang="en-US" b="1"/>
              <a:t>또는 </a:t>
            </a:r>
            <a:r>
              <a:rPr lang="en-US" altLang="ko-KR" b="1"/>
              <a:t>A+B </a:t>
            </a:r>
            <a:r>
              <a:rPr lang="ko-KR" altLang="en-US" b="1"/>
              <a:t>로 표현함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3) </a:t>
            </a:r>
            <a:r>
              <a:rPr lang="ko-KR" altLang="en-US" b="1"/>
              <a:t>부정 </a:t>
            </a:r>
            <a:r>
              <a:rPr lang="en-US" altLang="ko-KR" b="1"/>
              <a:t>(NOT)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    ① </a:t>
            </a:r>
            <a:r>
              <a:rPr lang="ko-KR" altLang="en-US" b="1"/>
              <a:t>입력변수의 반대값이 출력됨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    ② 입력변수가 </a:t>
            </a:r>
            <a:r>
              <a:rPr lang="en-US" altLang="ko-KR" b="1"/>
              <a:t>A</a:t>
            </a:r>
            <a:r>
              <a:rPr lang="ko-KR" altLang="en-US" b="1"/>
              <a:t>라면 </a:t>
            </a:r>
            <a:r>
              <a:rPr lang="en-US" altLang="ko-KR" b="1"/>
              <a:t>NOT A </a:t>
            </a:r>
            <a:r>
              <a:rPr lang="ko-KR" altLang="en-US" b="1"/>
              <a:t>또는 </a:t>
            </a:r>
            <a:r>
              <a:rPr lang="en-US" altLang="ko-KR" b="1"/>
              <a:t>A</a:t>
            </a:r>
            <a:r>
              <a:rPr lang="ko-KR" altLang="en-US" b="1"/>
              <a:t>로 또는 </a:t>
            </a:r>
            <a:r>
              <a:rPr lang="en-US" altLang="ko-KR" b="1"/>
              <a:t>A’</a:t>
            </a:r>
            <a:r>
              <a:rPr lang="ko-KR" altLang="en-US" b="1"/>
              <a:t>표현함</a:t>
            </a:r>
          </a:p>
          <a:p>
            <a:pPr eaLnBrk="1" hangingPunct="1">
              <a:lnSpc>
                <a:spcPct val="110000"/>
              </a:lnSpc>
            </a:pPr>
            <a:endParaRPr lang="en-US" altLang="ko-KR" b="1"/>
          </a:p>
        </p:txBody>
      </p:sp>
      <p:sp>
        <p:nvSpPr>
          <p:cNvPr id="4101" name="Line 12">
            <a:extLst>
              <a:ext uri="{FF2B5EF4-FFF2-40B4-BE49-F238E27FC236}">
                <a16:creationId xmlns:a16="http://schemas.microsoft.com/office/drawing/2014/main" id="{170EC223-CC7B-4485-92EC-2C6E608513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075" y="5564188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84771FC8-011B-428F-80C6-1E4E844B10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74F1521-0031-4E40-8A0D-85326DD3E07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pic>
        <p:nvPicPr>
          <p:cNvPr id="5123" name="Picture 4">
            <a:extLst>
              <a:ext uri="{FF2B5EF4-FFF2-40B4-BE49-F238E27FC236}">
                <a16:creationId xmlns:a16="http://schemas.microsoft.com/office/drawing/2014/main" id="{09052AB0-2A45-4CDA-9849-CEE62916A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700213"/>
            <a:ext cx="51117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4" name="Text Box 5">
            <a:extLst>
              <a:ext uri="{FF2B5EF4-FFF2-40B4-BE49-F238E27FC236}">
                <a16:creationId xmlns:a16="http://schemas.microsoft.com/office/drawing/2014/main" id="{5DEA920B-A096-4300-93E5-BBBE1FFF7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3860800"/>
            <a:ext cx="3319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[</a:t>
            </a:r>
            <a:r>
              <a:rPr lang="ko-KR" altLang="en-US" b="1"/>
              <a:t>표</a:t>
            </a:r>
            <a:r>
              <a:rPr lang="en-US" altLang="ko-KR" b="1"/>
              <a:t>] </a:t>
            </a:r>
            <a:r>
              <a:rPr lang="ko-KR" altLang="en-US" b="1"/>
              <a:t>기본적인 논리함수 진리표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E1CDD475-F229-42C9-925D-0437BE62B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A737D91-2D8E-455F-B7D4-03126E0C4FD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C995FB44-CDB3-43F6-B1D2-3100E08F8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741680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Both" startAt="3"/>
            </a:pPr>
            <a:r>
              <a:rPr lang="en-US" altLang="ko-KR" b="1"/>
              <a:t> </a:t>
            </a:r>
            <a:r>
              <a:rPr lang="ko-KR" altLang="en-US" b="1"/>
              <a:t>부울 대수의 기본 공식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1) </a:t>
            </a:r>
            <a:r>
              <a:rPr lang="ko-KR" altLang="en-US" b="1"/>
              <a:t>교환법칙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- A + B = B + 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- A</a:t>
            </a:r>
            <a:r>
              <a:rPr lang="ko-KR" altLang="en-US" b="1"/>
              <a:t>ㆍ</a:t>
            </a:r>
            <a:r>
              <a:rPr lang="en-US" altLang="ko-KR" b="1"/>
              <a:t>B = B</a:t>
            </a:r>
            <a:r>
              <a:rPr lang="ko-KR" altLang="en-US" b="1"/>
              <a:t>ㆍ</a:t>
            </a:r>
            <a:r>
              <a:rPr lang="en-US" altLang="ko-KR" b="1"/>
              <a:t>A 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2) </a:t>
            </a:r>
            <a:r>
              <a:rPr lang="ko-KR" altLang="en-US" b="1"/>
              <a:t>결합법칙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- A + (B + C) = (A + B) + C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- A</a:t>
            </a:r>
            <a:r>
              <a:rPr lang="ko-KR" altLang="en-US" b="1"/>
              <a:t>ㆍ</a:t>
            </a:r>
            <a:r>
              <a:rPr lang="en-US" altLang="ko-KR" b="1"/>
              <a:t>(B</a:t>
            </a:r>
            <a:r>
              <a:rPr lang="ko-KR" altLang="en-US" b="1"/>
              <a:t>ㆍ</a:t>
            </a:r>
            <a:r>
              <a:rPr lang="en-US" altLang="ko-KR" b="1"/>
              <a:t>C) = (A</a:t>
            </a:r>
            <a:r>
              <a:rPr lang="ko-KR" altLang="en-US" b="1"/>
              <a:t>ㆍ</a:t>
            </a:r>
            <a:r>
              <a:rPr lang="en-US" altLang="ko-KR" b="1"/>
              <a:t>B)</a:t>
            </a:r>
            <a:r>
              <a:rPr lang="ko-KR" altLang="en-US" b="1"/>
              <a:t>ㆍ</a:t>
            </a:r>
            <a:r>
              <a:rPr lang="en-US" altLang="ko-KR" b="1"/>
              <a:t>C 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3) </a:t>
            </a:r>
            <a:r>
              <a:rPr lang="ko-KR" altLang="en-US" b="1"/>
              <a:t>분배법칙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- A</a:t>
            </a:r>
            <a:r>
              <a:rPr lang="ko-KR" altLang="en-US" b="1"/>
              <a:t>ㆍ</a:t>
            </a:r>
            <a:r>
              <a:rPr lang="en-US" altLang="ko-KR" b="1"/>
              <a:t>(B + C) = (A</a:t>
            </a:r>
            <a:r>
              <a:rPr lang="ko-KR" altLang="en-US" b="1"/>
              <a:t>ㆍ</a:t>
            </a:r>
            <a:r>
              <a:rPr lang="en-US" altLang="ko-KR" b="1"/>
              <a:t>B) + (A</a:t>
            </a:r>
            <a:r>
              <a:rPr lang="ko-KR" altLang="en-US" b="1"/>
              <a:t>ㆍ</a:t>
            </a:r>
            <a:r>
              <a:rPr lang="en-US" altLang="ko-KR" b="1"/>
              <a:t>C)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- A + (B</a:t>
            </a:r>
            <a:r>
              <a:rPr lang="ko-KR" altLang="en-US" b="1"/>
              <a:t>ㆍ</a:t>
            </a:r>
            <a:r>
              <a:rPr lang="en-US" altLang="ko-KR" b="1"/>
              <a:t>C) = (A + B)</a:t>
            </a:r>
            <a:r>
              <a:rPr lang="ko-KR" altLang="en-US" b="1"/>
              <a:t>ㆍ</a:t>
            </a:r>
            <a:r>
              <a:rPr lang="en-US" altLang="ko-KR" b="1"/>
              <a:t>(A + C) 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4) </a:t>
            </a:r>
            <a:r>
              <a:rPr lang="ko-KR" altLang="en-US" b="1"/>
              <a:t>멱등법칙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- A + A = 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- A</a:t>
            </a:r>
            <a:r>
              <a:rPr lang="ko-KR" altLang="en-US" b="1"/>
              <a:t>ㆍ</a:t>
            </a:r>
            <a:r>
              <a:rPr lang="en-US" altLang="ko-KR" b="1"/>
              <a:t>A =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F606B624-C279-4680-8F5B-0A4B21574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9C8ABB0-2563-458F-86D0-D1CE3D3F8FD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29E42DD5-C25A-4A79-B4B9-C26E16B80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692150"/>
            <a:ext cx="4572000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5) </a:t>
            </a:r>
            <a:r>
              <a:rPr lang="ko-KR" altLang="en-US" b="1"/>
              <a:t>보수법칙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A + A = 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A</a:t>
            </a:r>
            <a:r>
              <a:rPr lang="ko-KR" altLang="en-US" b="1"/>
              <a:t>ㆍ</a:t>
            </a:r>
            <a:r>
              <a:rPr lang="en-US" altLang="ko-KR" b="1"/>
              <a:t>A = 0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6) </a:t>
            </a:r>
            <a:r>
              <a:rPr lang="ko-KR" altLang="en-US" b="1"/>
              <a:t>항등법칙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A + 0 = A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A + 1 = 1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A</a:t>
            </a:r>
            <a:r>
              <a:rPr lang="ko-KR" altLang="en-US" b="1"/>
              <a:t>ㆍ</a:t>
            </a:r>
            <a:r>
              <a:rPr lang="en-US" altLang="ko-KR" b="1"/>
              <a:t>0 = 0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A</a:t>
            </a:r>
            <a:r>
              <a:rPr lang="ko-KR" altLang="en-US" b="1"/>
              <a:t>ㆍ</a:t>
            </a:r>
            <a:r>
              <a:rPr lang="en-US" altLang="ko-KR" b="1"/>
              <a:t>1 = A 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7) </a:t>
            </a:r>
            <a:r>
              <a:rPr lang="ko-KR" altLang="en-US" b="1"/>
              <a:t>드모르간의 법칙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A + B = A</a:t>
            </a:r>
            <a:r>
              <a:rPr lang="ko-KR" altLang="en-US" b="1"/>
              <a:t>ㆍ</a:t>
            </a:r>
            <a:r>
              <a:rPr lang="en-US" altLang="ko-KR" b="1"/>
              <a:t>B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A</a:t>
            </a:r>
            <a:r>
              <a:rPr lang="ko-KR" altLang="en-US" b="1"/>
              <a:t>ㆍ</a:t>
            </a:r>
            <a:r>
              <a:rPr lang="en-US" altLang="ko-KR" b="1"/>
              <a:t>B = A + B</a:t>
            </a:r>
          </a:p>
        </p:txBody>
      </p:sp>
      <p:sp>
        <p:nvSpPr>
          <p:cNvPr id="7172" name="Line 5">
            <a:extLst>
              <a:ext uri="{FF2B5EF4-FFF2-40B4-BE49-F238E27FC236}">
                <a16:creationId xmlns:a16="http://schemas.microsoft.com/office/drawing/2014/main" id="{4FE142DB-5526-4A12-A242-1BBC3BBCF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888" y="11255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173" name="Line 6">
            <a:extLst>
              <a:ext uri="{FF2B5EF4-FFF2-40B4-BE49-F238E27FC236}">
                <a16:creationId xmlns:a16="http://schemas.microsoft.com/office/drawing/2014/main" id="{4CCBCCD1-113D-4474-A88B-5E020F079E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2800" y="14684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174" name="Line 9">
            <a:extLst>
              <a:ext uri="{FF2B5EF4-FFF2-40B4-BE49-F238E27FC236}">
                <a16:creationId xmlns:a16="http://schemas.microsoft.com/office/drawing/2014/main" id="{356B4BE3-93FB-4B1F-8CD0-D7DD04CF1B1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7625" y="4429125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175" name="Line 10">
            <a:extLst>
              <a:ext uri="{FF2B5EF4-FFF2-40B4-BE49-F238E27FC236}">
                <a16:creationId xmlns:a16="http://schemas.microsoft.com/office/drawing/2014/main" id="{B24D15BF-75B1-45EC-AE17-2B48DFBEE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44211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176" name="Line 11">
            <a:extLst>
              <a:ext uri="{FF2B5EF4-FFF2-40B4-BE49-F238E27FC236}">
                <a16:creationId xmlns:a16="http://schemas.microsoft.com/office/drawing/2014/main" id="{5477C292-A485-4E3B-B51E-A00BCAAE3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5925" y="4741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177" name="Line 12">
            <a:extLst>
              <a:ext uri="{FF2B5EF4-FFF2-40B4-BE49-F238E27FC236}">
                <a16:creationId xmlns:a16="http://schemas.microsoft.com/office/drawing/2014/main" id="{9B89E77B-4672-4298-B32B-1259FAD3176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2063" y="475773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178" name="Line 13">
            <a:extLst>
              <a:ext uri="{FF2B5EF4-FFF2-40B4-BE49-F238E27FC236}">
                <a16:creationId xmlns:a16="http://schemas.microsoft.com/office/drawing/2014/main" id="{50741B2E-9E6E-410A-A231-F137F5118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9588" y="4421188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7179" name="Line 14">
            <a:extLst>
              <a:ext uri="{FF2B5EF4-FFF2-40B4-BE49-F238E27FC236}">
                <a16:creationId xmlns:a16="http://schemas.microsoft.com/office/drawing/2014/main" id="{4B19898F-4D89-43D7-BA77-E6A12F36A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5775" y="4741863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AB0420CC-63A0-46BB-8DB3-73F0B67DF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55808C6-5E19-47F4-9DB4-6255DB93D71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pic>
        <p:nvPicPr>
          <p:cNvPr id="8195" name="Picture 6">
            <a:extLst>
              <a:ext uri="{FF2B5EF4-FFF2-40B4-BE49-F238E27FC236}">
                <a16:creationId xmlns:a16="http://schemas.microsoft.com/office/drawing/2014/main" id="{6BCED25C-2432-4D09-90BB-AE2091FB9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628775"/>
            <a:ext cx="5657850" cy="154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7">
            <a:extLst>
              <a:ext uri="{FF2B5EF4-FFF2-40B4-BE49-F238E27FC236}">
                <a16:creationId xmlns:a16="http://schemas.microsoft.com/office/drawing/2014/main" id="{0DF82930-8631-4D67-BE59-E03BAE3BB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813" y="3429000"/>
            <a:ext cx="199072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 Box 8">
            <a:extLst>
              <a:ext uri="{FF2B5EF4-FFF2-40B4-BE49-F238E27FC236}">
                <a16:creationId xmlns:a16="http://schemas.microsoft.com/office/drawing/2014/main" id="{0F0FA74C-3011-48E2-9903-34D0C58FB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81075"/>
            <a:ext cx="1925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(4) </a:t>
            </a:r>
            <a:r>
              <a:rPr lang="ko-KR" altLang="en-US" sz="2000" b="1"/>
              <a:t>쌍대의 원리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EBE7AD89-D1FC-4316-A60D-E20513EF9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DC565F1-B885-43BC-9DCF-C625DBFFB85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9219" name="Rectangle 12">
            <a:extLst>
              <a:ext uri="{FF2B5EF4-FFF2-40B4-BE49-F238E27FC236}">
                <a16:creationId xmlns:a16="http://schemas.microsoft.com/office/drawing/2014/main" id="{3C51CECD-A723-45BA-AA2F-01B67FC33A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1075"/>
            <a:ext cx="8569325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(5) </a:t>
            </a:r>
            <a:r>
              <a:rPr lang="ko-KR" altLang="en-US" b="1"/>
              <a:t>논리식의 간소화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1) </a:t>
            </a:r>
            <a:r>
              <a:rPr lang="ko-KR" altLang="en-US" b="1"/>
              <a:t>방법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① 불 대수의 기본 공식을 이용하여 간소화 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② 벤다이어그램을 이용하여 간소화 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2) </a:t>
            </a:r>
            <a:r>
              <a:rPr lang="ko-KR" altLang="en-US" b="1"/>
              <a:t>예제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① </a:t>
            </a:r>
            <a:r>
              <a:rPr lang="en-US" altLang="ko-KR" b="1"/>
              <a:t>A + A</a:t>
            </a:r>
            <a:r>
              <a:rPr lang="ko-KR" altLang="en-US" b="1"/>
              <a:t>ㆍ</a:t>
            </a:r>
            <a:r>
              <a:rPr lang="en-US" altLang="ko-KR" b="1"/>
              <a:t>B = A</a:t>
            </a:r>
            <a:r>
              <a:rPr lang="ko-KR" altLang="en-US" b="1"/>
              <a:t>ㆍ</a:t>
            </a:r>
            <a:r>
              <a:rPr lang="en-US" altLang="ko-KR" b="1"/>
              <a:t>(1 + B) = A</a:t>
            </a:r>
            <a:r>
              <a:rPr lang="ko-KR" altLang="en-US" b="1"/>
              <a:t>ㆍ</a:t>
            </a:r>
            <a:r>
              <a:rPr lang="en-US" altLang="ko-KR" b="1"/>
              <a:t>1 = 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② A + A</a:t>
            </a:r>
            <a:r>
              <a:rPr lang="ko-KR" altLang="en-US" b="1"/>
              <a:t>ㆍ</a:t>
            </a:r>
            <a:r>
              <a:rPr lang="en-US" altLang="ko-KR" b="1"/>
              <a:t>B = A</a:t>
            </a:r>
            <a:r>
              <a:rPr lang="ko-KR" altLang="en-US" b="1"/>
              <a:t>ㆍ</a:t>
            </a:r>
            <a:r>
              <a:rPr lang="en-US" altLang="ko-KR" b="1"/>
              <a:t>(1 + B) = A</a:t>
            </a:r>
            <a:r>
              <a:rPr lang="ko-KR" altLang="en-US" b="1"/>
              <a:t>ㆍ</a:t>
            </a:r>
            <a:r>
              <a:rPr lang="en-US" altLang="ko-KR" b="1"/>
              <a:t>1 = 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③ A + A</a:t>
            </a:r>
            <a:r>
              <a:rPr lang="ko-KR" altLang="en-US" b="1"/>
              <a:t>ㆍ</a:t>
            </a:r>
            <a:r>
              <a:rPr lang="en-US" altLang="ko-KR" b="1"/>
              <a:t>B = (A + A)</a:t>
            </a:r>
            <a:r>
              <a:rPr lang="ko-KR" altLang="en-US" b="1"/>
              <a:t>ㆍ</a:t>
            </a:r>
            <a:r>
              <a:rPr lang="en-US" altLang="ko-KR" b="1"/>
              <a:t>(A + B) = 1</a:t>
            </a:r>
            <a:r>
              <a:rPr lang="ko-KR" altLang="en-US" b="1"/>
              <a:t>ㆍ</a:t>
            </a:r>
            <a:r>
              <a:rPr lang="en-US" altLang="ko-KR" b="1"/>
              <a:t>(A + B) = A + B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④ A</a:t>
            </a:r>
            <a:r>
              <a:rPr lang="ko-KR" altLang="en-US" b="1"/>
              <a:t>ㆍ</a:t>
            </a:r>
            <a:r>
              <a:rPr lang="en-US" altLang="ko-KR" b="1"/>
              <a:t>(A + B) = A</a:t>
            </a:r>
            <a:r>
              <a:rPr lang="ko-KR" altLang="en-US" b="1"/>
              <a:t>ㆍ</a:t>
            </a:r>
            <a:r>
              <a:rPr lang="en-US" altLang="ko-KR" b="1"/>
              <a:t>A + A</a:t>
            </a:r>
            <a:r>
              <a:rPr lang="ko-KR" altLang="en-US" b="1"/>
              <a:t>ㆍ</a:t>
            </a:r>
            <a:r>
              <a:rPr lang="en-US" altLang="ko-KR" b="1"/>
              <a:t>B = A + A ․ B = A</a:t>
            </a:r>
            <a:r>
              <a:rPr lang="ko-KR" altLang="en-US" b="1"/>
              <a:t>ㆍ</a:t>
            </a:r>
            <a:r>
              <a:rPr lang="en-US" altLang="ko-KR" b="1"/>
              <a:t>(1 + B) = A</a:t>
            </a:r>
            <a:r>
              <a:rPr lang="ko-KR" altLang="en-US" b="1"/>
              <a:t>ㆍ</a:t>
            </a:r>
            <a:r>
              <a:rPr lang="en-US" altLang="ko-KR" b="1"/>
              <a:t>1 = A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⑤ A</a:t>
            </a:r>
            <a:r>
              <a:rPr lang="ko-KR" altLang="en-US" b="1"/>
              <a:t>ㆍ</a:t>
            </a:r>
            <a:r>
              <a:rPr lang="en-US" altLang="ko-KR" b="1"/>
              <a:t>(A + B) = A</a:t>
            </a:r>
            <a:r>
              <a:rPr lang="ko-KR" altLang="en-US" b="1"/>
              <a:t>ㆍ</a:t>
            </a:r>
            <a:r>
              <a:rPr lang="en-US" altLang="ko-KR" b="1"/>
              <a:t>A + A</a:t>
            </a:r>
            <a:r>
              <a:rPr lang="ko-KR" altLang="en-US" b="1"/>
              <a:t>ㆍ</a:t>
            </a:r>
            <a:r>
              <a:rPr lang="en-US" altLang="ko-KR" b="1"/>
              <a:t>B = 0 + A</a:t>
            </a:r>
            <a:r>
              <a:rPr lang="ko-KR" altLang="en-US" b="1"/>
              <a:t>ㆍ</a:t>
            </a:r>
            <a:r>
              <a:rPr lang="en-US" altLang="ko-KR" b="1"/>
              <a:t>B = A</a:t>
            </a:r>
            <a:r>
              <a:rPr lang="ko-KR" altLang="en-US" b="1"/>
              <a:t>ㆍ</a:t>
            </a:r>
            <a:r>
              <a:rPr lang="en-US" altLang="ko-KR" b="1"/>
              <a:t>B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⑥ A</a:t>
            </a:r>
            <a:r>
              <a:rPr lang="ko-KR" altLang="en-US" b="1"/>
              <a:t>ㆍ</a:t>
            </a:r>
            <a:r>
              <a:rPr lang="en-US" altLang="ko-KR" b="1"/>
              <a:t>(A + A</a:t>
            </a:r>
            <a:r>
              <a:rPr lang="ko-KR" altLang="en-US" b="1"/>
              <a:t>ㆍ</a:t>
            </a:r>
            <a:r>
              <a:rPr lang="en-US" altLang="ko-KR" b="1"/>
              <a:t>B) = A</a:t>
            </a:r>
            <a:r>
              <a:rPr lang="ko-KR" altLang="en-US" b="1"/>
              <a:t>ㆍ</a:t>
            </a:r>
            <a:r>
              <a:rPr lang="en-US" altLang="ko-KR" b="1"/>
              <a:t>A + A</a:t>
            </a:r>
            <a:r>
              <a:rPr lang="ko-KR" altLang="en-US" b="1"/>
              <a:t>ㆍ</a:t>
            </a:r>
            <a:r>
              <a:rPr lang="en-US" altLang="ko-KR" b="1"/>
              <a:t>A</a:t>
            </a:r>
            <a:r>
              <a:rPr lang="ko-KR" altLang="en-US" b="1"/>
              <a:t>ㆍ</a:t>
            </a:r>
            <a:r>
              <a:rPr lang="en-US" altLang="ko-KR" b="1"/>
              <a:t>B = 0 + A</a:t>
            </a:r>
            <a:r>
              <a:rPr lang="ko-KR" altLang="en-US" b="1"/>
              <a:t>ㆍ</a:t>
            </a:r>
            <a:r>
              <a:rPr lang="en-US" altLang="ko-KR" b="1"/>
              <a:t>B = A</a:t>
            </a:r>
            <a:r>
              <a:rPr lang="ko-KR" altLang="en-US" b="1"/>
              <a:t>ㆍ</a:t>
            </a:r>
            <a:r>
              <a:rPr lang="en-US" altLang="ko-KR" b="1"/>
              <a:t>B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⑦ Y = AB+AB+AB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= A(B+B)+AB = A(1)+AB = A+AB = (A+A) </a:t>
            </a:r>
            <a:r>
              <a:rPr lang="ko-KR" altLang="en-US" b="1"/>
              <a:t>ㆍ</a:t>
            </a:r>
            <a:r>
              <a:rPr lang="en-US" altLang="ko-KR" b="1"/>
              <a:t>(A+B) = 1</a:t>
            </a:r>
            <a:r>
              <a:rPr lang="ko-KR" altLang="en-US" b="1"/>
              <a:t>ㆍ</a:t>
            </a:r>
            <a:r>
              <a:rPr lang="en-US" altLang="ko-KR" b="1"/>
              <a:t>(A+B) = A+B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⑧ Y = A+AB+AC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= A(1+B+C) = A(1) = A</a:t>
            </a:r>
          </a:p>
        </p:txBody>
      </p:sp>
      <p:sp>
        <p:nvSpPr>
          <p:cNvPr id="9220" name="Line 13">
            <a:extLst>
              <a:ext uri="{FF2B5EF4-FFF2-40B4-BE49-F238E27FC236}">
                <a16:creationId xmlns:a16="http://schemas.microsoft.com/office/drawing/2014/main" id="{14E2B2BB-2029-4AAC-8538-97F19FB0B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1850" y="3052763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1" name="Line 14">
            <a:extLst>
              <a:ext uri="{FF2B5EF4-FFF2-40B4-BE49-F238E27FC236}">
                <a16:creationId xmlns:a16="http://schemas.microsoft.com/office/drawing/2014/main" id="{1615890E-5B29-4D56-B2A6-69244FC211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7363" y="3413125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2" name="Line 15">
            <a:extLst>
              <a:ext uri="{FF2B5EF4-FFF2-40B4-BE49-F238E27FC236}">
                <a16:creationId xmlns:a16="http://schemas.microsoft.com/office/drawing/2014/main" id="{BFF6E65D-5D16-401B-962A-87B4E6EAF2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30686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3" name="Line 16">
            <a:extLst>
              <a:ext uri="{FF2B5EF4-FFF2-40B4-BE49-F238E27FC236}">
                <a16:creationId xmlns:a16="http://schemas.microsoft.com/office/drawing/2014/main" id="{BEBFFBAB-EB36-413E-A7B7-7495519A80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16088" y="405288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4" name="Line 17">
            <a:extLst>
              <a:ext uri="{FF2B5EF4-FFF2-40B4-BE49-F238E27FC236}">
                <a16:creationId xmlns:a16="http://schemas.microsoft.com/office/drawing/2014/main" id="{C9097591-5218-440C-A0FF-9193520E5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3238" y="4076700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5" name="Line 18">
            <a:extLst>
              <a:ext uri="{FF2B5EF4-FFF2-40B4-BE49-F238E27FC236}">
                <a16:creationId xmlns:a16="http://schemas.microsoft.com/office/drawing/2014/main" id="{24C35E17-95BA-44E9-9D40-CFCEC6A42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4025" y="43815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6" name="Line 19">
            <a:extLst>
              <a:ext uri="{FF2B5EF4-FFF2-40B4-BE49-F238E27FC236}">
                <a16:creationId xmlns:a16="http://schemas.microsoft.com/office/drawing/2014/main" id="{34D43023-595C-49DA-AABE-87257BB4B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4381500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7" name="Line 20">
            <a:extLst>
              <a:ext uri="{FF2B5EF4-FFF2-40B4-BE49-F238E27FC236}">
                <a16:creationId xmlns:a16="http://schemas.microsoft.com/office/drawing/2014/main" id="{3CAD5E05-163A-4CA0-99E0-5DC0D239A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138" y="4708525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8" name="Line 21">
            <a:extLst>
              <a:ext uri="{FF2B5EF4-FFF2-40B4-BE49-F238E27FC236}">
                <a16:creationId xmlns:a16="http://schemas.microsoft.com/office/drawing/2014/main" id="{6045E248-167A-4F77-82F8-AB7A4DE26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47323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29" name="Line 22">
            <a:extLst>
              <a:ext uri="{FF2B5EF4-FFF2-40B4-BE49-F238E27FC236}">
                <a16:creationId xmlns:a16="http://schemas.microsoft.com/office/drawing/2014/main" id="{322AA51D-A7CD-4B13-BA43-E993802D5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5053013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30" name="Line 23">
            <a:extLst>
              <a:ext uri="{FF2B5EF4-FFF2-40B4-BE49-F238E27FC236}">
                <a16:creationId xmlns:a16="http://schemas.microsoft.com/office/drawing/2014/main" id="{DC7AA5B6-6475-4500-86F5-9939AD793B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506888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31" name="Line 24">
            <a:extLst>
              <a:ext uri="{FF2B5EF4-FFF2-40B4-BE49-F238E27FC236}">
                <a16:creationId xmlns:a16="http://schemas.microsoft.com/office/drawing/2014/main" id="{F29DCF40-7CEA-4F49-8381-A3701C15F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8088" y="5053013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32" name="Line 25">
            <a:extLst>
              <a:ext uri="{FF2B5EF4-FFF2-40B4-BE49-F238E27FC236}">
                <a16:creationId xmlns:a16="http://schemas.microsoft.com/office/drawing/2014/main" id="{21327079-FBFD-41B6-9426-F9BC4F46F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7563" y="5060950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33" name="Line 26">
            <a:extLst>
              <a:ext uri="{FF2B5EF4-FFF2-40B4-BE49-F238E27FC236}">
                <a16:creationId xmlns:a16="http://schemas.microsoft.com/office/drawing/2014/main" id="{22C2D2B4-9F03-4B69-93D6-281D8D05A4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5060950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9234" name="Line 28">
            <a:extLst>
              <a:ext uri="{FF2B5EF4-FFF2-40B4-BE49-F238E27FC236}">
                <a16:creationId xmlns:a16="http://schemas.microsoft.com/office/drawing/2014/main" id="{80974AC7-EDD3-429F-9295-AC1AD34E2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2438" y="3429000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0EF86259-DD5B-45BA-B5F1-4DC9E067E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3E657AC-942E-4473-AF38-CBC1CE76D5A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Text Box 4">
            <a:extLst>
              <a:ext uri="{FF2B5EF4-FFF2-40B4-BE49-F238E27FC236}">
                <a16:creationId xmlns:a16="http://schemas.microsoft.com/office/drawing/2014/main" id="{E40790E3-AC47-4BF1-BAD2-147923BBA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65175"/>
            <a:ext cx="6719888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200" b="1"/>
              <a:t>2. </a:t>
            </a:r>
            <a:r>
              <a:rPr lang="ko-KR" altLang="en-US" sz="2200" b="1"/>
              <a:t>카르노 맵 </a:t>
            </a:r>
            <a:r>
              <a:rPr lang="en-US" altLang="ko-KR" sz="2200" b="1"/>
              <a:t>(Karnaugh maps)</a:t>
            </a:r>
          </a:p>
          <a:p>
            <a:pPr eaLnBrk="1" hangingPunct="1">
              <a:lnSpc>
                <a:spcPct val="120000"/>
              </a:lnSpc>
            </a:pPr>
            <a:endParaRPr lang="en-US" altLang="ko-KR" sz="2200" b="1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   (1) 1</a:t>
            </a:r>
            <a:r>
              <a:rPr lang="ko-KR" altLang="en-US" sz="2000" b="1"/>
              <a:t>변수 카르노 맵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한 개의 논리 변수 </a:t>
            </a:r>
            <a:r>
              <a:rPr lang="en-US" altLang="ko-KR" b="1"/>
              <a:t>A</a:t>
            </a:r>
            <a:r>
              <a:rPr lang="ko-KR" altLang="en-US" b="1"/>
              <a:t>의 값은 </a:t>
            </a:r>
            <a:r>
              <a:rPr lang="en-US" altLang="ko-KR" b="1"/>
              <a:t>0 </a:t>
            </a:r>
            <a:r>
              <a:rPr lang="ko-KR" altLang="en-US" b="1"/>
              <a:t>또는 </a:t>
            </a:r>
            <a:r>
              <a:rPr lang="en-US" altLang="ko-KR" b="1"/>
              <a:t>1</a:t>
            </a:r>
            <a:r>
              <a:rPr lang="ko-KR" altLang="en-US" b="1"/>
              <a:t>이기 때문에 아래의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표와 같이 두 개의 칸으로 표시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사각형의 오른쪽 칸을 </a:t>
            </a:r>
            <a:r>
              <a:rPr lang="en-US" altLang="ko-KR" b="1"/>
              <a:t>1</a:t>
            </a:r>
            <a:r>
              <a:rPr lang="ko-KR" altLang="en-US" b="1"/>
              <a:t>에 대응하는 논리 변수</a:t>
            </a:r>
            <a:r>
              <a:rPr lang="en-US" altLang="ko-KR" b="1"/>
              <a:t>, </a:t>
            </a:r>
            <a:r>
              <a:rPr lang="ko-KR" altLang="en-US" b="1"/>
              <a:t>왼쪽 칸은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0</a:t>
            </a:r>
            <a:r>
              <a:rPr lang="ko-KR" altLang="en-US" b="1"/>
              <a:t>에 대응하는 논리 변수라 한다</a:t>
            </a:r>
            <a:r>
              <a:rPr lang="en-US" altLang="ko-KR" b="1"/>
              <a:t>.</a:t>
            </a:r>
          </a:p>
        </p:txBody>
      </p:sp>
      <p:graphicFrame>
        <p:nvGraphicFramePr>
          <p:cNvPr id="153646" name="Group 46">
            <a:extLst>
              <a:ext uri="{FF2B5EF4-FFF2-40B4-BE49-F238E27FC236}">
                <a16:creationId xmlns:a16="http://schemas.microsoft.com/office/drawing/2014/main" id="{5A568648-2B3E-4D9A-B593-B8B519F21604}"/>
              </a:ext>
            </a:extLst>
          </p:cNvPr>
          <p:cNvGraphicFramePr>
            <a:graphicFrameLocks noGrp="1"/>
          </p:cNvGraphicFramePr>
          <p:nvPr/>
        </p:nvGraphicFramePr>
        <p:xfrm>
          <a:off x="1692275" y="3722688"/>
          <a:ext cx="5473700" cy="1074737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1621417419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173111312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419059223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424"/>
                  </a:ext>
                </a:extLst>
              </a:tr>
              <a:tr h="5714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X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X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616423"/>
                  </a:ext>
                </a:extLst>
              </a:tr>
            </a:tbl>
          </a:graphicData>
        </a:graphic>
      </p:graphicFrame>
      <p:sp>
        <p:nvSpPr>
          <p:cNvPr id="10258" name="Line 47">
            <a:extLst>
              <a:ext uri="{FF2B5EF4-FFF2-40B4-BE49-F238E27FC236}">
                <a16:creationId xmlns:a16="http://schemas.microsoft.com/office/drawing/2014/main" id="{B9031446-E7E3-4CC9-A455-F328FFA732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0538" y="43703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182FF5CE-6648-4DF1-B796-A43B35754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7FE7B03-576F-4A26-9DD1-138F3F4C396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9FEA8525-550A-4042-9B97-8D214C7BF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796925"/>
            <a:ext cx="8135937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  (2) 2</a:t>
            </a:r>
            <a:r>
              <a:rPr lang="ko-KR" altLang="en-US" sz="2000" b="1"/>
              <a:t>변수 카르노 맵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입력 가능한 값은 네가지 조합으로 대응하는 최소 항을 사각형에 표시</a:t>
            </a:r>
          </a:p>
        </p:txBody>
      </p:sp>
      <p:graphicFrame>
        <p:nvGraphicFramePr>
          <p:cNvPr id="155651" name="Group 3">
            <a:extLst>
              <a:ext uri="{FF2B5EF4-FFF2-40B4-BE49-F238E27FC236}">
                <a16:creationId xmlns:a16="http://schemas.microsoft.com/office/drawing/2014/main" id="{6870C2F0-455E-46D9-BCD0-1D132B278AEE}"/>
              </a:ext>
            </a:extLst>
          </p:cNvPr>
          <p:cNvGraphicFramePr>
            <a:graphicFrameLocks noGrp="1"/>
          </p:cNvGraphicFramePr>
          <p:nvPr/>
        </p:nvGraphicFramePr>
        <p:xfrm>
          <a:off x="2843213" y="1663700"/>
          <a:ext cx="5473700" cy="1646238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1756816942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230615583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3379887140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453131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②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04245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③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④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574639"/>
                  </a:ext>
                </a:extLst>
              </a:tr>
            </a:tbl>
          </a:graphicData>
        </a:graphic>
      </p:graphicFrame>
      <p:sp>
        <p:nvSpPr>
          <p:cNvPr id="11287" name="Text Box 24">
            <a:extLst>
              <a:ext uri="{FF2B5EF4-FFF2-40B4-BE49-F238E27FC236}">
                <a16:creationId xmlns:a16="http://schemas.microsoft.com/office/drawing/2014/main" id="{8FBF350A-A77D-4263-800A-52991C26B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9225" y="1628775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</a:t>
            </a:r>
          </a:p>
        </p:txBody>
      </p:sp>
      <p:sp>
        <p:nvSpPr>
          <p:cNvPr id="11288" name="Text Box 25">
            <a:extLst>
              <a:ext uri="{FF2B5EF4-FFF2-40B4-BE49-F238E27FC236}">
                <a16:creationId xmlns:a16="http://schemas.microsoft.com/office/drawing/2014/main" id="{9A9ECF84-6DA2-4A20-8A76-ECCC70C36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13" y="1806575"/>
            <a:ext cx="338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B</a:t>
            </a:r>
          </a:p>
        </p:txBody>
      </p:sp>
      <p:sp>
        <p:nvSpPr>
          <p:cNvPr id="11289" name="Text Box 26">
            <a:extLst>
              <a:ext uri="{FF2B5EF4-FFF2-40B4-BE49-F238E27FC236}">
                <a16:creationId xmlns:a16="http://schemas.microsoft.com/office/drawing/2014/main" id="{857EFE0F-AB6B-4175-AA0D-C6DD4029C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736725"/>
            <a:ext cx="1465262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① A=0, B=0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② A=1, B=0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③ A=0, B=1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④ A=1, B=1</a:t>
            </a:r>
          </a:p>
        </p:txBody>
      </p:sp>
      <p:graphicFrame>
        <p:nvGraphicFramePr>
          <p:cNvPr id="155675" name="Group 27">
            <a:extLst>
              <a:ext uri="{FF2B5EF4-FFF2-40B4-BE49-F238E27FC236}">
                <a16:creationId xmlns:a16="http://schemas.microsoft.com/office/drawing/2014/main" id="{5DE8F341-4A9F-406C-822C-DFB18CF15F86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4003675"/>
          <a:ext cx="2808288" cy="1646238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292490583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649024296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1662367238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369366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11064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78743"/>
                  </a:ext>
                </a:extLst>
              </a:tr>
            </a:tbl>
          </a:graphicData>
        </a:graphic>
      </p:graphicFrame>
      <p:sp>
        <p:nvSpPr>
          <p:cNvPr id="11309" name="Text Box 48">
            <a:extLst>
              <a:ext uri="{FF2B5EF4-FFF2-40B4-BE49-F238E27FC236}">
                <a16:creationId xmlns:a16="http://schemas.microsoft.com/office/drawing/2014/main" id="{27911198-1933-4CBF-8777-0C1909D41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56050"/>
            <a:ext cx="328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</a:t>
            </a:r>
          </a:p>
        </p:txBody>
      </p:sp>
      <p:sp>
        <p:nvSpPr>
          <p:cNvPr id="11310" name="Text Box 49">
            <a:extLst>
              <a:ext uri="{FF2B5EF4-FFF2-40B4-BE49-F238E27FC236}">
                <a16:creationId xmlns:a16="http://schemas.microsoft.com/office/drawing/2014/main" id="{347267F3-7785-4573-9DA6-67D87980E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4162425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B</a:t>
            </a:r>
          </a:p>
        </p:txBody>
      </p:sp>
      <p:graphicFrame>
        <p:nvGraphicFramePr>
          <p:cNvPr id="155698" name="Group 50">
            <a:extLst>
              <a:ext uri="{FF2B5EF4-FFF2-40B4-BE49-F238E27FC236}">
                <a16:creationId xmlns:a16="http://schemas.microsoft.com/office/drawing/2014/main" id="{577EF04C-68A2-415B-A8C3-CF40580E1E24}"/>
              </a:ext>
            </a:extLst>
          </p:cNvPr>
          <p:cNvGraphicFramePr>
            <a:graphicFrameLocks noGrp="1"/>
          </p:cNvGraphicFramePr>
          <p:nvPr/>
        </p:nvGraphicFramePr>
        <p:xfrm>
          <a:off x="5205413" y="3981450"/>
          <a:ext cx="2808287" cy="1646238"/>
        </p:xfrm>
        <a:graphic>
          <a:graphicData uri="http://schemas.openxmlformats.org/drawingml/2006/table">
            <a:tbl>
              <a:tblPr/>
              <a:tblGrid>
                <a:gridCol w="935037">
                  <a:extLst>
                    <a:ext uri="{9D8B030D-6E8A-4147-A177-3AD203B41FA5}">
                      <a16:colId xmlns:a16="http://schemas.microsoft.com/office/drawing/2014/main" val="3349271486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196638504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1261667810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191926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219806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740680"/>
                  </a:ext>
                </a:extLst>
              </a:tr>
            </a:tbl>
          </a:graphicData>
        </a:graphic>
      </p:graphicFrame>
      <p:sp>
        <p:nvSpPr>
          <p:cNvPr id="11330" name="Text Box 71">
            <a:extLst>
              <a:ext uri="{FF2B5EF4-FFF2-40B4-BE49-F238E27FC236}">
                <a16:creationId xmlns:a16="http://schemas.microsoft.com/office/drawing/2014/main" id="{BB4D1057-B23B-4B55-819B-02CC61FF6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4363" y="3933825"/>
            <a:ext cx="3286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</a:t>
            </a:r>
          </a:p>
        </p:txBody>
      </p:sp>
      <p:sp>
        <p:nvSpPr>
          <p:cNvPr id="11331" name="Text Box 72">
            <a:extLst>
              <a:ext uri="{FF2B5EF4-FFF2-40B4-BE49-F238E27FC236}">
                <a16:creationId xmlns:a16="http://schemas.microsoft.com/office/drawing/2014/main" id="{9FFEE37F-AECD-49AF-904A-8218A23DA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0663" y="4140200"/>
            <a:ext cx="3381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B</a:t>
            </a:r>
          </a:p>
        </p:txBody>
      </p:sp>
      <p:sp>
        <p:nvSpPr>
          <p:cNvPr id="11332" name="Rectangle 73">
            <a:extLst>
              <a:ext uri="{FF2B5EF4-FFF2-40B4-BE49-F238E27FC236}">
                <a16:creationId xmlns:a16="http://schemas.microsoft.com/office/drawing/2014/main" id="{02DB9A1E-62E9-471E-8487-1DCACA06D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589463"/>
            <a:ext cx="431800" cy="935037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1333" name="Line 74">
            <a:extLst>
              <a:ext uri="{FF2B5EF4-FFF2-40B4-BE49-F238E27FC236}">
                <a16:creationId xmlns:a16="http://schemas.microsoft.com/office/drawing/2014/main" id="{D229F3C1-852F-408B-B42B-3B0CE75FC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5463" y="4805363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334" name="Text Box 75">
            <a:extLst>
              <a:ext uri="{FF2B5EF4-FFF2-40B4-BE49-F238E27FC236}">
                <a16:creationId xmlns:a16="http://schemas.microsoft.com/office/drawing/2014/main" id="{08BCE8EC-BB54-45A6-ABF8-DE04C59B0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7713" y="4665663"/>
            <a:ext cx="3286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</a:t>
            </a:r>
          </a:p>
        </p:txBody>
      </p:sp>
      <p:sp>
        <p:nvSpPr>
          <p:cNvPr id="11335" name="Line 76">
            <a:extLst>
              <a:ext uri="{FF2B5EF4-FFF2-40B4-BE49-F238E27FC236}">
                <a16:creationId xmlns:a16="http://schemas.microsoft.com/office/drawing/2014/main" id="{2246B10A-121E-4D3E-9DCB-80CDCCDC7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75663" y="4716463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336" name="Text Box 77">
            <a:extLst>
              <a:ext uri="{FF2B5EF4-FFF2-40B4-BE49-F238E27FC236}">
                <a16:creationId xmlns:a16="http://schemas.microsoft.com/office/drawing/2014/main" id="{A13BB1E5-F97B-41E2-8411-39E42BF4A8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2113" y="5807075"/>
            <a:ext cx="32242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[</a:t>
            </a:r>
            <a:r>
              <a:rPr lang="ko-KR" altLang="en-US" b="1"/>
              <a:t>그림</a:t>
            </a:r>
            <a:r>
              <a:rPr lang="en-US" altLang="ko-KR" b="1"/>
              <a:t>] 2</a:t>
            </a:r>
            <a:r>
              <a:rPr lang="ko-KR" altLang="en-US" b="1"/>
              <a:t>변수 논리식의 간략화</a:t>
            </a:r>
          </a:p>
        </p:txBody>
      </p:sp>
      <p:sp>
        <p:nvSpPr>
          <p:cNvPr id="11337" name="Text Box 78">
            <a:extLst>
              <a:ext uri="{FF2B5EF4-FFF2-40B4-BE49-F238E27FC236}">
                <a16:creationId xmlns:a16="http://schemas.microsoft.com/office/drawing/2014/main" id="{06DC2B55-FA18-4924-9DE7-8EDF0550D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429000"/>
            <a:ext cx="424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- 2</a:t>
            </a:r>
            <a:r>
              <a:rPr lang="ko-KR" altLang="en-US" b="1"/>
              <a:t>변수 카르노 맵의 간략화 </a:t>
            </a:r>
            <a:r>
              <a:rPr lang="en-US" altLang="ko-KR" b="1"/>
              <a:t>: A B + A B</a:t>
            </a:r>
          </a:p>
        </p:txBody>
      </p:sp>
      <p:sp>
        <p:nvSpPr>
          <p:cNvPr id="11338" name="Line 79">
            <a:extLst>
              <a:ext uri="{FF2B5EF4-FFF2-40B4-BE49-F238E27FC236}">
                <a16:creationId xmlns:a16="http://schemas.microsoft.com/office/drawing/2014/main" id="{0ADC9C9C-4A48-4EDA-9DC0-D6EA23CD0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5763" y="350043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339" name="Line 80">
            <a:extLst>
              <a:ext uri="{FF2B5EF4-FFF2-40B4-BE49-F238E27FC236}">
                <a16:creationId xmlns:a16="http://schemas.microsoft.com/office/drawing/2014/main" id="{6C6BDEED-5DE1-458E-866E-5EFAB116F7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3725" y="35004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1340" name="Line 81">
            <a:extLst>
              <a:ext uri="{FF2B5EF4-FFF2-40B4-BE49-F238E27FC236}">
                <a16:creationId xmlns:a16="http://schemas.microsoft.com/office/drawing/2014/main" id="{7E05BADD-2261-41A0-92DB-EB2D88FEF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1400" y="350043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642EA41C-13AE-4C32-979D-DA297003D6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52CADBA-894E-4492-93CA-3449E4EBD8B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DABF7660-43AC-452A-9EC0-7A3279229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8569325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  (3) 3</a:t>
            </a:r>
            <a:r>
              <a:rPr lang="ko-KR" altLang="en-US" sz="2000" b="1"/>
              <a:t>변수 카르노 맵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논리식의 입력 변수가 </a:t>
            </a:r>
            <a:r>
              <a:rPr lang="en-US" altLang="ko-KR" b="1"/>
              <a:t>3</a:t>
            </a:r>
            <a:r>
              <a:rPr lang="ko-KR" altLang="en-US" b="1"/>
              <a:t>개이면 세 변수로 결합되는 조합의 수는 </a:t>
            </a:r>
            <a:r>
              <a:rPr lang="en-US" altLang="ko-KR" b="1"/>
              <a:t>8(2</a:t>
            </a:r>
            <a:r>
              <a:rPr lang="en-US" altLang="ko-KR" b="1" baseline="30000"/>
              <a:t>3</a:t>
            </a:r>
            <a:r>
              <a:rPr lang="en-US" altLang="ko-KR" b="1"/>
              <a:t>)</a:t>
            </a:r>
            <a:r>
              <a:rPr lang="ko-KR" altLang="en-US" b="1"/>
              <a:t>가지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먼저 짝지어진 두 개를 최소 항으로 만들어 행에 위치시키고</a:t>
            </a:r>
            <a:r>
              <a:rPr lang="en-US" altLang="ko-KR" b="1"/>
              <a:t>, </a:t>
            </a:r>
            <a:r>
              <a:rPr lang="ko-KR" altLang="en-US" b="1"/>
              <a:t>나머지 하나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를 열에 위치시킨다</a:t>
            </a:r>
            <a:r>
              <a:rPr lang="en-US" altLang="ko-KR" b="1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- </a:t>
            </a:r>
            <a:r>
              <a:rPr lang="ko-KR" altLang="en-US" b="1"/>
              <a:t>이때 두 개의 짝지어진 것은 그레이 코드 순서인 </a:t>
            </a:r>
            <a:r>
              <a:rPr lang="en-US" altLang="ko-KR" b="1"/>
              <a:t>(00, 01, 11, 10)</a:t>
            </a:r>
            <a:r>
              <a:rPr lang="ko-KR" altLang="en-US" b="1"/>
              <a:t>의 순서로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배열</a:t>
            </a:r>
          </a:p>
        </p:txBody>
      </p:sp>
      <p:grpSp>
        <p:nvGrpSpPr>
          <p:cNvPr id="12292" name="Group 118">
            <a:extLst>
              <a:ext uri="{FF2B5EF4-FFF2-40B4-BE49-F238E27FC236}">
                <a16:creationId xmlns:a16="http://schemas.microsoft.com/office/drawing/2014/main" id="{3A08AD42-800C-485D-9F7E-D36EC661C5E4}"/>
              </a:ext>
            </a:extLst>
          </p:cNvPr>
          <p:cNvGrpSpPr>
            <a:grpSpLocks/>
          </p:cNvGrpSpPr>
          <p:nvPr/>
        </p:nvGrpSpPr>
        <p:grpSpPr bwMode="auto">
          <a:xfrm>
            <a:off x="1263650" y="3068638"/>
            <a:ext cx="6764338" cy="1697037"/>
            <a:chOff x="796" y="1933"/>
            <a:chExt cx="4261" cy="1069"/>
          </a:xfrm>
        </p:grpSpPr>
        <p:sp>
          <p:nvSpPr>
            <p:cNvPr id="12294" name="Rectangle 111">
              <a:extLst>
                <a:ext uri="{FF2B5EF4-FFF2-40B4-BE49-F238E27FC236}">
                  <a16:creationId xmlns:a16="http://schemas.microsoft.com/office/drawing/2014/main" id="{AF13E881-CF64-410A-83FD-09917E50F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3" y="264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A’B’C</a:t>
              </a:r>
            </a:p>
          </p:txBody>
        </p:sp>
        <p:sp>
          <p:nvSpPr>
            <p:cNvPr id="12295" name="Rectangle 109">
              <a:extLst>
                <a:ext uri="{FF2B5EF4-FFF2-40B4-BE49-F238E27FC236}">
                  <a16:creationId xmlns:a16="http://schemas.microsoft.com/office/drawing/2014/main" id="{DCF92582-A60F-4E48-A325-521070A8D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3" y="228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A’B’C’</a:t>
              </a:r>
            </a:p>
          </p:txBody>
        </p:sp>
        <p:sp>
          <p:nvSpPr>
            <p:cNvPr id="12296" name="Rectangle 107">
              <a:extLst>
                <a:ext uri="{FF2B5EF4-FFF2-40B4-BE49-F238E27FC236}">
                  <a16:creationId xmlns:a16="http://schemas.microsoft.com/office/drawing/2014/main" id="{1BCC2F85-6693-417F-9E4D-25A07604A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3" y="1965"/>
              <a:ext cx="861" cy="31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00</a:t>
              </a:r>
            </a:p>
          </p:txBody>
        </p:sp>
        <p:sp>
          <p:nvSpPr>
            <p:cNvPr id="12297" name="Rectangle 104">
              <a:extLst>
                <a:ext uri="{FF2B5EF4-FFF2-40B4-BE49-F238E27FC236}">
                  <a16:creationId xmlns:a16="http://schemas.microsoft.com/office/drawing/2014/main" id="{59B8CA1A-3952-4D12-813C-841EBDBFD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264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A’BC</a:t>
              </a:r>
            </a:p>
          </p:txBody>
        </p:sp>
        <p:sp>
          <p:nvSpPr>
            <p:cNvPr id="12298" name="Rectangle 102">
              <a:extLst>
                <a:ext uri="{FF2B5EF4-FFF2-40B4-BE49-F238E27FC236}">
                  <a16:creationId xmlns:a16="http://schemas.microsoft.com/office/drawing/2014/main" id="{FAF9C69E-A142-4712-AD2A-13977C36D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228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A’BC’</a:t>
              </a:r>
            </a:p>
          </p:txBody>
        </p:sp>
        <p:sp>
          <p:nvSpPr>
            <p:cNvPr id="12299" name="Rectangle 100">
              <a:extLst>
                <a:ext uri="{FF2B5EF4-FFF2-40B4-BE49-F238E27FC236}">
                  <a16:creationId xmlns:a16="http://schemas.microsoft.com/office/drawing/2014/main" id="{E85A2583-FCBC-4E07-9C29-4100B48DB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4" y="1965"/>
              <a:ext cx="861" cy="31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01</a:t>
              </a:r>
            </a:p>
          </p:txBody>
        </p:sp>
        <p:sp>
          <p:nvSpPr>
            <p:cNvPr id="12300" name="Rectangle 97">
              <a:extLst>
                <a:ext uri="{FF2B5EF4-FFF2-40B4-BE49-F238E27FC236}">
                  <a16:creationId xmlns:a16="http://schemas.microsoft.com/office/drawing/2014/main" id="{DD17DC1D-788B-48D2-91B1-E4CF2E0C6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5" y="264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ABC</a:t>
              </a:r>
            </a:p>
          </p:txBody>
        </p:sp>
        <p:sp>
          <p:nvSpPr>
            <p:cNvPr id="12301" name="Rectangle 95">
              <a:extLst>
                <a:ext uri="{FF2B5EF4-FFF2-40B4-BE49-F238E27FC236}">
                  <a16:creationId xmlns:a16="http://schemas.microsoft.com/office/drawing/2014/main" id="{0EC0166E-884C-4BD6-9F87-6FFB52825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5" y="228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ABC’</a:t>
              </a:r>
            </a:p>
          </p:txBody>
        </p:sp>
        <p:sp>
          <p:nvSpPr>
            <p:cNvPr id="12302" name="Rectangle 93">
              <a:extLst>
                <a:ext uri="{FF2B5EF4-FFF2-40B4-BE49-F238E27FC236}">
                  <a16:creationId xmlns:a16="http://schemas.microsoft.com/office/drawing/2014/main" id="{564E5A6A-C8D3-4911-87B1-440B79751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5" y="1965"/>
              <a:ext cx="861" cy="31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11</a:t>
              </a:r>
            </a:p>
          </p:txBody>
        </p:sp>
        <p:sp>
          <p:nvSpPr>
            <p:cNvPr id="12303" name="Rectangle 5">
              <a:extLst>
                <a:ext uri="{FF2B5EF4-FFF2-40B4-BE49-F238E27FC236}">
                  <a16:creationId xmlns:a16="http://schemas.microsoft.com/office/drawing/2014/main" id="{EFC0A2B2-0D9D-4DCE-AA21-552663AB9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" y="228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AB’C’</a:t>
              </a:r>
            </a:p>
          </p:txBody>
        </p:sp>
        <p:sp>
          <p:nvSpPr>
            <p:cNvPr id="12304" name="Rectangle 6">
              <a:extLst>
                <a:ext uri="{FF2B5EF4-FFF2-40B4-BE49-F238E27FC236}">
                  <a16:creationId xmlns:a16="http://schemas.microsoft.com/office/drawing/2014/main" id="{C3F976F2-C605-4C49-9310-D13EA6029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2282"/>
              <a:ext cx="8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0</a:t>
              </a:r>
            </a:p>
          </p:txBody>
        </p:sp>
        <p:sp>
          <p:nvSpPr>
            <p:cNvPr id="12305" name="Rectangle 8">
              <a:extLst>
                <a:ext uri="{FF2B5EF4-FFF2-40B4-BE49-F238E27FC236}">
                  <a16:creationId xmlns:a16="http://schemas.microsoft.com/office/drawing/2014/main" id="{24BB3002-0FE0-4AD2-B923-07BD0B84E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" y="2642"/>
              <a:ext cx="86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AB’C</a:t>
              </a:r>
            </a:p>
          </p:txBody>
        </p:sp>
        <p:sp>
          <p:nvSpPr>
            <p:cNvPr id="12306" name="Rectangle 9">
              <a:extLst>
                <a:ext uri="{FF2B5EF4-FFF2-40B4-BE49-F238E27FC236}">
                  <a16:creationId xmlns:a16="http://schemas.microsoft.com/office/drawing/2014/main" id="{06A9BFB0-31B8-4B97-9072-F35DB3615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2642"/>
              <a:ext cx="81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1</a:t>
              </a:r>
            </a:p>
          </p:txBody>
        </p:sp>
        <p:sp>
          <p:nvSpPr>
            <p:cNvPr id="12307" name="Rectangle 11">
              <a:extLst>
                <a:ext uri="{FF2B5EF4-FFF2-40B4-BE49-F238E27FC236}">
                  <a16:creationId xmlns:a16="http://schemas.microsoft.com/office/drawing/2014/main" id="{195DF3EF-28E6-4266-A9FA-63E821B0D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6" y="1965"/>
              <a:ext cx="861" cy="31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ko-KR" b="1"/>
                <a:t>10</a:t>
              </a:r>
            </a:p>
          </p:txBody>
        </p:sp>
        <p:sp>
          <p:nvSpPr>
            <p:cNvPr id="12308" name="Rectangle 12">
              <a:extLst>
                <a:ext uri="{FF2B5EF4-FFF2-40B4-BE49-F238E27FC236}">
                  <a16:creationId xmlns:a16="http://schemas.microsoft.com/office/drawing/2014/main" id="{6184B706-DA62-4D4C-B220-621C77C34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" y="1965"/>
              <a:ext cx="817" cy="317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ko-KR" altLang="ko-KR" b="1"/>
            </a:p>
          </p:txBody>
        </p:sp>
        <p:sp>
          <p:nvSpPr>
            <p:cNvPr id="12309" name="Line 13">
              <a:extLst>
                <a:ext uri="{FF2B5EF4-FFF2-40B4-BE49-F238E27FC236}">
                  <a16:creationId xmlns:a16="http://schemas.microsoft.com/office/drawing/2014/main" id="{C71EC3D6-1A2F-436D-8A8C-B09B335B7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1965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0" name="Line 14">
              <a:extLst>
                <a:ext uri="{FF2B5EF4-FFF2-40B4-BE49-F238E27FC236}">
                  <a16:creationId xmlns:a16="http://schemas.microsoft.com/office/drawing/2014/main" id="{C1EC031A-6E3A-400E-8BC1-57ED589FD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2282"/>
              <a:ext cx="4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1" name="Line 15">
              <a:extLst>
                <a:ext uri="{FF2B5EF4-FFF2-40B4-BE49-F238E27FC236}">
                  <a16:creationId xmlns:a16="http://schemas.microsoft.com/office/drawing/2014/main" id="{9337CF0A-AAC4-44F3-ACEE-916114429F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3002"/>
              <a:ext cx="4261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2" name="Line 16">
              <a:extLst>
                <a:ext uri="{FF2B5EF4-FFF2-40B4-BE49-F238E27FC236}">
                  <a16:creationId xmlns:a16="http://schemas.microsoft.com/office/drawing/2014/main" id="{0B3CDA70-1E70-4F21-9531-7003A30D77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1965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3" name="Line 17">
              <a:extLst>
                <a:ext uri="{FF2B5EF4-FFF2-40B4-BE49-F238E27FC236}">
                  <a16:creationId xmlns:a16="http://schemas.microsoft.com/office/drawing/2014/main" id="{CB85A4E3-1A57-4D0D-84D3-E36BF28E1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3" y="1965"/>
              <a:ext cx="0" cy="10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4" name="Line 19">
              <a:extLst>
                <a:ext uri="{FF2B5EF4-FFF2-40B4-BE49-F238E27FC236}">
                  <a16:creationId xmlns:a16="http://schemas.microsoft.com/office/drawing/2014/main" id="{48D5D794-3835-4EAE-A529-6858163A5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1965"/>
              <a:ext cx="0" cy="1037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5" name="Line 20">
              <a:extLst>
                <a:ext uri="{FF2B5EF4-FFF2-40B4-BE49-F238E27FC236}">
                  <a16:creationId xmlns:a16="http://schemas.microsoft.com/office/drawing/2014/main" id="{97FA1781-92FE-432F-A26B-95766FCD0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2642"/>
              <a:ext cx="42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6" name="Line 21">
              <a:extLst>
                <a:ext uri="{FF2B5EF4-FFF2-40B4-BE49-F238E27FC236}">
                  <a16:creationId xmlns:a16="http://schemas.microsoft.com/office/drawing/2014/main" id="{58E7B9D7-E89B-48BB-B110-365A60C2D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3" y="1965"/>
              <a:ext cx="3444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7" name="Line 22">
              <a:extLst>
                <a:ext uri="{FF2B5EF4-FFF2-40B4-BE49-F238E27FC236}">
                  <a16:creationId xmlns:a16="http://schemas.microsoft.com/office/drawing/2014/main" id="{4B1B8B51-BF43-492A-8908-F7FC309B38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1965"/>
              <a:ext cx="817" cy="317"/>
            </a:xfrm>
            <a:prstGeom prst="line">
              <a:avLst/>
            </a:prstGeom>
            <a:noFill/>
            <a:ln w="12700" cap="rnd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8" name="Line 23">
              <a:extLst>
                <a:ext uri="{FF2B5EF4-FFF2-40B4-BE49-F238E27FC236}">
                  <a16:creationId xmlns:a16="http://schemas.microsoft.com/office/drawing/2014/main" id="{36B97582-F7C2-44F7-8AEA-A9716074E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" y="2282"/>
              <a:ext cx="0" cy="72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/>
            </a:p>
          </p:txBody>
        </p:sp>
        <p:sp>
          <p:nvSpPr>
            <p:cNvPr id="12319" name="Line 94">
              <a:extLst>
                <a:ext uri="{FF2B5EF4-FFF2-40B4-BE49-F238E27FC236}">
                  <a16:creationId xmlns:a16="http://schemas.microsoft.com/office/drawing/2014/main" id="{E054C8E3-7A6A-4E8F-BCBD-2EED5424A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6" y="1965"/>
              <a:ext cx="0" cy="10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2320" name="Line 101">
              <a:extLst>
                <a:ext uri="{FF2B5EF4-FFF2-40B4-BE49-F238E27FC236}">
                  <a16:creationId xmlns:a16="http://schemas.microsoft.com/office/drawing/2014/main" id="{DBD22B1B-90A1-4B69-B78A-19F3E8494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1965"/>
              <a:ext cx="0" cy="10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2321" name="Line 108">
              <a:extLst>
                <a:ext uri="{FF2B5EF4-FFF2-40B4-BE49-F238E27FC236}">
                  <a16:creationId xmlns:a16="http://schemas.microsoft.com/office/drawing/2014/main" id="{3F2F6552-0FD0-4507-B096-7C51CC4D3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4" y="1965"/>
              <a:ext cx="0" cy="10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ko-KR" altLang="en-US"/>
            </a:p>
          </p:txBody>
        </p:sp>
        <p:sp>
          <p:nvSpPr>
            <p:cNvPr id="12322" name="Text Box 114">
              <a:extLst>
                <a:ext uri="{FF2B5EF4-FFF2-40B4-BE49-F238E27FC236}">
                  <a16:creationId xmlns:a16="http://schemas.microsoft.com/office/drawing/2014/main" id="{279C0EA0-246B-4B08-9C45-90617E868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" y="1933"/>
              <a:ext cx="3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b="1"/>
                <a:t>AB</a:t>
              </a:r>
            </a:p>
          </p:txBody>
        </p:sp>
        <p:sp>
          <p:nvSpPr>
            <p:cNvPr id="12323" name="Text Box 115">
              <a:extLst>
                <a:ext uri="{FF2B5EF4-FFF2-40B4-BE49-F238E27FC236}">
                  <a16:creationId xmlns:a16="http://schemas.microsoft.com/office/drawing/2014/main" id="{02DC6B60-1153-43AF-B1C7-8F4979EFC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" y="2056"/>
              <a:ext cx="21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en-US" altLang="ko-KR" b="1"/>
                <a:t>C</a:t>
              </a:r>
            </a:p>
          </p:txBody>
        </p:sp>
      </p:grpSp>
      <p:sp>
        <p:nvSpPr>
          <p:cNvPr id="12293" name="Text Box 116">
            <a:extLst>
              <a:ext uri="{FF2B5EF4-FFF2-40B4-BE49-F238E27FC236}">
                <a16:creationId xmlns:a16="http://schemas.microsoft.com/office/drawing/2014/main" id="{A4E2D08A-DE57-4FA9-8C31-E6E359436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4992688"/>
            <a:ext cx="2552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[</a:t>
            </a:r>
            <a:r>
              <a:rPr lang="ko-KR" altLang="en-US" b="1"/>
              <a:t>그림</a:t>
            </a:r>
            <a:r>
              <a:rPr lang="en-US" altLang="ko-KR" b="1"/>
              <a:t>] 3</a:t>
            </a:r>
            <a:r>
              <a:rPr lang="ko-KR" altLang="en-US" b="1"/>
              <a:t>변수 카르노 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D5FBECDC-5E91-4DD9-A49C-8ED3554D0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FA0DC47-9487-45E0-A1A5-358FF7EBA78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Text Box 2">
            <a:extLst>
              <a:ext uri="{FF2B5EF4-FFF2-40B4-BE49-F238E27FC236}">
                <a16:creationId xmlns:a16="http://schemas.microsoft.com/office/drawing/2014/main" id="{06026BD5-7171-481E-8788-7CB1A445A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836613"/>
            <a:ext cx="856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F = A’B’C’ + A’BC’ + AB’C’ + AB’C = AB’ +A’C’</a:t>
            </a:r>
            <a:endParaRPr lang="en-US" altLang="ko-KR" b="1"/>
          </a:p>
        </p:txBody>
      </p:sp>
      <p:sp>
        <p:nvSpPr>
          <p:cNvPr id="13316" name="Text Box 34">
            <a:extLst>
              <a:ext uri="{FF2B5EF4-FFF2-40B4-BE49-F238E27FC236}">
                <a16:creationId xmlns:a16="http://schemas.microsoft.com/office/drawing/2014/main" id="{343AC6B0-A4F6-42B0-9F7E-35B911261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797425"/>
            <a:ext cx="32242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[</a:t>
            </a:r>
            <a:r>
              <a:rPr lang="ko-KR" altLang="en-US" b="1"/>
              <a:t>그림</a:t>
            </a:r>
            <a:r>
              <a:rPr lang="en-US" altLang="ko-KR" b="1"/>
              <a:t>] 3</a:t>
            </a:r>
            <a:r>
              <a:rPr lang="ko-KR" altLang="en-US" b="1"/>
              <a:t>변수 논리식의 간략화</a:t>
            </a:r>
          </a:p>
        </p:txBody>
      </p:sp>
      <p:graphicFrame>
        <p:nvGraphicFramePr>
          <p:cNvPr id="157869" name="Group 173">
            <a:extLst>
              <a:ext uri="{FF2B5EF4-FFF2-40B4-BE49-F238E27FC236}">
                <a16:creationId xmlns:a16="http://schemas.microsoft.com/office/drawing/2014/main" id="{39EC1491-9E54-42FD-8A3D-15FAC4AC6B42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2020888"/>
          <a:ext cx="3746500" cy="191293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6328893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862655238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195257183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1473129527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758466768"/>
                    </a:ext>
                  </a:extLst>
                </a:gridCol>
              </a:tblGrid>
              <a:tr h="608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119674"/>
                  </a:ext>
                </a:extLst>
              </a:tr>
              <a:tr h="6572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90095"/>
                  </a:ext>
                </a:extLst>
              </a:tr>
              <a:tr h="647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8042"/>
                  </a:ext>
                </a:extLst>
              </a:tr>
            </a:tbl>
          </a:graphicData>
        </a:graphic>
      </p:graphicFrame>
      <p:sp>
        <p:nvSpPr>
          <p:cNvPr id="13344" name="Text Box 175">
            <a:extLst>
              <a:ext uri="{FF2B5EF4-FFF2-40B4-BE49-F238E27FC236}">
                <a16:creationId xmlns:a16="http://schemas.microsoft.com/office/drawing/2014/main" id="{D9D8F1BF-9CFA-419E-B4DB-482F75B12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2260600"/>
            <a:ext cx="347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C</a:t>
            </a:r>
          </a:p>
        </p:txBody>
      </p:sp>
      <p:sp>
        <p:nvSpPr>
          <p:cNvPr id="13345" name="Text Box 176">
            <a:extLst>
              <a:ext uri="{FF2B5EF4-FFF2-40B4-BE49-F238E27FC236}">
                <a16:creationId xmlns:a16="http://schemas.microsoft.com/office/drawing/2014/main" id="{DFF3D515-9880-4D2F-A438-2EE7E5E64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2005013"/>
            <a:ext cx="481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AB</a:t>
            </a:r>
          </a:p>
        </p:txBody>
      </p:sp>
      <p:graphicFrame>
        <p:nvGraphicFramePr>
          <p:cNvPr id="157873" name="Group 177">
            <a:extLst>
              <a:ext uri="{FF2B5EF4-FFF2-40B4-BE49-F238E27FC236}">
                <a16:creationId xmlns:a16="http://schemas.microsoft.com/office/drawing/2014/main" id="{76F116F2-2AE0-4D6B-BDA3-771E5315977F}"/>
              </a:ext>
            </a:extLst>
          </p:cNvPr>
          <p:cNvGraphicFramePr>
            <a:graphicFrameLocks noGrp="1"/>
          </p:cNvGraphicFramePr>
          <p:nvPr/>
        </p:nvGraphicFramePr>
        <p:xfrm>
          <a:off x="4713288" y="1989138"/>
          <a:ext cx="3746500" cy="1912937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392407833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4266968614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3812198707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3503275775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836894047"/>
                    </a:ext>
                  </a:extLst>
                </a:gridCol>
              </a:tblGrid>
              <a:tr h="608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46843"/>
                  </a:ext>
                </a:extLst>
              </a:tr>
              <a:tr h="6572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274393"/>
                  </a:ext>
                </a:extLst>
              </a:tr>
              <a:tr h="6477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233077"/>
                  </a:ext>
                </a:extLst>
              </a:tr>
            </a:tbl>
          </a:graphicData>
        </a:graphic>
      </p:graphicFrame>
      <p:sp>
        <p:nvSpPr>
          <p:cNvPr id="13373" name="Text Box 206">
            <a:extLst>
              <a:ext uri="{FF2B5EF4-FFF2-40B4-BE49-F238E27FC236}">
                <a16:creationId xmlns:a16="http://schemas.microsoft.com/office/drawing/2014/main" id="{591BB467-426B-44C9-8D2B-5ED88A46D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2228850"/>
            <a:ext cx="347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C</a:t>
            </a:r>
          </a:p>
        </p:txBody>
      </p:sp>
      <p:sp>
        <p:nvSpPr>
          <p:cNvPr id="13374" name="Text Box 207">
            <a:extLst>
              <a:ext uri="{FF2B5EF4-FFF2-40B4-BE49-F238E27FC236}">
                <a16:creationId xmlns:a16="http://schemas.microsoft.com/office/drawing/2014/main" id="{E6E4F0AB-E767-4CF0-9B0E-E02F032B8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63" y="1973263"/>
            <a:ext cx="481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AB</a:t>
            </a:r>
          </a:p>
        </p:txBody>
      </p:sp>
      <p:sp>
        <p:nvSpPr>
          <p:cNvPr id="13375" name="Rectangle 208">
            <a:extLst>
              <a:ext uri="{FF2B5EF4-FFF2-40B4-BE49-F238E27FC236}">
                <a16:creationId xmlns:a16="http://schemas.microsoft.com/office/drawing/2014/main" id="{4615F7FD-07C9-4420-A0DD-AC69D69C6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724150"/>
            <a:ext cx="1152525" cy="433388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376" name="Rectangle 209">
            <a:extLst>
              <a:ext uri="{FF2B5EF4-FFF2-40B4-BE49-F238E27FC236}">
                <a16:creationId xmlns:a16="http://schemas.microsoft.com/office/drawing/2014/main" id="{C781D4E9-8FC4-48E2-8087-1BE6CD67E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2708275"/>
            <a:ext cx="431800" cy="1081088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3377" name="Line 210">
            <a:extLst>
              <a:ext uri="{FF2B5EF4-FFF2-40B4-BE49-F238E27FC236}">
                <a16:creationId xmlns:a16="http://schemas.microsoft.com/office/drawing/2014/main" id="{B04F5700-3E64-4AE1-94D2-CF500C5F73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9338" y="3141663"/>
            <a:ext cx="1152525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78" name="Text Box 211">
            <a:extLst>
              <a:ext uri="{FF2B5EF4-FFF2-40B4-BE49-F238E27FC236}">
                <a16:creationId xmlns:a16="http://schemas.microsoft.com/office/drawing/2014/main" id="{315F2F09-2153-4C54-8754-C6A079046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1363" y="4298950"/>
            <a:ext cx="6397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A’C’</a:t>
            </a:r>
          </a:p>
        </p:txBody>
      </p:sp>
      <p:sp>
        <p:nvSpPr>
          <p:cNvPr id="13379" name="Line 212">
            <a:extLst>
              <a:ext uri="{FF2B5EF4-FFF2-40B4-BE49-F238E27FC236}">
                <a16:creationId xmlns:a16="http://schemas.microsoft.com/office/drawing/2014/main" id="{CCBFBBA2-EE4C-4D75-8C9D-13EB82F77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3789363"/>
            <a:ext cx="215900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3380" name="Text Box 213">
            <a:extLst>
              <a:ext uri="{FF2B5EF4-FFF2-40B4-BE49-F238E27FC236}">
                <a16:creationId xmlns:a16="http://schemas.microsoft.com/office/drawing/2014/main" id="{AFA04D0A-14E7-4B4A-A314-F52856F45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75" y="4586288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AB’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2276C30A-191D-467A-A33C-9686CCEDBA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C8BE1F2-D770-4F36-9E43-870489E04AB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Text Box 4">
            <a:extLst>
              <a:ext uri="{FF2B5EF4-FFF2-40B4-BE49-F238E27FC236}">
                <a16:creationId xmlns:a16="http://schemas.microsoft.com/office/drawing/2014/main" id="{2ADD2C49-A2F0-40B0-8D4D-07F87ABFE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836613"/>
            <a:ext cx="8569325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  (5) 4</a:t>
            </a:r>
            <a:r>
              <a:rPr lang="ko-KR" altLang="en-US" sz="2000" b="1"/>
              <a:t>변수 카르노 맵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</a:t>
            </a:r>
            <a:r>
              <a:rPr lang="ko-KR" altLang="en-US" b="1"/>
              <a:t>논리식의 입력 변수가 </a:t>
            </a:r>
            <a:r>
              <a:rPr lang="en-US" altLang="ko-KR" b="1"/>
              <a:t>4</a:t>
            </a:r>
            <a:r>
              <a:rPr lang="ko-KR" altLang="en-US" b="1"/>
              <a:t>개이면 네 변수로 결합되는 조합의 수는 </a:t>
            </a:r>
            <a:r>
              <a:rPr lang="en-US" altLang="ko-KR" b="1"/>
              <a:t>16(2</a:t>
            </a:r>
            <a:r>
              <a:rPr lang="en-US" altLang="ko-KR" b="1" baseline="30000"/>
              <a:t>4</a:t>
            </a:r>
            <a:r>
              <a:rPr lang="en-US" altLang="ko-KR" b="1"/>
              <a:t>)</a:t>
            </a:r>
            <a:r>
              <a:rPr lang="ko-KR" altLang="en-US" b="1"/>
              <a:t>가지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- 4</a:t>
            </a:r>
            <a:r>
              <a:rPr lang="ko-KR" altLang="en-US" b="1"/>
              <a:t>행 </a:t>
            </a:r>
            <a:r>
              <a:rPr lang="en-US" altLang="ko-KR" b="1"/>
              <a:t>4</a:t>
            </a:r>
            <a:r>
              <a:rPr lang="ko-KR" altLang="en-US" b="1"/>
              <a:t>열의 배열 모양이고 행과 열에 모두 그레이 코드 순으로 배열한다</a:t>
            </a:r>
            <a:r>
              <a:rPr lang="en-US" altLang="ko-KR" b="1"/>
              <a:t>.</a:t>
            </a:r>
          </a:p>
        </p:txBody>
      </p:sp>
      <p:graphicFrame>
        <p:nvGraphicFramePr>
          <p:cNvPr id="158821" name="Group 101">
            <a:extLst>
              <a:ext uri="{FF2B5EF4-FFF2-40B4-BE49-F238E27FC236}">
                <a16:creationId xmlns:a16="http://schemas.microsoft.com/office/drawing/2014/main" id="{8CB8C737-4915-4DA6-A243-27584038100D}"/>
              </a:ext>
            </a:extLst>
          </p:cNvPr>
          <p:cNvGraphicFramePr>
            <a:graphicFrameLocks noGrp="1"/>
          </p:cNvGraphicFramePr>
          <p:nvPr/>
        </p:nvGraphicFramePr>
        <p:xfrm>
          <a:off x="1835150" y="2205038"/>
          <a:ext cx="5837238" cy="2803525"/>
        </p:xfrm>
        <a:graphic>
          <a:graphicData uri="http://schemas.openxmlformats.org/drawingml/2006/table">
            <a:tbl>
              <a:tblPr/>
              <a:tblGrid>
                <a:gridCol w="93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A’B’C’D’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A’BC’D’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ABC’D’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AB’C’D’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A’B’C’D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A’BC’D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ABC’D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A’B’C’D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A’B’CD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A’BCD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ABCD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AB’CD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A’B’CD’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A’BCD’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ABCD’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ABCD’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79" name="Text Box 26">
            <a:extLst>
              <a:ext uri="{FF2B5EF4-FFF2-40B4-BE49-F238E27FC236}">
                <a16:creationId xmlns:a16="http://schemas.microsoft.com/office/drawing/2014/main" id="{422E3A44-CA3C-4996-99FC-DF8E49675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2157413"/>
            <a:ext cx="4810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AB</a:t>
            </a:r>
          </a:p>
        </p:txBody>
      </p:sp>
      <p:sp>
        <p:nvSpPr>
          <p:cNvPr id="14380" name="Text Box 27">
            <a:extLst>
              <a:ext uri="{FF2B5EF4-FFF2-40B4-BE49-F238E27FC236}">
                <a16:creationId xmlns:a16="http://schemas.microsoft.com/office/drawing/2014/main" id="{DE15052B-1956-46C7-A34E-5FCD180CFD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900" y="2363788"/>
            <a:ext cx="50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CD</a:t>
            </a:r>
          </a:p>
        </p:txBody>
      </p:sp>
      <p:sp>
        <p:nvSpPr>
          <p:cNvPr id="14381" name="Text Box 100">
            <a:extLst>
              <a:ext uri="{FF2B5EF4-FFF2-40B4-BE49-F238E27FC236}">
                <a16:creationId xmlns:a16="http://schemas.microsoft.com/office/drawing/2014/main" id="{B15DD624-486A-40B4-822F-0F130E296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5300663"/>
            <a:ext cx="2552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[</a:t>
            </a:r>
            <a:r>
              <a:rPr lang="ko-KR" altLang="en-US" b="1"/>
              <a:t>그림</a:t>
            </a:r>
            <a:r>
              <a:rPr lang="en-US" altLang="ko-KR" b="1"/>
              <a:t>] 4</a:t>
            </a:r>
            <a:r>
              <a:rPr lang="ko-KR" altLang="en-US" b="1"/>
              <a:t>변수 카르노 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99D5BC6A-ED15-4013-AC6B-455FB8DD64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8252B52-5747-46AC-9D32-5C814BE1FD5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801CC25A-683C-4D7C-8A96-166523922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774700"/>
            <a:ext cx="88931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F = A’B’C’D’ + A’BC’D’ + AB’C’D’+ A’BC’D + ABC’D + AB’C’D + A’BCD + ABCD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= A</a:t>
            </a:r>
            <a:r>
              <a:rPr lang="en-US" altLang="ko-KR" b="1">
                <a:latin typeface="Arial" panose="020B0604020202020204" pitchFamily="34" charset="0"/>
              </a:rPr>
              <a:t>’</a:t>
            </a:r>
            <a:r>
              <a:rPr lang="en-US" altLang="ko-KR" b="1"/>
              <a:t>C</a:t>
            </a:r>
            <a:r>
              <a:rPr lang="en-US" altLang="ko-KR" b="1">
                <a:latin typeface="Arial" panose="020B0604020202020204" pitchFamily="34" charset="0"/>
              </a:rPr>
              <a:t>’</a:t>
            </a:r>
            <a:r>
              <a:rPr lang="en-US" altLang="ko-KR" b="1"/>
              <a:t>D</a:t>
            </a:r>
            <a:r>
              <a:rPr lang="en-US" altLang="ko-KR" b="1">
                <a:latin typeface="Arial" panose="020B0604020202020204" pitchFamily="34" charset="0"/>
              </a:rPr>
              <a:t>’</a:t>
            </a:r>
            <a:r>
              <a:rPr lang="en-US" altLang="ko-KR" b="1"/>
              <a:t> + AB</a:t>
            </a:r>
            <a:r>
              <a:rPr lang="en-US" altLang="ko-KR" b="1">
                <a:latin typeface="Arial" panose="020B0604020202020204" pitchFamily="34" charset="0"/>
              </a:rPr>
              <a:t>’</a:t>
            </a:r>
            <a:r>
              <a:rPr lang="en-US" altLang="ko-KR" b="1"/>
              <a:t>C</a:t>
            </a:r>
            <a:r>
              <a:rPr lang="en-US" altLang="ko-KR" b="1">
                <a:latin typeface="Arial" panose="020B0604020202020204" pitchFamily="34" charset="0"/>
              </a:rPr>
              <a:t>’</a:t>
            </a:r>
            <a:r>
              <a:rPr lang="en-US" altLang="ko-KR" b="1"/>
              <a:t> + BD</a:t>
            </a:r>
          </a:p>
        </p:txBody>
      </p:sp>
      <p:graphicFrame>
        <p:nvGraphicFramePr>
          <p:cNvPr id="159840" name="Group 96">
            <a:extLst>
              <a:ext uri="{FF2B5EF4-FFF2-40B4-BE49-F238E27FC236}">
                <a16:creationId xmlns:a16="http://schemas.microsoft.com/office/drawing/2014/main" id="{082C3F2C-4E97-4029-B5CE-6D03D7BB51EB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884363"/>
          <a:ext cx="4110037" cy="2789237"/>
        </p:xfrm>
        <a:graphic>
          <a:graphicData uri="http://schemas.openxmlformats.org/drawingml/2006/table">
            <a:tbl>
              <a:tblPr/>
              <a:tblGrid>
                <a:gridCol w="935037">
                  <a:extLst>
                    <a:ext uri="{9D8B030D-6E8A-4147-A177-3AD203B41FA5}">
                      <a16:colId xmlns:a16="http://schemas.microsoft.com/office/drawing/2014/main" val="218539748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296542848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388181173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7801359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3579371679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20054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757239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1728261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246223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47241"/>
                  </a:ext>
                </a:extLst>
              </a:tr>
            </a:tbl>
          </a:graphicData>
        </a:graphic>
      </p:graphicFrame>
      <p:sp>
        <p:nvSpPr>
          <p:cNvPr id="15403" name="Text Box 44">
            <a:extLst>
              <a:ext uri="{FF2B5EF4-FFF2-40B4-BE49-F238E27FC236}">
                <a16:creationId xmlns:a16="http://schemas.microsoft.com/office/drawing/2014/main" id="{9BD9F935-89A7-48F2-9524-2BD0407AA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1836738"/>
            <a:ext cx="481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AB</a:t>
            </a:r>
          </a:p>
        </p:txBody>
      </p:sp>
      <p:sp>
        <p:nvSpPr>
          <p:cNvPr id="15404" name="Text Box 45">
            <a:extLst>
              <a:ext uri="{FF2B5EF4-FFF2-40B4-BE49-F238E27FC236}">
                <a16:creationId xmlns:a16="http://schemas.microsoft.com/office/drawing/2014/main" id="{15C99625-025E-408F-9475-37F812409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38" y="2043113"/>
            <a:ext cx="50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CD</a:t>
            </a:r>
          </a:p>
        </p:txBody>
      </p:sp>
      <p:sp>
        <p:nvSpPr>
          <p:cNvPr id="15405" name="Text Box 46">
            <a:extLst>
              <a:ext uri="{FF2B5EF4-FFF2-40B4-BE49-F238E27FC236}">
                <a16:creationId xmlns:a16="http://schemas.microsoft.com/office/drawing/2014/main" id="{A83C8069-DA6D-4652-A15F-405103C0A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5510213"/>
            <a:ext cx="32242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[</a:t>
            </a:r>
            <a:r>
              <a:rPr lang="ko-KR" altLang="en-US" b="1"/>
              <a:t>그림</a:t>
            </a:r>
            <a:r>
              <a:rPr lang="en-US" altLang="ko-KR" b="1"/>
              <a:t>] 4</a:t>
            </a:r>
            <a:r>
              <a:rPr lang="ko-KR" altLang="en-US" b="1"/>
              <a:t>변수 논리식의 간략화</a:t>
            </a:r>
          </a:p>
        </p:txBody>
      </p:sp>
      <p:graphicFrame>
        <p:nvGraphicFramePr>
          <p:cNvPr id="159884" name="Group 140">
            <a:extLst>
              <a:ext uri="{FF2B5EF4-FFF2-40B4-BE49-F238E27FC236}">
                <a16:creationId xmlns:a16="http://schemas.microsoft.com/office/drawing/2014/main" id="{06A652EF-066F-4E20-B1D4-1D8A118D6AAD}"/>
              </a:ext>
            </a:extLst>
          </p:cNvPr>
          <p:cNvGraphicFramePr>
            <a:graphicFrameLocks noGrp="1"/>
          </p:cNvGraphicFramePr>
          <p:nvPr/>
        </p:nvGraphicFramePr>
        <p:xfrm>
          <a:off x="4700588" y="1878013"/>
          <a:ext cx="4110037" cy="2760662"/>
        </p:xfrm>
        <a:graphic>
          <a:graphicData uri="http://schemas.openxmlformats.org/drawingml/2006/table">
            <a:tbl>
              <a:tblPr/>
              <a:tblGrid>
                <a:gridCol w="935037">
                  <a:extLst>
                    <a:ext uri="{9D8B030D-6E8A-4147-A177-3AD203B41FA5}">
                      <a16:colId xmlns:a16="http://schemas.microsoft.com/office/drawing/2014/main" val="240325950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744419073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3479026701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132576282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002299178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589613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121212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986780"/>
                  </a:ext>
                </a:extLst>
              </a:tr>
              <a:tr h="5715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849242"/>
                  </a:ext>
                </a:extLst>
              </a:tr>
              <a:tr h="542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0652729"/>
                  </a:ext>
                </a:extLst>
              </a:tr>
            </a:tbl>
          </a:graphicData>
        </a:graphic>
      </p:graphicFrame>
      <p:sp>
        <p:nvSpPr>
          <p:cNvPr id="15445" name="Text Box 138">
            <a:extLst>
              <a:ext uri="{FF2B5EF4-FFF2-40B4-BE49-F238E27FC236}">
                <a16:creationId xmlns:a16="http://schemas.microsoft.com/office/drawing/2014/main" id="{739AF8E5-FA44-48BA-AE00-049D3B95E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6038" y="1830388"/>
            <a:ext cx="481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AB</a:t>
            </a:r>
          </a:p>
        </p:txBody>
      </p:sp>
      <p:sp>
        <p:nvSpPr>
          <p:cNvPr id="15446" name="Text Box 139">
            <a:extLst>
              <a:ext uri="{FF2B5EF4-FFF2-40B4-BE49-F238E27FC236}">
                <a16:creationId xmlns:a16="http://schemas.microsoft.com/office/drawing/2014/main" id="{9216150B-C96A-4395-A4F0-D3251E864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036763"/>
            <a:ext cx="50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CD</a:t>
            </a:r>
          </a:p>
        </p:txBody>
      </p:sp>
      <p:sp>
        <p:nvSpPr>
          <p:cNvPr id="15447" name="Rectangle 141">
            <a:extLst>
              <a:ext uri="{FF2B5EF4-FFF2-40B4-BE49-F238E27FC236}">
                <a16:creationId xmlns:a16="http://schemas.microsoft.com/office/drawing/2014/main" id="{F5D88443-1A56-4A2E-83A2-A1E422EE1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2501900"/>
            <a:ext cx="1223962" cy="358775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5448" name="Rectangle 142">
            <a:extLst>
              <a:ext uri="{FF2B5EF4-FFF2-40B4-BE49-F238E27FC236}">
                <a16:creationId xmlns:a16="http://schemas.microsoft.com/office/drawing/2014/main" id="{49861A24-8836-45AA-AA4B-2610C7494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6263" y="2454275"/>
            <a:ext cx="431800" cy="1008063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5449" name="Rectangle 143">
            <a:extLst>
              <a:ext uri="{FF2B5EF4-FFF2-40B4-BE49-F238E27FC236}">
                <a16:creationId xmlns:a16="http://schemas.microsoft.com/office/drawing/2014/main" id="{E33D8BCD-D2C9-40F0-9B9B-5BF00FCA8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3060700"/>
            <a:ext cx="1152525" cy="936625"/>
          </a:xfrm>
          <a:prstGeom prst="rect">
            <a:avLst/>
          </a:prstGeom>
          <a:noFill/>
          <a:ln w="9525" algn="ctr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5450" name="Text Box 144">
            <a:extLst>
              <a:ext uri="{FF2B5EF4-FFF2-40B4-BE49-F238E27FC236}">
                <a16:creationId xmlns:a16="http://schemas.microsoft.com/office/drawing/2014/main" id="{7A5D84EE-DBB2-49B0-ACCB-64B8AB8B7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5005388"/>
            <a:ext cx="876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A’C’D’</a:t>
            </a:r>
          </a:p>
        </p:txBody>
      </p:sp>
      <p:sp>
        <p:nvSpPr>
          <p:cNvPr id="15451" name="Text Box 145">
            <a:extLst>
              <a:ext uri="{FF2B5EF4-FFF2-40B4-BE49-F238E27FC236}">
                <a16:creationId xmlns:a16="http://schemas.microsoft.com/office/drawing/2014/main" id="{FB763828-B39C-4BA2-BB81-A9F7BE14A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4860925"/>
            <a:ext cx="498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BD</a:t>
            </a:r>
          </a:p>
        </p:txBody>
      </p:sp>
      <p:sp>
        <p:nvSpPr>
          <p:cNvPr id="15452" name="Text Box 146">
            <a:extLst>
              <a:ext uri="{FF2B5EF4-FFF2-40B4-BE49-F238E27FC236}">
                <a16:creationId xmlns:a16="http://schemas.microsoft.com/office/drawing/2014/main" id="{2C137AA6-CE8C-4E68-9FB8-7DBE41045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5076825"/>
            <a:ext cx="792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AB’C’</a:t>
            </a:r>
          </a:p>
        </p:txBody>
      </p:sp>
      <p:sp>
        <p:nvSpPr>
          <p:cNvPr id="15453" name="Line 147">
            <a:extLst>
              <a:ext uri="{FF2B5EF4-FFF2-40B4-BE49-F238E27FC236}">
                <a16:creationId xmlns:a16="http://schemas.microsoft.com/office/drawing/2014/main" id="{30789528-3CEA-4843-8F95-770219B21D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2725" y="2917825"/>
            <a:ext cx="792163" cy="2087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5454" name="Line 148">
            <a:extLst>
              <a:ext uri="{FF2B5EF4-FFF2-40B4-BE49-F238E27FC236}">
                <a16:creationId xmlns:a16="http://schemas.microsoft.com/office/drawing/2014/main" id="{72D10756-1C2D-4E4D-8F92-BC661F7D02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9925" y="3997325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5455" name="Line 149">
            <a:extLst>
              <a:ext uri="{FF2B5EF4-FFF2-40B4-BE49-F238E27FC236}">
                <a16:creationId xmlns:a16="http://schemas.microsoft.com/office/drawing/2014/main" id="{19C384F7-B35E-4B77-A784-7E8131F2B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8038" y="3502025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0AE331BA-0531-4C10-9296-B2C9F2EEF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15806C3-7248-41F4-AC9A-EA226F307FD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Text Box 4">
            <a:extLst>
              <a:ext uri="{FF2B5EF4-FFF2-40B4-BE49-F238E27FC236}">
                <a16:creationId xmlns:a16="http://schemas.microsoft.com/office/drawing/2014/main" id="{394DB2E3-21A3-4692-A19F-956829A14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19907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3. </a:t>
            </a:r>
            <a:r>
              <a:rPr lang="ko-KR" altLang="en-US" sz="2200" b="1"/>
              <a:t>논리 게이트</a:t>
            </a:r>
          </a:p>
        </p:txBody>
      </p:sp>
      <p:sp>
        <p:nvSpPr>
          <p:cNvPr id="16388" name="Text Box 6">
            <a:extLst>
              <a:ext uri="{FF2B5EF4-FFF2-40B4-BE49-F238E27FC236}">
                <a16:creationId xmlns:a16="http://schemas.microsoft.com/office/drawing/2014/main" id="{8A08228A-D2D7-4F7C-8ED7-BFC568291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125538"/>
            <a:ext cx="5729288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(1) </a:t>
            </a:r>
            <a:r>
              <a:rPr lang="ko-KR" altLang="en-US" sz="2000" b="1"/>
              <a:t>종류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논리곱</a:t>
            </a:r>
            <a:r>
              <a:rPr lang="en-US" altLang="ko-KR" b="1"/>
              <a:t>(AND)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- </a:t>
            </a:r>
            <a:r>
              <a:rPr lang="ko-KR" altLang="en-US" b="1"/>
              <a:t>입력 정보의 값이 모두 </a:t>
            </a:r>
            <a:r>
              <a:rPr lang="en-US" altLang="ko-KR" b="1"/>
              <a:t>1</a:t>
            </a:r>
            <a:r>
              <a:rPr lang="ko-KR" altLang="en-US" b="1"/>
              <a:t>일 때만 결과가 </a:t>
            </a:r>
            <a:r>
              <a:rPr lang="en-US" altLang="ko-KR" b="1"/>
              <a:t>1</a:t>
            </a:r>
            <a:r>
              <a:rPr lang="ko-KR" altLang="en-US" b="1"/>
              <a:t>이 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 </a:t>
            </a:r>
            <a:r>
              <a:rPr lang="ko-KR" altLang="en-US" b="1"/>
              <a:t>논리 대수 표현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</a:t>
            </a:r>
            <a:r>
              <a:rPr lang="en-US" altLang="ko-KR" b="1"/>
              <a:t>Y = A</a:t>
            </a:r>
            <a:r>
              <a:rPr lang="ko-KR" altLang="en-US" b="1"/>
              <a:t>ㆍ</a:t>
            </a:r>
            <a:r>
              <a:rPr lang="en-US" altLang="ko-KR" b="1"/>
              <a:t>B  </a:t>
            </a:r>
            <a:r>
              <a:rPr lang="ko-KR" altLang="en-US" b="1"/>
              <a:t>또는 </a:t>
            </a:r>
            <a:r>
              <a:rPr lang="en-US" altLang="ko-KR" b="1"/>
              <a:t>Y=AB</a:t>
            </a:r>
          </a:p>
        </p:txBody>
      </p:sp>
      <p:pic>
        <p:nvPicPr>
          <p:cNvPr id="16389" name="Picture 7">
            <a:extLst>
              <a:ext uri="{FF2B5EF4-FFF2-40B4-BE49-F238E27FC236}">
                <a16:creationId xmlns:a16="http://schemas.microsoft.com/office/drawing/2014/main" id="{69FBF471-BB8F-4685-8A48-D304B3BA3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502025"/>
            <a:ext cx="2160587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9">
            <a:extLst>
              <a:ext uri="{FF2B5EF4-FFF2-40B4-BE49-F238E27FC236}">
                <a16:creationId xmlns:a16="http://schemas.microsoft.com/office/drawing/2014/main" id="{9643FDAF-9516-4576-AEA5-44BCAAE9D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951413"/>
            <a:ext cx="14398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a) </a:t>
            </a:r>
            <a:r>
              <a:rPr lang="ko-KR" altLang="en-US" b="1"/>
              <a:t>논리 기호</a:t>
            </a:r>
          </a:p>
        </p:txBody>
      </p:sp>
      <p:sp>
        <p:nvSpPr>
          <p:cNvPr id="16391" name="Text Box 10">
            <a:extLst>
              <a:ext uri="{FF2B5EF4-FFF2-40B4-BE49-F238E27FC236}">
                <a16:creationId xmlns:a16="http://schemas.microsoft.com/office/drawing/2014/main" id="{3F73A235-9C78-41FF-BB4F-DF7EBD455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4941888"/>
            <a:ext cx="21209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b) </a:t>
            </a:r>
            <a:r>
              <a:rPr lang="ko-KR" altLang="en-US" b="1"/>
              <a:t>게이트의 진리표</a:t>
            </a:r>
          </a:p>
        </p:txBody>
      </p:sp>
      <p:graphicFrame>
        <p:nvGraphicFramePr>
          <p:cNvPr id="160877" name="Group 109">
            <a:extLst>
              <a:ext uri="{FF2B5EF4-FFF2-40B4-BE49-F238E27FC236}">
                <a16:creationId xmlns:a16="http://schemas.microsoft.com/office/drawing/2014/main" id="{850A8CE6-97D9-4B2C-8AFD-1E601EE274BC}"/>
              </a:ext>
            </a:extLst>
          </p:cNvPr>
          <p:cNvGraphicFramePr>
            <a:graphicFrameLocks noGrp="1"/>
          </p:cNvGraphicFramePr>
          <p:nvPr/>
        </p:nvGraphicFramePr>
        <p:xfrm>
          <a:off x="5003800" y="2852738"/>
          <a:ext cx="3695700" cy="2011362"/>
        </p:xfrm>
        <a:graphic>
          <a:graphicData uri="http://schemas.openxmlformats.org/drawingml/2006/table">
            <a:tbl>
              <a:tblPr/>
              <a:tblGrid>
                <a:gridCol w="1176338">
                  <a:extLst>
                    <a:ext uri="{9D8B030D-6E8A-4147-A177-3AD203B41FA5}">
                      <a16:colId xmlns:a16="http://schemas.microsoft.com/office/drawing/2014/main" val="2984635254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51767534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117115447"/>
                    </a:ext>
                  </a:extLst>
                </a:gridCol>
              </a:tblGrid>
              <a:tr h="335227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   력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  력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928555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643828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075606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845031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246832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492703"/>
                  </a:ext>
                </a:extLst>
              </a:tr>
            </a:tbl>
          </a:graphicData>
        </a:graphic>
      </p:graphicFrame>
      <p:sp>
        <p:nvSpPr>
          <p:cNvPr id="16421" name="Text Box 110">
            <a:extLst>
              <a:ext uri="{FF2B5EF4-FFF2-40B4-BE49-F238E27FC236}">
                <a16:creationId xmlns:a16="http://schemas.microsoft.com/office/drawing/2014/main" id="{5B4EFF8E-B1CA-4865-AF2D-E324C668D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300663"/>
            <a:ext cx="809307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※</a:t>
            </a:r>
            <a:r>
              <a:rPr lang="en-US" altLang="ko-KR" b="1"/>
              <a:t> </a:t>
            </a:r>
            <a:r>
              <a:rPr lang="ko-KR" altLang="en-US" b="1"/>
              <a:t>의미 </a:t>
            </a:r>
          </a:p>
          <a:p>
            <a:pPr eaLnBrk="1" hangingPunct="1"/>
            <a:r>
              <a:rPr lang="ko-KR" altLang="en-US" b="1"/>
              <a:t>   </a:t>
            </a:r>
            <a:r>
              <a:rPr lang="en-US" altLang="ko-KR" b="1"/>
              <a:t>. </a:t>
            </a:r>
            <a:r>
              <a:rPr lang="ko-KR" altLang="en-US" b="1"/>
              <a:t>입력 정보의 값이 모두 </a:t>
            </a:r>
            <a:r>
              <a:rPr lang="en-US" altLang="ko-KR" b="1"/>
              <a:t>1</a:t>
            </a:r>
            <a:r>
              <a:rPr lang="ko-KR" altLang="en-US" b="1"/>
              <a:t>일 때만 결과가 </a:t>
            </a:r>
            <a:r>
              <a:rPr lang="en-US" altLang="ko-KR" b="1"/>
              <a:t>1</a:t>
            </a:r>
            <a:r>
              <a:rPr lang="ko-KR" altLang="en-US" b="1"/>
              <a:t>이 됨</a:t>
            </a:r>
          </a:p>
          <a:p>
            <a:pPr eaLnBrk="1" hangingPunct="1"/>
            <a:r>
              <a:rPr lang="ko-KR" altLang="en-US" b="1"/>
              <a:t>   </a:t>
            </a:r>
            <a:r>
              <a:rPr lang="en-US" altLang="ko-KR" b="1"/>
              <a:t>. </a:t>
            </a:r>
            <a:r>
              <a:rPr lang="ko-KR" altLang="en-US" b="1"/>
              <a:t>비수치 데이터에서 마스크를 이용하여 불필요한 부분을 제거하기 위한 연산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BCCA2E2C-9CD3-4AFD-8202-C97D8CD49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D70638D-89C4-4459-90F5-C2EB4986B98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8CC3B9DC-0F01-45AA-8216-DA8E08E3F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65188"/>
            <a:ext cx="6773863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2) </a:t>
            </a:r>
            <a:r>
              <a:rPr lang="ko-KR" altLang="en-US" b="1"/>
              <a:t>논리합</a:t>
            </a:r>
            <a:r>
              <a:rPr lang="en-US" altLang="ko-KR" b="1"/>
              <a:t>(OR)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- </a:t>
            </a:r>
            <a:r>
              <a:rPr lang="ko-KR" altLang="en-US" b="1"/>
              <a:t>입력 정보의 값이 둘 중의 하나만이라도 </a:t>
            </a:r>
            <a:r>
              <a:rPr lang="en-US" altLang="ko-KR" b="1"/>
              <a:t>1</a:t>
            </a:r>
            <a:r>
              <a:rPr lang="ko-KR" altLang="en-US" b="1"/>
              <a:t>일 떄 출력 값 </a:t>
            </a:r>
            <a:r>
              <a:rPr lang="en-US" altLang="ko-KR" b="1"/>
              <a:t>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- </a:t>
            </a:r>
            <a:r>
              <a:rPr lang="ko-KR" altLang="en-US" b="1"/>
              <a:t>논리 대수 표현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</a:t>
            </a:r>
            <a:r>
              <a:rPr lang="en-US" altLang="ko-KR" b="1"/>
              <a:t>Y = A + B </a:t>
            </a:r>
          </a:p>
        </p:txBody>
      </p:sp>
      <p:sp>
        <p:nvSpPr>
          <p:cNvPr id="17412" name="Text Box 6">
            <a:extLst>
              <a:ext uri="{FF2B5EF4-FFF2-40B4-BE49-F238E27FC236}">
                <a16:creationId xmlns:a16="http://schemas.microsoft.com/office/drawing/2014/main" id="{2CCC6EA5-EB0C-47C4-A424-851A9D530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4689475"/>
            <a:ext cx="14398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a) </a:t>
            </a:r>
            <a:r>
              <a:rPr lang="ko-KR" altLang="en-US" b="1"/>
              <a:t>논리 기호</a:t>
            </a:r>
          </a:p>
        </p:txBody>
      </p:sp>
      <p:sp>
        <p:nvSpPr>
          <p:cNvPr id="17413" name="Text Box 7">
            <a:extLst>
              <a:ext uri="{FF2B5EF4-FFF2-40B4-BE49-F238E27FC236}">
                <a16:creationId xmlns:a16="http://schemas.microsoft.com/office/drawing/2014/main" id="{1DD935CF-3A32-4D0A-9DB8-6A6C42C1B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4648200"/>
            <a:ext cx="21209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b) </a:t>
            </a:r>
            <a:r>
              <a:rPr lang="ko-KR" altLang="en-US" b="1"/>
              <a:t>게이트의 진리표</a:t>
            </a:r>
          </a:p>
        </p:txBody>
      </p:sp>
      <p:graphicFrame>
        <p:nvGraphicFramePr>
          <p:cNvPr id="161800" name="Group 8">
            <a:extLst>
              <a:ext uri="{FF2B5EF4-FFF2-40B4-BE49-F238E27FC236}">
                <a16:creationId xmlns:a16="http://schemas.microsoft.com/office/drawing/2014/main" id="{B5103F75-2E1E-4976-A1EE-1C12A14DF068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2559050"/>
          <a:ext cx="3695700" cy="2011363"/>
        </p:xfrm>
        <a:graphic>
          <a:graphicData uri="http://schemas.openxmlformats.org/drawingml/2006/table">
            <a:tbl>
              <a:tblPr/>
              <a:tblGrid>
                <a:gridCol w="1176337">
                  <a:extLst>
                    <a:ext uri="{9D8B030D-6E8A-4147-A177-3AD203B41FA5}">
                      <a16:colId xmlns:a16="http://schemas.microsoft.com/office/drawing/2014/main" val="83707399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338871743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6129566"/>
                    </a:ext>
                  </a:extLst>
                </a:gridCol>
              </a:tblGrid>
              <a:tr h="335227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   력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  력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8313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7749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586915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919862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808601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624745"/>
                  </a:ext>
                </a:extLst>
              </a:tr>
            </a:tbl>
          </a:graphicData>
        </a:graphic>
      </p:graphicFrame>
      <p:pic>
        <p:nvPicPr>
          <p:cNvPr id="17443" name="Picture 37">
            <a:extLst>
              <a:ext uri="{FF2B5EF4-FFF2-40B4-BE49-F238E27FC236}">
                <a16:creationId xmlns:a16="http://schemas.microsoft.com/office/drawing/2014/main" id="{03F93028-BF03-441D-98CC-0CD7EB12E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8" y="2997200"/>
            <a:ext cx="2374900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44" name="Text Box 38">
            <a:extLst>
              <a:ext uri="{FF2B5EF4-FFF2-40B4-BE49-F238E27FC236}">
                <a16:creationId xmlns:a16="http://schemas.microsoft.com/office/drawing/2014/main" id="{D0891E52-AF2B-42E5-94C7-AE9DCB5CA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300663"/>
            <a:ext cx="84201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※</a:t>
            </a:r>
            <a:r>
              <a:rPr lang="en-US" altLang="ko-KR" b="1"/>
              <a:t> </a:t>
            </a:r>
            <a:r>
              <a:rPr lang="ko-KR" altLang="en-US" b="1"/>
              <a:t>의미 </a:t>
            </a:r>
          </a:p>
          <a:p>
            <a:pPr eaLnBrk="1" hangingPunct="1"/>
            <a:r>
              <a:rPr lang="ko-KR" altLang="en-US" b="1"/>
              <a:t>   </a:t>
            </a:r>
            <a:r>
              <a:rPr lang="en-US" altLang="ko-KR" b="1"/>
              <a:t>. </a:t>
            </a:r>
            <a:r>
              <a:rPr lang="ko-KR" altLang="en-US" b="1"/>
              <a:t>입력 정보의 값이 한 개라도 </a:t>
            </a:r>
            <a:r>
              <a:rPr lang="en-US" altLang="ko-KR" b="1"/>
              <a:t>1 </a:t>
            </a:r>
            <a:r>
              <a:rPr lang="ko-KR" altLang="en-US" b="1"/>
              <a:t>이면 결과가 </a:t>
            </a:r>
            <a:r>
              <a:rPr lang="en-US" altLang="ko-KR" b="1"/>
              <a:t>1</a:t>
            </a:r>
            <a:r>
              <a:rPr lang="ko-KR" altLang="en-US" b="1"/>
              <a:t>이다</a:t>
            </a:r>
            <a:r>
              <a:rPr lang="en-US" altLang="ko-KR" b="1"/>
              <a:t>.</a:t>
            </a:r>
          </a:p>
          <a:p>
            <a:pPr eaLnBrk="1" hangingPunct="1"/>
            <a:r>
              <a:rPr lang="en-US" altLang="ko-KR" b="1"/>
              <a:t>   . Selective Set </a:t>
            </a:r>
            <a:r>
              <a:rPr lang="ko-KR" altLang="en-US" b="1"/>
              <a:t>연산에 사용 </a:t>
            </a:r>
            <a:r>
              <a:rPr lang="en-US" altLang="ko-KR" b="1"/>
              <a:t>(</a:t>
            </a:r>
            <a:r>
              <a:rPr lang="ko-KR" altLang="en-US" b="1"/>
              <a:t>두 개의 데이터를 섞거나 일부에 삽입하는 데 사용</a:t>
            </a:r>
            <a:r>
              <a:rPr lang="en-US" altLang="ko-KR" b="1"/>
              <a:t>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1">
            <a:extLst>
              <a:ext uri="{FF2B5EF4-FFF2-40B4-BE49-F238E27FC236}">
                <a16:creationId xmlns:a16="http://schemas.microsoft.com/office/drawing/2014/main" id="{A016E882-83BE-4758-8EEC-A781FA9D2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0FF8DBC-C3A3-426E-A8A6-23352890FC6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8435" name="Text Box 5">
            <a:extLst>
              <a:ext uri="{FF2B5EF4-FFF2-40B4-BE49-F238E27FC236}">
                <a16:creationId xmlns:a16="http://schemas.microsoft.com/office/drawing/2014/main" id="{1F78BC50-0005-407A-8B43-5E7F3B19A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65188"/>
            <a:ext cx="375602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논리 부정 </a:t>
            </a:r>
            <a:r>
              <a:rPr lang="en-US" altLang="ko-KR" b="1"/>
              <a:t>(NOT)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입력 정보의 반대 값이 출력 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논리 대수 표현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Y = A , Y = A</a:t>
            </a:r>
            <a:r>
              <a:rPr lang="en-US" altLang="ko-KR" b="1">
                <a:latin typeface="Arial" panose="020B0604020202020204" pitchFamily="34" charset="0"/>
              </a:rPr>
              <a:t>’</a:t>
            </a:r>
            <a:r>
              <a:rPr lang="en-US" altLang="ko-KR" b="1"/>
              <a:t> </a:t>
            </a:r>
          </a:p>
        </p:txBody>
      </p:sp>
      <p:sp>
        <p:nvSpPr>
          <p:cNvPr id="18436" name="Text Box 6">
            <a:extLst>
              <a:ext uri="{FF2B5EF4-FFF2-40B4-BE49-F238E27FC236}">
                <a16:creationId xmlns:a16="http://schemas.microsoft.com/office/drawing/2014/main" id="{19F2C57A-B851-4139-BFA6-5FE7BC30A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686175"/>
            <a:ext cx="14398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a) </a:t>
            </a:r>
            <a:r>
              <a:rPr lang="ko-KR" altLang="en-US" b="1"/>
              <a:t>논리 기호</a:t>
            </a:r>
          </a:p>
        </p:txBody>
      </p:sp>
      <p:sp>
        <p:nvSpPr>
          <p:cNvPr id="18437" name="Text Box 7">
            <a:extLst>
              <a:ext uri="{FF2B5EF4-FFF2-40B4-BE49-F238E27FC236}">
                <a16:creationId xmlns:a16="http://schemas.microsoft.com/office/drawing/2014/main" id="{13183F5D-1EB0-42BF-8555-FCA1B7E11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582988"/>
            <a:ext cx="21209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b) </a:t>
            </a:r>
            <a:r>
              <a:rPr lang="ko-KR" altLang="en-US" b="1"/>
              <a:t>게이트의 진리표</a:t>
            </a:r>
          </a:p>
        </p:txBody>
      </p:sp>
      <p:graphicFrame>
        <p:nvGraphicFramePr>
          <p:cNvPr id="162859" name="Group 43">
            <a:extLst>
              <a:ext uri="{FF2B5EF4-FFF2-40B4-BE49-F238E27FC236}">
                <a16:creationId xmlns:a16="http://schemas.microsoft.com/office/drawing/2014/main" id="{545F3651-589D-47BD-BA9F-B18F96D85FE4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2133600"/>
          <a:ext cx="2400300" cy="1341438"/>
        </p:xfrm>
        <a:graphic>
          <a:graphicData uri="http://schemas.openxmlformats.org/drawingml/2006/table">
            <a:tbl>
              <a:tblPr/>
              <a:tblGrid>
                <a:gridCol w="1176337">
                  <a:extLst>
                    <a:ext uri="{9D8B030D-6E8A-4147-A177-3AD203B41FA5}">
                      <a16:colId xmlns:a16="http://schemas.microsoft.com/office/drawing/2014/main" val="96346479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3702528842"/>
                    </a:ext>
                  </a:extLst>
                </a:gridCol>
              </a:tblGrid>
              <a:tr h="3353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입력</a:t>
                      </a:r>
                    </a:p>
                  </a:txBody>
                  <a:tcPr marT="45731" marB="4573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출력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738564"/>
                  </a:ext>
                </a:extLst>
              </a:tr>
              <a:tr h="3353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31" marB="4573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Y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327861"/>
                  </a:ext>
                </a:extLst>
              </a:tr>
              <a:tr h="3353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31" marB="4573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246468"/>
                  </a:ext>
                </a:extLst>
              </a:tr>
              <a:tr h="3353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31" marB="4573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885368"/>
                  </a:ext>
                </a:extLst>
              </a:tr>
            </a:tbl>
          </a:graphicData>
        </a:graphic>
      </p:graphicFrame>
      <p:sp>
        <p:nvSpPr>
          <p:cNvPr id="18455" name="Line 38">
            <a:extLst>
              <a:ext uri="{FF2B5EF4-FFF2-40B4-BE49-F238E27FC236}">
                <a16:creationId xmlns:a16="http://schemas.microsoft.com/office/drawing/2014/main" id="{91E008B6-E171-4DF2-8E67-5687CEE574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3375" y="1941513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18456" name="Picture 39">
            <a:extLst>
              <a:ext uri="{FF2B5EF4-FFF2-40B4-BE49-F238E27FC236}">
                <a16:creationId xmlns:a16="http://schemas.microsoft.com/office/drawing/2014/main" id="{0685B159-CE74-484D-82F5-D0BD859DD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349500"/>
            <a:ext cx="2736850" cy="103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7" name="Text Box 44">
            <a:extLst>
              <a:ext uri="{FF2B5EF4-FFF2-40B4-BE49-F238E27FC236}">
                <a16:creationId xmlns:a16="http://schemas.microsoft.com/office/drawing/2014/main" id="{2C3AC211-5DB2-4DF5-9656-390683E93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581525"/>
            <a:ext cx="3614737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※</a:t>
            </a:r>
            <a:r>
              <a:rPr lang="en-US" altLang="ko-KR" b="1"/>
              <a:t> </a:t>
            </a:r>
            <a:r>
              <a:rPr lang="ko-KR" altLang="en-US" b="1"/>
              <a:t>의미 </a:t>
            </a:r>
          </a:p>
          <a:p>
            <a:pPr eaLnBrk="1" hangingPunct="1"/>
            <a:r>
              <a:rPr lang="ko-KR" altLang="en-US" b="1"/>
              <a:t>   </a:t>
            </a:r>
            <a:r>
              <a:rPr lang="en-US" altLang="ko-KR" b="1"/>
              <a:t>. </a:t>
            </a:r>
            <a:r>
              <a:rPr lang="ko-KR" altLang="en-US" b="1"/>
              <a:t>단항연산 </a:t>
            </a:r>
            <a:r>
              <a:rPr lang="en-US" altLang="ko-KR" b="1"/>
              <a:t>(</a:t>
            </a:r>
            <a:r>
              <a:rPr lang="ko-KR" altLang="en-US" b="1"/>
              <a:t>입력값이 </a:t>
            </a:r>
            <a:r>
              <a:rPr lang="en-US" altLang="ko-KR" b="1"/>
              <a:t>1</a:t>
            </a:r>
            <a:r>
              <a:rPr lang="ko-KR" altLang="en-US" b="1"/>
              <a:t>개 이다</a:t>
            </a:r>
            <a:r>
              <a:rPr lang="en-US" altLang="ko-KR" b="1"/>
              <a:t>.)</a:t>
            </a:r>
          </a:p>
          <a:p>
            <a:pPr eaLnBrk="1" hangingPunct="1"/>
            <a:r>
              <a:rPr lang="en-US" altLang="ko-KR" b="1"/>
              <a:t>   . </a:t>
            </a:r>
            <a:r>
              <a:rPr lang="ko-KR" altLang="en-US" b="1"/>
              <a:t>입력 정보의 반대값이 출력됨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번호 개체 틀 1">
            <a:extLst>
              <a:ext uri="{FF2B5EF4-FFF2-40B4-BE49-F238E27FC236}">
                <a16:creationId xmlns:a16="http://schemas.microsoft.com/office/drawing/2014/main" id="{465C2BF2-C9D3-4325-A0B2-CED08A64B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8226F5E-B3B7-492D-936C-C79253ED4BB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9459" name="Text Box 2">
            <a:extLst>
              <a:ext uri="{FF2B5EF4-FFF2-40B4-BE49-F238E27FC236}">
                <a16:creationId xmlns:a16="http://schemas.microsoft.com/office/drawing/2014/main" id="{F3409E5A-B868-4D95-B9C4-AF6432FBF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65188"/>
            <a:ext cx="850582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부정 논리곱 </a:t>
            </a:r>
            <a:r>
              <a:rPr lang="en-US" altLang="ko-KR" b="1"/>
              <a:t>(NAND)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AND </a:t>
            </a:r>
            <a:r>
              <a:rPr lang="ko-KR" altLang="en-US" b="1"/>
              <a:t>게이트에 인버터가 붙은 것 두 개의 입력 값이 </a:t>
            </a:r>
            <a:r>
              <a:rPr lang="en-US" altLang="ko-KR" b="1"/>
              <a:t>1</a:t>
            </a:r>
            <a:r>
              <a:rPr lang="ko-KR" altLang="en-US" b="1"/>
              <a:t>일 때만 출력 값이 </a:t>
            </a:r>
            <a:r>
              <a:rPr lang="en-US" altLang="ko-KR" b="1"/>
              <a:t>0</a:t>
            </a:r>
            <a:r>
              <a:rPr lang="ko-KR" altLang="en-US" b="1"/>
              <a:t>이 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논리 대수 표현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Y = (A</a:t>
            </a:r>
            <a:r>
              <a:rPr lang="ko-KR" altLang="en-US" b="1"/>
              <a:t>ㆍ</a:t>
            </a:r>
            <a:r>
              <a:rPr lang="en-US" altLang="ko-KR" b="1"/>
              <a:t>B) </a:t>
            </a:r>
            <a:r>
              <a:rPr lang="ko-KR" altLang="en-US" b="1"/>
              <a:t>또는 </a:t>
            </a:r>
            <a:r>
              <a:rPr lang="en-US" altLang="ko-KR" b="1"/>
              <a:t>Y = A+B </a:t>
            </a:r>
          </a:p>
        </p:txBody>
      </p:sp>
      <p:sp>
        <p:nvSpPr>
          <p:cNvPr id="19460" name="Text Box 3">
            <a:extLst>
              <a:ext uri="{FF2B5EF4-FFF2-40B4-BE49-F238E27FC236}">
                <a16:creationId xmlns:a16="http://schemas.microsoft.com/office/drawing/2014/main" id="{53C5644D-827F-4FC8-8116-A2CA5A785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868863"/>
            <a:ext cx="14398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a) </a:t>
            </a:r>
            <a:r>
              <a:rPr lang="ko-KR" altLang="en-US" b="1"/>
              <a:t>논리 기호</a:t>
            </a:r>
          </a:p>
        </p:txBody>
      </p:sp>
      <p:sp>
        <p:nvSpPr>
          <p:cNvPr id="19461" name="Text Box 4">
            <a:extLst>
              <a:ext uri="{FF2B5EF4-FFF2-40B4-BE49-F238E27FC236}">
                <a16:creationId xmlns:a16="http://schemas.microsoft.com/office/drawing/2014/main" id="{A4182E1C-EE64-459D-9449-27F08D64D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797425"/>
            <a:ext cx="21209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b) </a:t>
            </a:r>
            <a:r>
              <a:rPr lang="ko-KR" altLang="en-US" b="1"/>
              <a:t>게이트의 진리표</a:t>
            </a:r>
          </a:p>
        </p:txBody>
      </p:sp>
      <p:sp>
        <p:nvSpPr>
          <p:cNvPr id="19462" name="Line 22">
            <a:extLst>
              <a:ext uri="{FF2B5EF4-FFF2-40B4-BE49-F238E27FC236}">
                <a16:creationId xmlns:a16="http://schemas.microsoft.com/office/drawing/2014/main" id="{AA0DD245-8C05-472C-8E0F-9E2D070857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4225" y="195738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9463" name="Line 24">
            <a:extLst>
              <a:ext uri="{FF2B5EF4-FFF2-40B4-BE49-F238E27FC236}">
                <a16:creationId xmlns:a16="http://schemas.microsoft.com/office/drawing/2014/main" id="{8B0ED1FB-0B3B-4BE3-A5F2-AB4D549C1DE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1875" y="195738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19464" name="Line 25">
            <a:extLst>
              <a:ext uri="{FF2B5EF4-FFF2-40B4-BE49-F238E27FC236}">
                <a16:creationId xmlns:a16="http://schemas.microsoft.com/office/drawing/2014/main" id="{EEBA7C99-EFE3-4FA6-8BA1-123F058D3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51000" y="1947863"/>
            <a:ext cx="5762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19465" name="Picture 26">
            <a:extLst>
              <a:ext uri="{FF2B5EF4-FFF2-40B4-BE49-F238E27FC236}">
                <a16:creationId xmlns:a16="http://schemas.microsoft.com/office/drawing/2014/main" id="{2951B0AC-EA71-4580-902B-AD44D160F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997200"/>
            <a:ext cx="230505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3867" name="Group 27">
            <a:extLst>
              <a:ext uri="{FF2B5EF4-FFF2-40B4-BE49-F238E27FC236}">
                <a16:creationId xmlns:a16="http://schemas.microsoft.com/office/drawing/2014/main" id="{3CFDF612-64E5-456B-BD21-12062FB864C0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2559050"/>
          <a:ext cx="3695700" cy="2011363"/>
        </p:xfrm>
        <a:graphic>
          <a:graphicData uri="http://schemas.openxmlformats.org/drawingml/2006/table">
            <a:tbl>
              <a:tblPr/>
              <a:tblGrid>
                <a:gridCol w="1176337">
                  <a:extLst>
                    <a:ext uri="{9D8B030D-6E8A-4147-A177-3AD203B41FA5}">
                      <a16:colId xmlns:a16="http://schemas.microsoft.com/office/drawing/2014/main" val="2734733077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308058647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158967980"/>
                    </a:ext>
                  </a:extLst>
                </a:gridCol>
              </a:tblGrid>
              <a:tr h="335227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   력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  력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75875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315791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487320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335284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834294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9911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1">
            <a:extLst>
              <a:ext uri="{FF2B5EF4-FFF2-40B4-BE49-F238E27FC236}">
                <a16:creationId xmlns:a16="http://schemas.microsoft.com/office/drawing/2014/main" id="{21BB008F-6BCB-4AB3-9C24-63058E496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F680CEC-3CAE-49F9-8F90-27BF209E753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BE6C6CBC-2933-47E6-ADE2-096EDB239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65188"/>
            <a:ext cx="8364538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5) </a:t>
            </a:r>
            <a:r>
              <a:rPr lang="ko-KR" altLang="en-US" b="1"/>
              <a:t>부정 논리합 </a:t>
            </a:r>
            <a:r>
              <a:rPr lang="en-US" altLang="ko-KR" b="1"/>
              <a:t>(NOR)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OR </a:t>
            </a:r>
            <a:r>
              <a:rPr lang="ko-KR" altLang="en-US" b="1"/>
              <a:t>게이트에 인버터가 붙은 것 두 개의 입력 값이 </a:t>
            </a:r>
            <a:r>
              <a:rPr lang="en-US" altLang="ko-KR" b="1"/>
              <a:t>0</a:t>
            </a:r>
            <a:r>
              <a:rPr lang="ko-KR" altLang="en-US" b="1"/>
              <a:t>일 때만 출력 값이 </a:t>
            </a:r>
            <a:r>
              <a:rPr lang="en-US" altLang="ko-KR" b="1"/>
              <a:t>1</a:t>
            </a:r>
            <a:r>
              <a:rPr lang="ko-KR" altLang="en-US" b="1"/>
              <a:t>이 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논리 대수 표현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Y = (A + B) </a:t>
            </a:r>
            <a:r>
              <a:rPr lang="ko-KR" altLang="en-US" b="1"/>
              <a:t>또는 </a:t>
            </a:r>
            <a:r>
              <a:rPr lang="en-US" altLang="ko-KR" b="1"/>
              <a:t>Y = A</a:t>
            </a:r>
            <a:r>
              <a:rPr lang="ko-KR" altLang="en-US" b="1"/>
              <a:t>ㆍ</a:t>
            </a:r>
            <a:r>
              <a:rPr lang="en-US" altLang="ko-KR" b="1"/>
              <a:t>B </a:t>
            </a:r>
          </a:p>
        </p:txBody>
      </p:sp>
      <p:sp>
        <p:nvSpPr>
          <p:cNvPr id="20484" name="Text Box 3">
            <a:extLst>
              <a:ext uri="{FF2B5EF4-FFF2-40B4-BE49-F238E27FC236}">
                <a16:creationId xmlns:a16="http://schemas.microsoft.com/office/drawing/2014/main" id="{300D8E10-D9B7-4B73-8FA1-E3CF8F892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868863"/>
            <a:ext cx="14398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a) </a:t>
            </a:r>
            <a:r>
              <a:rPr lang="ko-KR" altLang="en-US" b="1"/>
              <a:t>논리 기호</a:t>
            </a:r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BC75490F-4BA0-4335-9282-C98DD6D73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797425"/>
            <a:ext cx="21209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b) </a:t>
            </a:r>
            <a:r>
              <a:rPr lang="ko-KR" altLang="en-US" b="1"/>
              <a:t>게이트의 진리표</a:t>
            </a: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79542FEB-0E7E-484B-8842-F97D6F761B8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87725" y="195738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0487" name="Line 6">
            <a:extLst>
              <a:ext uri="{FF2B5EF4-FFF2-40B4-BE49-F238E27FC236}">
                <a16:creationId xmlns:a16="http://schemas.microsoft.com/office/drawing/2014/main" id="{D4B36D71-D159-4D95-AA8C-C210CCEE3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0625" y="195738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0488" name="Line 7">
            <a:extLst>
              <a:ext uri="{FF2B5EF4-FFF2-40B4-BE49-F238E27FC236}">
                <a16:creationId xmlns:a16="http://schemas.microsoft.com/office/drawing/2014/main" id="{264CF10B-F290-484A-9657-B9D208DD8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5125" y="1947863"/>
            <a:ext cx="688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graphicFrame>
        <p:nvGraphicFramePr>
          <p:cNvPr id="164873" name="Group 9">
            <a:extLst>
              <a:ext uri="{FF2B5EF4-FFF2-40B4-BE49-F238E27FC236}">
                <a16:creationId xmlns:a16="http://schemas.microsoft.com/office/drawing/2014/main" id="{6FD2C498-988C-4ADA-8AB1-FD493216636D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2559050"/>
          <a:ext cx="3695700" cy="2011363"/>
        </p:xfrm>
        <a:graphic>
          <a:graphicData uri="http://schemas.openxmlformats.org/drawingml/2006/table">
            <a:tbl>
              <a:tblPr/>
              <a:tblGrid>
                <a:gridCol w="1176337">
                  <a:extLst>
                    <a:ext uri="{9D8B030D-6E8A-4147-A177-3AD203B41FA5}">
                      <a16:colId xmlns:a16="http://schemas.microsoft.com/office/drawing/2014/main" val="2222703845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85192308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018174979"/>
                    </a:ext>
                  </a:extLst>
                </a:gridCol>
              </a:tblGrid>
              <a:tr h="335227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   력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  력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85357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5799601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301648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722540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18510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5668907"/>
                  </a:ext>
                </a:extLst>
              </a:tr>
            </a:tbl>
          </a:graphicData>
        </a:graphic>
      </p:graphicFrame>
      <p:pic>
        <p:nvPicPr>
          <p:cNvPr id="20518" name="Picture 39">
            <a:extLst>
              <a:ext uri="{FF2B5EF4-FFF2-40B4-BE49-F238E27FC236}">
                <a16:creationId xmlns:a16="http://schemas.microsoft.com/office/drawing/2014/main" id="{94ED2F01-C5FB-4620-A319-E5F64CEEF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068638"/>
            <a:ext cx="208756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번호 개체 틀 1">
            <a:extLst>
              <a:ext uri="{FF2B5EF4-FFF2-40B4-BE49-F238E27FC236}">
                <a16:creationId xmlns:a16="http://schemas.microsoft.com/office/drawing/2014/main" id="{88F45884-C306-42C6-B53A-1AE32BDBF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C6FB321-D0CE-40C2-B549-54342B633DC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28FF6F70-A2AC-4BA4-9499-24C5ABC81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65188"/>
            <a:ext cx="658812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6) </a:t>
            </a:r>
            <a:r>
              <a:rPr lang="ko-KR" altLang="en-US" b="1"/>
              <a:t>배타적 논리합 </a:t>
            </a:r>
            <a:r>
              <a:rPr lang="en-US" altLang="ko-KR" b="1"/>
              <a:t>(XOR)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입력 정보가 모두 같으면 거짓 </a:t>
            </a:r>
            <a:r>
              <a:rPr lang="en-US" altLang="ko-KR" b="1"/>
              <a:t>(0), </a:t>
            </a:r>
            <a:r>
              <a:rPr lang="ko-KR" altLang="en-US" b="1"/>
              <a:t>한 개라도 다르면 참 </a:t>
            </a:r>
            <a:r>
              <a:rPr lang="en-US" altLang="ko-KR" b="1"/>
              <a:t>(1)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논리 대수 표현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Y = (A + B) </a:t>
            </a:r>
            <a:r>
              <a:rPr lang="ko-KR" altLang="en-US" b="1"/>
              <a:t>또는 </a:t>
            </a:r>
            <a:r>
              <a:rPr lang="en-US" altLang="ko-KR" b="1"/>
              <a:t>Y = AB + AB </a:t>
            </a:r>
          </a:p>
        </p:txBody>
      </p:sp>
      <p:sp>
        <p:nvSpPr>
          <p:cNvPr id="21508" name="Text Box 3">
            <a:extLst>
              <a:ext uri="{FF2B5EF4-FFF2-40B4-BE49-F238E27FC236}">
                <a16:creationId xmlns:a16="http://schemas.microsoft.com/office/drawing/2014/main" id="{BD2D838E-67F6-4A84-8D84-187FD6570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868863"/>
            <a:ext cx="14398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a) </a:t>
            </a:r>
            <a:r>
              <a:rPr lang="ko-KR" altLang="en-US" b="1"/>
              <a:t>논리 기호</a:t>
            </a:r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83D01398-3ADE-4CC6-965C-E81586EA9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797425"/>
            <a:ext cx="21209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b) </a:t>
            </a:r>
            <a:r>
              <a:rPr lang="ko-KR" altLang="en-US" b="1"/>
              <a:t>게이트의 진리표</a:t>
            </a:r>
          </a:p>
        </p:txBody>
      </p:sp>
      <p:graphicFrame>
        <p:nvGraphicFramePr>
          <p:cNvPr id="165897" name="Group 9">
            <a:extLst>
              <a:ext uri="{FF2B5EF4-FFF2-40B4-BE49-F238E27FC236}">
                <a16:creationId xmlns:a16="http://schemas.microsoft.com/office/drawing/2014/main" id="{0672B94E-06D8-4EE4-8A3D-3142F003972A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2559050"/>
          <a:ext cx="3695700" cy="2011363"/>
        </p:xfrm>
        <a:graphic>
          <a:graphicData uri="http://schemas.openxmlformats.org/drawingml/2006/table">
            <a:tbl>
              <a:tblPr/>
              <a:tblGrid>
                <a:gridCol w="1176337">
                  <a:extLst>
                    <a:ext uri="{9D8B030D-6E8A-4147-A177-3AD203B41FA5}">
                      <a16:colId xmlns:a16="http://schemas.microsoft.com/office/drawing/2014/main" val="1142314363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9675577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901282145"/>
                    </a:ext>
                  </a:extLst>
                </a:gridCol>
              </a:tblGrid>
              <a:tr h="335227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   력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  력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793887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285129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500717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934125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376170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810471"/>
                  </a:ext>
                </a:extLst>
              </a:tr>
            </a:tbl>
          </a:graphicData>
        </a:graphic>
      </p:graphicFrame>
      <p:pic>
        <p:nvPicPr>
          <p:cNvPr id="21539" name="Picture 38">
            <a:extLst>
              <a:ext uri="{FF2B5EF4-FFF2-40B4-BE49-F238E27FC236}">
                <a16:creationId xmlns:a16="http://schemas.microsoft.com/office/drawing/2014/main" id="{42D7C11E-C0D3-4548-951F-5634DFD15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141663"/>
            <a:ext cx="2519363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40" name="Oval 39">
            <a:extLst>
              <a:ext uri="{FF2B5EF4-FFF2-40B4-BE49-F238E27FC236}">
                <a16:creationId xmlns:a16="http://schemas.microsoft.com/office/drawing/2014/main" id="{00AF11D4-6699-4057-BEA6-51C9DD7DF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8" y="1963738"/>
            <a:ext cx="215900" cy="2159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1541" name="Line 42">
            <a:extLst>
              <a:ext uri="{FF2B5EF4-FFF2-40B4-BE49-F238E27FC236}">
                <a16:creationId xmlns:a16="http://schemas.microsoft.com/office/drawing/2014/main" id="{DAB9755C-33EF-4E8D-9EC8-F22C9AC5C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9788" y="1957388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1542" name="Line 43">
            <a:extLst>
              <a:ext uri="{FF2B5EF4-FFF2-40B4-BE49-F238E27FC236}">
                <a16:creationId xmlns:a16="http://schemas.microsoft.com/office/drawing/2014/main" id="{7B98E7FD-BD5E-4E67-BB0E-C7BDF3003F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2575" y="1957388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1543" name="Text Box 44">
            <a:extLst>
              <a:ext uri="{FF2B5EF4-FFF2-40B4-BE49-F238E27FC236}">
                <a16:creationId xmlns:a16="http://schemas.microsoft.com/office/drawing/2014/main" id="{3177B595-4D39-437B-85FD-A7C786636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5300663"/>
            <a:ext cx="570547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※</a:t>
            </a:r>
            <a:r>
              <a:rPr lang="en-US" altLang="ko-KR" b="1"/>
              <a:t> </a:t>
            </a:r>
            <a:r>
              <a:rPr lang="ko-KR" altLang="en-US" b="1"/>
              <a:t>특징 </a:t>
            </a:r>
          </a:p>
          <a:p>
            <a:pPr eaLnBrk="1" hangingPunct="1"/>
            <a:r>
              <a:rPr lang="ko-KR" altLang="en-US" b="1"/>
              <a:t>   </a:t>
            </a:r>
            <a:r>
              <a:rPr lang="en-US" altLang="ko-KR" b="1"/>
              <a:t>. </a:t>
            </a:r>
            <a:r>
              <a:rPr lang="ko-KR" altLang="en-US" b="1"/>
              <a:t>비교 </a:t>
            </a:r>
            <a:r>
              <a:rPr lang="en-US" altLang="ko-KR" b="1"/>
              <a:t>(Compare) </a:t>
            </a:r>
            <a:r>
              <a:rPr lang="ko-KR" altLang="en-US" b="1"/>
              <a:t>연산에 사용</a:t>
            </a:r>
          </a:p>
          <a:p>
            <a:pPr eaLnBrk="1" hangingPunct="1"/>
            <a:r>
              <a:rPr lang="ko-KR" altLang="en-US" b="1"/>
              <a:t>   </a:t>
            </a:r>
            <a:r>
              <a:rPr lang="en-US" altLang="ko-KR" b="1"/>
              <a:t>. </a:t>
            </a:r>
            <a:r>
              <a:rPr lang="ko-KR" altLang="en-US" b="1"/>
              <a:t>자료의 특정 비트를 반전시키고자 하는 경우에 사용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1">
            <a:extLst>
              <a:ext uri="{FF2B5EF4-FFF2-40B4-BE49-F238E27FC236}">
                <a16:creationId xmlns:a16="http://schemas.microsoft.com/office/drawing/2014/main" id="{6FFFBB12-5AD7-43B3-8B26-5CBEE85F9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92A95CB-302F-40E7-AF47-B572BD60094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821F3A78-4C4C-45AB-AE88-9F29ECC20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65188"/>
            <a:ext cx="6110288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6) </a:t>
            </a:r>
            <a:r>
              <a:rPr lang="ko-KR" altLang="en-US" b="1"/>
              <a:t>부정 배타적 논리합 </a:t>
            </a:r>
            <a:r>
              <a:rPr lang="en-US" altLang="ko-KR" b="1"/>
              <a:t>(XNOR)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등가 게이트</a:t>
            </a:r>
            <a:r>
              <a:rPr lang="en-US" altLang="ko-KR" b="1"/>
              <a:t>(Equivalence gate)</a:t>
            </a:r>
            <a:r>
              <a:rPr lang="ko-KR" altLang="en-US" b="1"/>
              <a:t>라고 하며 </a:t>
            </a:r>
            <a:r>
              <a:rPr lang="en-US" altLang="ko-KR" b="1"/>
              <a:t>XOR</a:t>
            </a:r>
            <a:r>
              <a:rPr lang="ko-KR" altLang="en-US" b="1"/>
              <a:t>의 부정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논리 대수 표현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Y = (A </a:t>
            </a:r>
            <a:r>
              <a:rPr lang="ko-KR" altLang="en-US" b="1"/>
              <a:t>ㆍ </a:t>
            </a:r>
            <a:r>
              <a:rPr lang="en-US" altLang="ko-KR" b="1"/>
              <a:t>B) </a:t>
            </a:r>
            <a:r>
              <a:rPr lang="ko-KR" altLang="en-US" b="1"/>
              <a:t>또는 </a:t>
            </a:r>
            <a:r>
              <a:rPr lang="en-US" altLang="ko-KR" b="1"/>
              <a:t>Y = (A + B)</a:t>
            </a:r>
            <a:r>
              <a:rPr lang="en-US" altLang="ko-KR"/>
              <a:t> </a:t>
            </a:r>
          </a:p>
        </p:txBody>
      </p:sp>
      <p:sp>
        <p:nvSpPr>
          <p:cNvPr id="22532" name="Text Box 3">
            <a:extLst>
              <a:ext uri="{FF2B5EF4-FFF2-40B4-BE49-F238E27FC236}">
                <a16:creationId xmlns:a16="http://schemas.microsoft.com/office/drawing/2014/main" id="{4B8506CC-19DD-4056-B488-A67D00BB3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868863"/>
            <a:ext cx="14398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a) </a:t>
            </a:r>
            <a:r>
              <a:rPr lang="ko-KR" altLang="en-US" b="1"/>
              <a:t>논리 기호</a:t>
            </a:r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FCA9032B-4372-4996-BBF9-8AC713981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797425"/>
            <a:ext cx="21209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b) </a:t>
            </a:r>
            <a:r>
              <a:rPr lang="ko-KR" altLang="en-US" b="1"/>
              <a:t>게이트의 진리표</a:t>
            </a:r>
          </a:p>
        </p:txBody>
      </p:sp>
      <p:graphicFrame>
        <p:nvGraphicFramePr>
          <p:cNvPr id="166920" name="Group 8">
            <a:extLst>
              <a:ext uri="{FF2B5EF4-FFF2-40B4-BE49-F238E27FC236}">
                <a16:creationId xmlns:a16="http://schemas.microsoft.com/office/drawing/2014/main" id="{16817515-7F77-497B-9E48-1DACCCAC0E57}"/>
              </a:ext>
            </a:extLst>
          </p:cNvPr>
          <p:cNvGraphicFramePr>
            <a:graphicFrameLocks noGrp="1"/>
          </p:cNvGraphicFramePr>
          <p:nvPr/>
        </p:nvGraphicFramePr>
        <p:xfrm>
          <a:off x="4643438" y="2559050"/>
          <a:ext cx="3695700" cy="2011363"/>
        </p:xfrm>
        <a:graphic>
          <a:graphicData uri="http://schemas.openxmlformats.org/drawingml/2006/table">
            <a:tbl>
              <a:tblPr/>
              <a:tblGrid>
                <a:gridCol w="1176337">
                  <a:extLst>
                    <a:ext uri="{9D8B030D-6E8A-4147-A177-3AD203B41FA5}">
                      <a16:colId xmlns:a16="http://schemas.microsoft.com/office/drawing/2014/main" val="4197978364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3604585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35076189"/>
                    </a:ext>
                  </a:extLst>
                </a:gridCol>
              </a:tblGrid>
              <a:tr h="335227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입   력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출  력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263655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Y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503728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179659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323519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811784"/>
                  </a:ext>
                </a:extLst>
              </a:tr>
              <a:tr h="335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558321"/>
                  </a:ext>
                </a:extLst>
              </a:tr>
            </a:tbl>
          </a:graphicData>
        </a:graphic>
      </p:graphicFrame>
      <p:sp>
        <p:nvSpPr>
          <p:cNvPr id="22563" name="Oval 38">
            <a:extLst>
              <a:ext uri="{FF2B5EF4-FFF2-40B4-BE49-F238E27FC236}">
                <a16:creationId xmlns:a16="http://schemas.microsoft.com/office/drawing/2014/main" id="{D3B82E15-14A2-4BAB-87C2-752F2682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8650" y="1989138"/>
            <a:ext cx="215900" cy="2159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pic>
        <p:nvPicPr>
          <p:cNvPr id="22564" name="Picture 39">
            <a:extLst>
              <a:ext uri="{FF2B5EF4-FFF2-40B4-BE49-F238E27FC236}">
                <a16:creationId xmlns:a16="http://schemas.microsoft.com/office/drawing/2014/main" id="{CB11DC0E-9A6B-4501-A1A6-5888DDD26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141663"/>
            <a:ext cx="25908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65" name="Oval 40">
            <a:extLst>
              <a:ext uri="{FF2B5EF4-FFF2-40B4-BE49-F238E27FC236}">
                <a16:creationId xmlns:a16="http://schemas.microsoft.com/office/drawing/2014/main" id="{0AEC3F2E-9DDE-44C6-A2EC-74667FDFB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1989138"/>
            <a:ext cx="215900" cy="2159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22566" name="Line 41">
            <a:extLst>
              <a:ext uri="{FF2B5EF4-FFF2-40B4-BE49-F238E27FC236}">
                <a16:creationId xmlns:a16="http://schemas.microsoft.com/office/drawing/2014/main" id="{00D20602-E642-4802-ADB7-81523937E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941513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번호 개체 틀 1">
            <a:extLst>
              <a:ext uri="{FF2B5EF4-FFF2-40B4-BE49-F238E27FC236}">
                <a16:creationId xmlns:a16="http://schemas.microsoft.com/office/drawing/2014/main" id="{74B53EB2-5D67-4345-9A26-76604482A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1E12CC6-776E-41F2-BA82-EAC30C34649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3555" name="Text Box 4">
            <a:extLst>
              <a:ext uri="{FF2B5EF4-FFF2-40B4-BE49-F238E27FC236}">
                <a16:creationId xmlns:a16="http://schemas.microsoft.com/office/drawing/2014/main" id="{FBFF1A79-D0DD-48D1-8D01-218038F36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765175"/>
            <a:ext cx="26320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4. </a:t>
            </a:r>
            <a:r>
              <a:rPr lang="ko-KR" altLang="en-US" sz="2200" b="1"/>
              <a:t>논리 회로의 이해</a:t>
            </a:r>
          </a:p>
        </p:txBody>
      </p:sp>
      <p:sp>
        <p:nvSpPr>
          <p:cNvPr id="23556" name="Rectangle 5">
            <a:extLst>
              <a:ext uri="{FF2B5EF4-FFF2-40B4-BE49-F238E27FC236}">
                <a16:creationId xmlns:a16="http://schemas.microsoft.com/office/drawing/2014/main" id="{D5C087D5-496E-4ACF-A72E-0549B64DB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268413"/>
            <a:ext cx="4572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1) </a:t>
            </a:r>
            <a:r>
              <a:rPr lang="ko-KR" altLang="en-US" b="1"/>
              <a:t>스위칭 회로 문제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아래 스위칭 회로의 논리식은</a:t>
            </a:r>
            <a:r>
              <a:rPr lang="en-US" altLang="ko-KR" b="1"/>
              <a:t>? </a:t>
            </a:r>
          </a:p>
        </p:txBody>
      </p:sp>
      <p:pic>
        <p:nvPicPr>
          <p:cNvPr id="23557" name="Picture 6">
            <a:extLst>
              <a:ext uri="{FF2B5EF4-FFF2-40B4-BE49-F238E27FC236}">
                <a16:creationId xmlns:a16="http://schemas.microsoft.com/office/drawing/2014/main" id="{6BA917ED-05A8-4315-A678-EC7D4EBF1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060575"/>
            <a:ext cx="3097212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Rectangle 7">
            <a:extLst>
              <a:ext uri="{FF2B5EF4-FFF2-40B4-BE49-F238E27FC236}">
                <a16:creationId xmlns:a16="http://schemas.microsoft.com/office/drawing/2014/main" id="{0D43875D-D7A5-4675-855A-0D486C28C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2781300"/>
            <a:ext cx="61928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ko-KR" altLang="en-US" b="1"/>
              <a:t>스위칭 회로에서 직렬은 </a:t>
            </a:r>
            <a:r>
              <a:rPr lang="en-US" altLang="ko-KR" b="1"/>
              <a:t>AND </a:t>
            </a:r>
            <a:r>
              <a:rPr lang="ko-KR" altLang="en-US" b="1"/>
              <a:t>로</a:t>
            </a:r>
            <a:r>
              <a:rPr lang="en-US" altLang="ko-KR" b="1"/>
              <a:t>, </a:t>
            </a:r>
            <a:r>
              <a:rPr lang="ko-KR" altLang="en-US" b="1"/>
              <a:t>병렬은 </a:t>
            </a:r>
            <a:r>
              <a:rPr lang="en-US" altLang="ko-KR" b="1"/>
              <a:t>OR </a:t>
            </a:r>
            <a:r>
              <a:rPr lang="ko-KR" altLang="en-US" b="1"/>
              <a:t>로 표현됨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⇨ </a:t>
            </a:r>
            <a:r>
              <a:rPr lang="en-US" altLang="ko-KR" b="1"/>
              <a:t>F = A B</a:t>
            </a:r>
          </a:p>
        </p:txBody>
      </p:sp>
      <p:sp>
        <p:nvSpPr>
          <p:cNvPr id="23559" name="Rectangle 8">
            <a:extLst>
              <a:ext uri="{FF2B5EF4-FFF2-40B4-BE49-F238E27FC236}">
                <a16:creationId xmlns:a16="http://schemas.microsoft.com/office/drawing/2014/main" id="{79CC5463-16F6-4C5B-85AE-ECD2083CA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3716338"/>
            <a:ext cx="4843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② </a:t>
            </a:r>
            <a:r>
              <a:rPr lang="ko-KR" altLang="en-US" b="1"/>
              <a:t>다음 회로를 불</a:t>
            </a:r>
            <a:r>
              <a:rPr lang="en-US" altLang="ko-KR" b="1"/>
              <a:t>(Boolean) </a:t>
            </a:r>
            <a:r>
              <a:rPr lang="ko-KR" altLang="en-US" b="1"/>
              <a:t>대수로 표시하면</a:t>
            </a:r>
            <a:r>
              <a:rPr lang="en-US" altLang="ko-KR" b="1"/>
              <a:t>?</a:t>
            </a:r>
          </a:p>
        </p:txBody>
      </p:sp>
      <p:pic>
        <p:nvPicPr>
          <p:cNvPr id="23560" name="Picture 9">
            <a:extLst>
              <a:ext uri="{FF2B5EF4-FFF2-40B4-BE49-F238E27FC236}">
                <a16:creationId xmlns:a16="http://schemas.microsoft.com/office/drawing/2014/main" id="{CD13FFDB-F225-46D1-8CD4-9C02E2036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4221163"/>
            <a:ext cx="3311525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1" name="Rectangle 10">
            <a:extLst>
              <a:ext uri="{FF2B5EF4-FFF2-40B4-BE49-F238E27FC236}">
                <a16:creationId xmlns:a16="http://schemas.microsoft.com/office/drawing/2014/main" id="{FCF05E92-BF2A-4EA4-B24E-213F739CB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5516563"/>
            <a:ext cx="3613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⇨ (AB + AB)C = (A + A) BC = BC</a:t>
            </a:r>
          </a:p>
        </p:txBody>
      </p:sp>
      <p:sp>
        <p:nvSpPr>
          <p:cNvPr id="23562" name="Line 11">
            <a:extLst>
              <a:ext uri="{FF2B5EF4-FFF2-40B4-BE49-F238E27FC236}">
                <a16:creationId xmlns:a16="http://schemas.microsoft.com/office/drawing/2014/main" id="{78910A0B-71C4-4716-8A1A-C735D09E3C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3800" y="5580063"/>
            <a:ext cx="1444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3563" name="Line 12">
            <a:extLst>
              <a:ext uri="{FF2B5EF4-FFF2-40B4-BE49-F238E27FC236}">
                <a16:creationId xmlns:a16="http://schemas.microsoft.com/office/drawing/2014/main" id="{7A2265CC-3B29-47D6-819F-06A3AFA7AA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30638" y="5568950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번호 개체 틀 1">
            <a:extLst>
              <a:ext uri="{FF2B5EF4-FFF2-40B4-BE49-F238E27FC236}">
                <a16:creationId xmlns:a16="http://schemas.microsoft.com/office/drawing/2014/main" id="{957CEAEE-01C8-42E9-A2A1-AB3F9D0BC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FED9552-6E36-4C38-B897-C7EFFE84EF6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3E8195EC-5705-4E4F-8D33-9F2C223C2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58825"/>
            <a:ext cx="66246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2) </a:t>
            </a:r>
            <a:r>
              <a:rPr lang="ko-KR" altLang="en-US" b="1"/>
              <a:t>논리회로를 논리식으로 표현하기 </a:t>
            </a:r>
            <a:r>
              <a:rPr lang="en-US" altLang="ko-KR" b="1"/>
              <a:t>(</a:t>
            </a:r>
            <a:r>
              <a:rPr lang="ko-KR" altLang="en-US" b="1"/>
              <a:t>출력값 구하기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①</a:t>
            </a:r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3D54F7AA-6F9F-4A69-B057-0E827314C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565400"/>
            <a:ext cx="61928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ko-KR" altLang="ko-KR" b="1"/>
              <a:t>F = A+B + A+B = A+BㆍA+B = A+BㆍA+B = A + B</a:t>
            </a:r>
          </a:p>
        </p:txBody>
      </p:sp>
      <p:sp>
        <p:nvSpPr>
          <p:cNvPr id="24581" name="Rectangle 6">
            <a:extLst>
              <a:ext uri="{FF2B5EF4-FFF2-40B4-BE49-F238E27FC236}">
                <a16:creationId xmlns:a16="http://schemas.microsoft.com/office/drawing/2014/main" id="{0773A098-CB9D-4140-AB2A-801CF04AB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3" y="3206750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②</a:t>
            </a:r>
          </a:p>
        </p:txBody>
      </p:sp>
      <p:pic>
        <p:nvPicPr>
          <p:cNvPr id="24582" name="Picture 11">
            <a:extLst>
              <a:ext uri="{FF2B5EF4-FFF2-40B4-BE49-F238E27FC236}">
                <a16:creationId xmlns:a16="http://schemas.microsoft.com/office/drawing/2014/main" id="{B1953DA7-88C3-481D-8674-015D79CF8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268413"/>
            <a:ext cx="3887787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Line 12">
            <a:extLst>
              <a:ext uri="{FF2B5EF4-FFF2-40B4-BE49-F238E27FC236}">
                <a16:creationId xmlns:a16="http://schemas.microsoft.com/office/drawing/2014/main" id="{D6C687C7-4F5E-42E0-857E-020ED18D9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6413" y="2676525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84" name="Line 13">
            <a:extLst>
              <a:ext uri="{FF2B5EF4-FFF2-40B4-BE49-F238E27FC236}">
                <a16:creationId xmlns:a16="http://schemas.microsoft.com/office/drawing/2014/main" id="{F873B74B-FACA-4EA3-A448-468834C62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50" y="2668588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85" name="Line 14">
            <a:extLst>
              <a:ext uri="{FF2B5EF4-FFF2-40B4-BE49-F238E27FC236}">
                <a16:creationId xmlns:a16="http://schemas.microsoft.com/office/drawing/2014/main" id="{57BBB5C3-CF36-492A-95AB-CE1705ABE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620963"/>
            <a:ext cx="1079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86" name="Line 15">
            <a:extLst>
              <a:ext uri="{FF2B5EF4-FFF2-40B4-BE49-F238E27FC236}">
                <a16:creationId xmlns:a16="http://schemas.microsoft.com/office/drawing/2014/main" id="{9F7A530A-8FD9-4C89-9B72-D4A795351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267652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87" name="Line 16">
            <a:extLst>
              <a:ext uri="{FF2B5EF4-FFF2-40B4-BE49-F238E27FC236}">
                <a16:creationId xmlns:a16="http://schemas.microsoft.com/office/drawing/2014/main" id="{655D89B1-14E2-4FBB-8029-8D977E7D01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262096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88" name="Line 17">
            <a:extLst>
              <a:ext uri="{FF2B5EF4-FFF2-40B4-BE49-F238E27FC236}">
                <a16:creationId xmlns:a16="http://schemas.microsoft.com/office/drawing/2014/main" id="{ADE78A98-66B3-493D-A64D-10EEED8B3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2676525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89" name="Line 18">
            <a:extLst>
              <a:ext uri="{FF2B5EF4-FFF2-40B4-BE49-F238E27FC236}">
                <a16:creationId xmlns:a16="http://schemas.microsoft.com/office/drawing/2014/main" id="{D2838B17-C27A-4ED9-A5AB-1EE5951EB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3500" y="2620963"/>
            <a:ext cx="36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24590" name="Picture 19">
            <a:extLst>
              <a:ext uri="{FF2B5EF4-FFF2-40B4-BE49-F238E27FC236}">
                <a16:creationId xmlns:a16="http://schemas.microsoft.com/office/drawing/2014/main" id="{97482482-AEAC-4BA7-91C5-F8532FD6C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284538"/>
            <a:ext cx="4392613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1" name="Text Box 21">
            <a:extLst>
              <a:ext uri="{FF2B5EF4-FFF2-40B4-BE49-F238E27FC236}">
                <a16:creationId xmlns:a16="http://schemas.microsoft.com/office/drawing/2014/main" id="{F593AFBC-FAB3-49BE-A421-9FAD2FC94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5157788"/>
            <a:ext cx="22209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Y=AB + AB = A + B</a:t>
            </a:r>
          </a:p>
        </p:txBody>
      </p:sp>
      <p:sp>
        <p:nvSpPr>
          <p:cNvPr id="24592" name="Line 22">
            <a:extLst>
              <a:ext uri="{FF2B5EF4-FFF2-40B4-BE49-F238E27FC236}">
                <a16:creationId xmlns:a16="http://schemas.microsoft.com/office/drawing/2014/main" id="{759020B2-ABA1-4247-869C-E30391436A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5222875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93" name="Line 23">
            <a:extLst>
              <a:ext uri="{FF2B5EF4-FFF2-40B4-BE49-F238E27FC236}">
                <a16:creationId xmlns:a16="http://schemas.microsoft.com/office/drawing/2014/main" id="{867AA1DE-08CC-41B3-922E-431CCF88E4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0913" y="5238750"/>
            <a:ext cx="144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24594" name="Oval 24">
            <a:extLst>
              <a:ext uri="{FF2B5EF4-FFF2-40B4-BE49-F238E27FC236}">
                <a16:creationId xmlns:a16="http://schemas.microsoft.com/office/drawing/2014/main" id="{BFF0CE1A-BBFC-454D-A61C-95B875A98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025" y="5241925"/>
            <a:ext cx="215900" cy="215900"/>
          </a:xfrm>
          <a:prstGeom prst="ellips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번호 개체 틀 1">
            <a:extLst>
              <a:ext uri="{FF2B5EF4-FFF2-40B4-BE49-F238E27FC236}">
                <a16:creationId xmlns:a16="http://schemas.microsoft.com/office/drawing/2014/main" id="{AA6B151E-8AF7-4FDA-8DEB-8EC17D6AD6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F038F88-1DAF-440F-929B-1AC2DD797B2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5603" name="Rectangle 4">
            <a:extLst>
              <a:ext uri="{FF2B5EF4-FFF2-40B4-BE49-F238E27FC236}">
                <a16:creationId xmlns:a16="http://schemas.microsoft.com/office/drawing/2014/main" id="{5977EE5C-B929-43CC-8D1A-A3825F6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407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③</a:t>
            </a:r>
          </a:p>
        </p:txBody>
      </p:sp>
      <p:pic>
        <p:nvPicPr>
          <p:cNvPr id="25604" name="Picture 5">
            <a:extLst>
              <a:ext uri="{FF2B5EF4-FFF2-40B4-BE49-F238E27FC236}">
                <a16:creationId xmlns:a16="http://schemas.microsoft.com/office/drawing/2014/main" id="{4C4A655A-C120-48BD-A307-E1E048F62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1300163"/>
            <a:ext cx="4487862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6">
            <a:extLst>
              <a:ext uri="{FF2B5EF4-FFF2-40B4-BE49-F238E27FC236}">
                <a16:creationId xmlns:a16="http://schemas.microsoft.com/office/drawing/2014/main" id="{8A3FD057-E7F3-4F44-ADD6-D22345A25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600" y="3605213"/>
            <a:ext cx="446405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Rectangle 7">
            <a:extLst>
              <a:ext uri="{FF2B5EF4-FFF2-40B4-BE49-F238E27FC236}">
                <a16:creationId xmlns:a16="http://schemas.microsoft.com/office/drawing/2014/main" id="{69F9341B-F70B-4069-8AC3-E9A229D54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113" y="3573463"/>
            <a:ext cx="407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번호 개체 틀 1">
            <a:extLst>
              <a:ext uri="{FF2B5EF4-FFF2-40B4-BE49-F238E27FC236}">
                <a16:creationId xmlns:a16="http://schemas.microsoft.com/office/drawing/2014/main" id="{7ED9E727-A26F-473C-B0AF-5CD593972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55B2770-7555-43FE-A536-D8AA1BFDF45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9E357353-A941-4040-9332-E7E1F42CA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1252538"/>
            <a:ext cx="4079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⑤</a:t>
            </a:r>
          </a:p>
        </p:txBody>
      </p:sp>
      <p:sp>
        <p:nvSpPr>
          <p:cNvPr id="26628" name="Rectangle 5">
            <a:extLst>
              <a:ext uri="{FF2B5EF4-FFF2-40B4-BE49-F238E27FC236}">
                <a16:creationId xmlns:a16="http://schemas.microsoft.com/office/drawing/2014/main" id="{4421E36D-4123-456D-92E9-A596E9558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338" y="3413125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⑥</a:t>
            </a:r>
          </a:p>
        </p:txBody>
      </p:sp>
      <p:pic>
        <p:nvPicPr>
          <p:cNvPr id="26629" name="Picture 6">
            <a:extLst>
              <a:ext uri="{FF2B5EF4-FFF2-40B4-BE49-F238E27FC236}">
                <a16:creationId xmlns:a16="http://schemas.microsoft.com/office/drawing/2014/main" id="{69FA51FA-6902-4425-B3E0-305A2E758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1325563"/>
            <a:ext cx="38893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7">
            <a:extLst>
              <a:ext uri="{FF2B5EF4-FFF2-40B4-BE49-F238E27FC236}">
                <a16:creationId xmlns:a16="http://schemas.microsoft.com/office/drawing/2014/main" id="{E9B794EA-4407-4CB9-9345-F9245BCFE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2620963"/>
            <a:ext cx="6121400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Picture 8">
            <a:extLst>
              <a:ext uri="{FF2B5EF4-FFF2-40B4-BE49-F238E27FC236}">
                <a16:creationId xmlns:a16="http://schemas.microsoft.com/office/drawing/2014/main" id="{EFC76163-2C7A-4B1E-A724-7B49C7FC7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3427413"/>
            <a:ext cx="36004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2" name="Picture 9">
            <a:extLst>
              <a:ext uri="{FF2B5EF4-FFF2-40B4-BE49-F238E27FC236}">
                <a16:creationId xmlns:a16="http://schemas.microsoft.com/office/drawing/2014/main" id="{2657E10E-3A13-429B-89FA-2FA8495C6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638" y="4795838"/>
            <a:ext cx="3816350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Text Box 10">
            <a:extLst>
              <a:ext uri="{FF2B5EF4-FFF2-40B4-BE49-F238E27FC236}">
                <a16:creationId xmlns:a16="http://schemas.microsoft.com/office/drawing/2014/main" id="{7A8CECEF-E645-4608-87A4-4B9D369F7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4832350"/>
            <a:ext cx="28940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 </a:t>
            </a:r>
            <a:r>
              <a:rPr lang="ko-KR" altLang="en-US" b="1"/>
              <a:t>이므로 </a:t>
            </a:r>
            <a:r>
              <a:rPr lang="en-US" altLang="ko-KR" b="1"/>
              <a:t>OR </a:t>
            </a:r>
            <a:r>
              <a:rPr lang="ko-KR" altLang="en-US" b="1"/>
              <a:t>게이트와 같다</a:t>
            </a:r>
            <a:r>
              <a:rPr lang="en-US" altLang="ko-KR" b="1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번호 개체 틀 1">
            <a:extLst>
              <a:ext uri="{FF2B5EF4-FFF2-40B4-BE49-F238E27FC236}">
                <a16:creationId xmlns:a16="http://schemas.microsoft.com/office/drawing/2014/main" id="{EDB38E67-BA4D-4611-9970-11CF43A00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139795F-BB01-47DD-9A7B-58A2A9E90AB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7651" name="Rectangle 9">
            <a:extLst>
              <a:ext uri="{FF2B5EF4-FFF2-40B4-BE49-F238E27FC236}">
                <a16:creationId xmlns:a16="http://schemas.microsoft.com/office/drawing/2014/main" id="{1304C405-AD2F-417E-A16F-1D330E63F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758825"/>
            <a:ext cx="662463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입력값이 주어졌을 때</a:t>
            </a:r>
            <a:r>
              <a:rPr lang="en-US" altLang="ko-KR" b="1"/>
              <a:t>, </a:t>
            </a:r>
            <a:r>
              <a:rPr lang="ko-KR" altLang="en-US" b="1"/>
              <a:t>출력값 구하기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</a:t>
            </a:r>
            <a:r>
              <a:rPr lang="en-US" altLang="ko-KR" b="1"/>
              <a:t>A=B=S=1 </a:t>
            </a:r>
            <a:r>
              <a:rPr lang="ko-KR" altLang="en-US" b="1"/>
              <a:t>일 때 출력 </a:t>
            </a:r>
            <a:r>
              <a:rPr lang="en-US" altLang="ko-KR" b="1"/>
              <a:t>y</a:t>
            </a:r>
            <a:r>
              <a:rPr lang="ko-KR" altLang="en-US" b="1"/>
              <a:t>는</a:t>
            </a:r>
            <a:r>
              <a:rPr lang="en-US" altLang="ko-KR" b="1"/>
              <a:t>?</a:t>
            </a:r>
          </a:p>
        </p:txBody>
      </p:sp>
      <p:pic>
        <p:nvPicPr>
          <p:cNvPr id="27652" name="Picture 10">
            <a:extLst>
              <a:ext uri="{FF2B5EF4-FFF2-40B4-BE49-F238E27FC236}">
                <a16:creationId xmlns:a16="http://schemas.microsoft.com/office/drawing/2014/main" id="{AE25A2DD-4A23-481E-9958-24DF9EFEC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557338"/>
            <a:ext cx="338455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Rectangle 11">
            <a:extLst>
              <a:ext uri="{FF2B5EF4-FFF2-40B4-BE49-F238E27FC236}">
                <a16:creationId xmlns:a16="http://schemas.microsoft.com/office/drawing/2014/main" id="{BA7AE9AF-BD8B-4C60-9816-A1E275040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063" y="3206750"/>
            <a:ext cx="407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②</a:t>
            </a:r>
          </a:p>
        </p:txBody>
      </p:sp>
      <p:pic>
        <p:nvPicPr>
          <p:cNvPr id="27654" name="Picture 12">
            <a:extLst>
              <a:ext uri="{FF2B5EF4-FFF2-40B4-BE49-F238E27FC236}">
                <a16:creationId xmlns:a16="http://schemas.microsoft.com/office/drawing/2014/main" id="{A1826FF0-3FB8-480C-A0B9-FC8DCB99C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3284538"/>
            <a:ext cx="424815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번호 개체 틀 1">
            <a:extLst>
              <a:ext uri="{FF2B5EF4-FFF2-40B4-BE49-F238E27FC236}">
                <a16:creationId xmlns:a16="http://schemas.microsoft.com/office/drawing/2014/main" id="{ED692F48-BB07-4935-9765-608B94E7C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A87B285-E088-4FCB-85DC-227B2C3D8A6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DB653581-4906-4105-BEBC-ED0D61D5A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1196975"/>
            <a:ext cx="5483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③ A=1010, B=1100 </a:t>
            </a:r>
            <a:r>
              <a:rPr lang="ko-KR" altLang="en-US" b="1"/>
              <a:t>이 입력되어 있을 때 출력 </a:t>
            </a:r>
            <a:r>
              <a:rPr lang="en-US" altLang="ko-KR" b="1"/>
              <a:t>Y </a:t>
            </a:r>
            <a:r>
              <a:rPr lang="ko-KR" altLang="en-US" b="1"/>
              <a:t>는</a:t>
            </a:r>
            <a:r>
              <a:rPr lang="en-US" altLang="ko-KR" b="1"/>
              <a:t>?</a:t>
            </a:r>
          </a:p>
        </p:txBody>
      </p:sp>
      <p:pic>
        <p:nvPicPr>
          <p:cNvPr id="28676" name="Picture 7">
            <a:extLst>
              <a:ext uri="{FF2B5EF4-FFF2-40B4-BE49-F238E27FC236}">
                <a16:creationId xmlns:a16="http://schemas.microsoft.com/office/drawing/2014/main" id="{49E33A83-2FD4-4AEB-9BC0-170C55BD3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773238"/>
            <a:ext cx="5976937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번호 개체 틀 1">
            <a:extLst>
              <a:ext uri="{FF2B5EF4-FFF2-40B4-BE49-F238E27FC236}">
                <a16:creationId xmlns:a16="http://schemas.microsoft.com/office/drawing/2014/main" id="{F997BBB8-9C6D-446F-842F-EFA725E3F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C973512-171D-42A0-A1C5-D64A363C99F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609D6AF3-901B-41D1-A482-D13083C26A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613"/>
            <a:ext cx="22653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5. </a:t>
            </a:r>
            <a:r>
              <a:rPr lang="ko-KR" altLang="en-US" sz="2200" b="1"/>
              <a:t>조합 논리회로</a:t>
            </a:r>
          </a:p>
        </p:txBody>
      </p:sp>
      <p:sp>
        <p:nvSpPr>
          <p:cNvPr id="29700" name="Text Box 5">
            <a:extLst>
              <a:ext uri="{FF2B5EF4-FFF2-40B4-BE49-F238E27FC236}">
                <a16:creationId xmlns:a16="http://schemas.microsoft.com/office/drawing/2014/main" id="{1C4193A8-D05B-46B4-9D4A-A8A6EEA20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1300163"/>
            <a:ext cx="2257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(1) </a:t>
            </a:r>
            <a:r>
              <a:rPr lang="ko-KR" altLang="en-US" sz="2000" b="1"/>
              <a:t>조합 논리 회로</a:t>
            </a:r>
          </a:p>
        </p:txBody>
      </p:sp>
      <p:sp>
        <p:nvSpPr>
          <p:cNvPr id="29701" name="Rectangle 6">
            <a:extLst>
              <a:ext uri="{FF2B5EF4-FFF2-40B4-BE49-F238E27FC236}">
                <a16:creationId xmlns:a16="http://schemas.microsoft.com/office/drawing/2014/main" id="{ED9EFA96-CD2E-4BA1-8B6B-0C9A19582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700213"/>
            <a:ext cx="756126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1) </a:t>
            </a:r>
            <a:r>
              <a:rPr lang="ko-KR" altLang="en-US" b="1"/>
              <a:t>임의의 시간에서의 출력이 이전의 입력에는 관계없이 현재의 입력조합  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(0 </a:t>
            </a:r>
            <a:r>
              <a:rPr lang="ko-KR" altLang="en-US" b="1"/>
              <a:t>또는</a:t>
            </a:r>
            <a:r>
              <a:rPr lang="en-US" altLang="ko-KR" b="1"/>
              <a:t>1)</a:t>
            </a:r>
            <a:r>
              <a:rPr lang="ko-KR" altLang="en-US" b="1"/>
              <a:t>으로 부터 결정되는 논리회로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2) </a:t>
            </a:r>
            <a:r>
              <a:rPr lang="ko-KR" altLang="en-US" b="1"/>
              <a:t>종류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반가산기</a:t>
            </a:r>
            <a:r>
              <a:rPr lang="en-US" altLang="ko-KR" b="1"/>
              <a:t>, </a:t>
            </a:r>
            <a:r>
              <a:rPr lang="ko-KR" altLang="en-US" b="1"/>
              <a:t>전가산기</a:t>
            </a:r>
            <a:r>
              <a:rPr lang="en-US" altLang="ko-KR" b="1"/>
              <a:t>, </a:t>
            </a:r>
            <a:r>
              <a:rPr lang="ko-KR" altLang="en-US" b="1"/>
              <a:t>병렬가산기</a:t>
            </a:r>
            <a:r>
              <a:rPr lang="en-US" altLang="ko-KR" b="1"/>
              <a:t>, </a:t>
            </a:r>
            <a:r>
              <a:rPr lang="ko-KR" altLang="en-US" b="1"/>
              <a:t>반감산기</a:t>
            </a:r>
            <a:r>
              <a:rPr lang="en-US" altLang="ko-KR" b="1"/>
              <a:t>, </a:t>
            </a:r>
            <a:r>
              <a:rPr lang="ko-KR" altLang="en-US" b="1"/>
              <a:t>전감산기</a:t>
            </a:r>
            <a:r>
              <a:rPr lang="en-US" altLang="ko-KR" b="1"/>
              <a:t>, </a:t>
            </a:r>
            <a:r>
              <a:rPr lang="ko-KR" altLang="en-US" b="1"/>
              <a:t>디코더</a:t>
            </a:r>
            <a:r>
              <a:rPr lang="en-US" altLang="ko-KR" b="1"/>
              <a:t>, </a:t>
            </a:r>
            <a:r>
              <a:rPr lang="ko-KR" altLang="en-US" b="1"/>
              <a:t>인코더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멀티플렉서</a:t>
            </a:r>
            <a:r>
              <a:rPr lang="en-US" altLang="ko-KR" b="1"/>
              <a:t>, </a:t>
            </a:r>
            <a:r>
              <a:rPr lang="ko-KR" altLang="en-US" b="1"/>
              <a:t>연산기</a:t>
            </a:r>
            <a:r>
              <a:rPr lang="en-US" altLang="ko-KR" b="1"/>
              <a:t>(ALU), </a:t>
            </a:r>
            <a:r>
              <a:rPr lang="ko-KR" altLang="en-US" b="1"/>
              <a:t>디멀티플렉서 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번호 개체 틀 1">
            <a:extLst>
              <a:ext uri="{FF2B5EF4-FFF2-40B4-BE49-F238E27FC236}">
                <a16:creationId xmlns:a16="http://schemas.microsoft.com/office/drawing/2014/main" id="{2AC9E9D4-1D81-40D7-BC93-C215A44A64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94471355-3A6D-477B-9F39-F49C8ECC690E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EBF659DC-AA11-409F-B0B7-C0D876778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08050"/>
            <a:ext cx="159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(2) </a:t>
            </a:r>
            <a:r>
              <a:rPr lang="ko-KR" altLang="en-US" sz="2000" b="1"/>
              <a:t>반가산기</a:t>
            </a: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4B9AA6CB-759E-4989-BB0F-9518D1296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341438"/>
            <a:ext cx="33845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1) </a:t>
            </a:r>
            <a:r>
              <a:rPr lang="ko-KR" altLang="en-US" b="1"/>
              <a:t>반가산기 </a:t>
            </a:r>
            <a:r>
              <a:rPr lang="en-US" altLang="ko-KR" b="1"/>
              <a:t>(Half Adder)</a:t>
            </a:r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E9282390-03DD-45E7-9F45-011D69548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1804988"/>
            <a:ext cx="7561263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① 1bit </a:t>
            </a:r>
            <a:r>
              <a:rPr lang="ko-KR" altLang="en-US" b="1"/>
              <a:t>짜리 </a:t>
            </a:r>
            <a:r>
              <a:rPr lang="en-US" altLang="ko-KR" b="1"/>
              <a:t>2</a:t>
            </a:r>
            <a:r>
              <a:rPr lang="ko-KR" altLang="en-US" b="1"/>
              <a:t>진수 </a:t>
            </a:r>
            <a:r>
              <a:rPr lang="en-US" altLang="ko-KR" b="1"/>
              <a:t>2</a:t>
            </a:r>
            <a:r>
              <a:rPr lang="ko-KR" altLang="en-US" b="1"/>
              <a:t>개를 덧셈</a:t>
            </a:r>
            <a:r>
              <a:rPr lang="en-US" altLang="ko-KR" b="1"/>
              <a:t>(</a:t>
            </a:r>
            <a:r>
              <a:rPr lang="ko-KR" altLang="en-US" b="1"/>
              <a:t>가산</a:t>
            </a:r>
            <a:r>
              <a:rPr lang="en-US" altLang="ko-KR" b="1"/>
              <a:t>)</a:t>
            </a:r>
            <a:r>
              <a:rPr lang="ko-KR" altLang="en-US" b="1"/>
              <a:t>한 합</a:t>
            </a:r>
            <a:r>
              <a:rPr lang="en-US" altLang="ko-KR" b="1"/>
              <a:t>(S)</a:t>
            </a:r>
            <a:r>
              <a:rPr lang="ko-KR" altLang="en-US" b="1"/>
              <a:t>과 자리올림수</a:t>
            </a:r>
            <a:r>
              <a:rPr lang="en-US" altLang="ko-KR" b="1"/>
              <a:t>(C) </a:t>
            </a:r>
            <a:r>
              <a:rPr lang="ko-KR" altLang="en-US" b="1"/>
              <a:t>를 구하는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조합논리회로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② 입력값 </a:t>
            </a:r>
            <a:r>
              <a:rPr lang="en-US" altLang="ko-KR" b="1"/>
              <a:t>: 2</a:t>
            </a:r>
            <a:r>
              <a:rPr lang="ko-KR" altLang="en-US" b="1"/>
              <a:t>개</a:t>
            </a:r>
            <a:r>
              <a:rPr lang="en-US" altLang="ko-KR" b="1"/>
              <a:t>, </a:t>
            </a:r>
            <a:r>
              <a:rPr lang="ko-KR" altLang="en-US" b="1"/>
              <a:t>출력값 </a:t>
            </a:r>
            <a:r>
              <a:rPr lang="en-US" altLang="ko-KR" b="1"/>
              <a:t>: 2</a:t>
            </a:r>
            <a:r>
              <a:rPr lang="ko-KR" altLang="en-US" b="1"/>
              <a:t>개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5F39FE3C-3641-4592-987C-2574AC6F4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246438"/>
            <a:ext cx="1143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2) </a:t>
            </a:r>
            <a:r>
              <a:rPr lang="ko-KR" altLang="en-US" b="1"/>
              <a:t>진리표</a:t>
            </a:r>
          </a:p>
        </p:txBody>
      </p:sp>
      <p:pic>
        <p:nvPicPr>
          <p:cNvPr id="30727" name="Picture 7">
            <a:extLst>
              <a:ext uri="{FF2B5EF4-FFF2-40B4-BE49-F238E27FC236}">
                <a16:creationId xmlns:a16="http://schemas.microsoft.com/office/drawing/2014/main" id="{E688D27F-FA85-4791-AC99-5D8DDC265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716338"/>
            <a:ext cx="2663825" cy="194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번호 개체 틀 1">
            <a:extLst>
              <a:ext uri="{FF2B5EF4-FFF2-40B4-BE49-F238E27FC236}">
                <a16:creationId xmlns:a16="http://schemas.microsoft.com/office/drawing/2014/main" id="{19123298-A2C2-42C9-85F3-BC5FF3913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682FE92-94F2-4032-AD11-DDCB485507E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9748F0FE-2FCE-4D1F-A0CD-DE902C8E7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36613"/>
            <a:ext cx="66675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논리회로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한 개의 </a:t>
            </a:r>
            <a:r>
              <a:rPr lang="en-US" altLang="ko-KR" b="1"/>
              <a:t>AND </a:t>
            </a:r>
            <a:r>
              <a:rPr lang="ko-KR" altLang="en-US" b="1"/>
              <a:t>회로와 </a:t>
            </a:r>
            <a:r>
              <a:rPr lang="en-US" altLang="ko-KR" b="1"/>
              <a:t>Exclusive-OR(XOR) </a:t>
            </a:r>
            <a:r>
              <a:rPr lang="ko-KR" altLang="en-US" b="1"/>
              <a:t>회로를 조합한 회로</a:t>
            </a:r>
          </a:p>
        </p:txBody>
      </p:sp>
      <p:pic>
        <p:nvPicPr>
          <p:cNvPr id="31748" name="Picture 7">
            <a:extLst>
              <a:ext uri="{FF2B5EF4-FFF2-40B4-BE49-F238E27FC236}">
                <a16:creationId xmlns:a16="http://schemas.microsoft.com/office/drawing/2014/main" id="{43F5E0AF-CF95-49F7-8F9E-9DD07E713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773238"/>
            <a:ext cx="6769100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8">
            <a:extLst>
              <a:ext uri="{FF2B5EF4-FFF2-40B4-BE49-F238E27FC236}">
                <a16:creationId xmlns:a16="http://schemas.microsoft.com/office/drawing/2014/main" id="{41447155-6314-4587-AE96-67F0A9953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49725"/>
            <a:ext cx="11430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논리식</a:t>
            </a:r>
          </a:p>
        </p:txBody>
      </p:sp>
      <p:pic>
        <p:nvPicPr>
          <p:cNvPr id="31750" name="Picture 9">
            <a:extLst>
              <a:ext uri="{FF2B5EF4-FFF2-40B4-BE49-F238E27FC236}">
                <a16:creationId xmlns:a16="http://schemas.microsoft.com/office/drawing/2014/main" id="{61B1ED93-340E-4E01-849D-ED2B9AED6B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4645025"/>
            <a:ext cx="316865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번호 개체 틀 1">
            <a:extLst>
              <a:ext uri="{FF2B5EF4-FFF2-40B4-BE49-F238E27FC236}">
                <a16:creationId xmlns:a16="http://schemas.microsoft.com/office/drawing/2014/main" id="{6B58EBB1-E954-4818-A81A-B3A014135A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6A2E406E-4AC1-4882-95EA-2F1555C2097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C9C7953-2E7B-4FF1-9B0C-8CE76F967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060450"/>
            <a:ext cx="33845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(3) </a:t>
            </a:r>
            <a:r>
              <a:rPr lang="ko-KR" altLang="en-US" b="1"/>
              <a:t>전가산기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전가산기 </a:t>
            </a:r>
            <a:r>
              <a:rPr lang="en-US" altLang="ko-KR" b="1"/>
              <a:t>(Full Adder)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97FA8098-CA52-40DA-8EC4-F810800F8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3950" y="1804988"/>
            <a:ext cx="76962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① </a:t>
            </a:r>
            <a:r>
              <a:rPr lang="ko-KR" altLang="en-US" b="1"/>
              <a:t>반가신기의 회로에 뒷자리 에서 발생한 자리올림수를 처리할 수 있도록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한 회로</a:t>
            </a:r>
            <a:endParaRPr lang="en-US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② 입력값 </a:t>
            </a:r>
            <a:r>
              <a:rPr lang="en-US" altLang="ko-KR" b="1"/>
              <a:t>: 3</a:t>
            </a:r>
            <a:r>
              <a:rPr lang="ko-KR" altLang="en-US" b="1"/>
              <a:t>개</a:t>
            </a:r>
            <a:r>
              <a:rPr lang="en-US" altLang="ko-KR" b="1"/>
              <a:t>, </a:t>
            </a:r>
            <a:r>
              <a:rPr lang="ko-KR" altLang="en-US" b="1"/>
              <a:t>출력값 </a:t>
            </a:r>
            <a:r>
              <a:rPr lang="en-US" altLang="ko-KR" b="1"/>
              <a:t>: 2</a:t>
            </a:r>
            <a:r>
              <a:rPr lang="ko-KR" altLang="en-US" b="1"/>
              <a:t>개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7EFA1DB6-86C7-41B3-BD29-9EED0C934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141663"/>
            <a:ext cx="1143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2) </a:t>
            </a:r>
            <a:r>
              <a:rPr lang="ko-KR" altLang="en-US" b="1"/>
              <a:t>진리표</a:t>
            </a:r>
          </a:p>
        </p:txBody>
      </p:sp>
      <p:pic>
        <p:nvPicPr>
          <p:cNvPr id="32774" name="Picture 6">
            <a:extLst>
              <a:ext uri="{FF2B5EF4-FFF2-40B4-BE49-F238E27FC236}">
                <a16:creationId xmlns:a16="http://schemas.microsoft.com/office/drawing/2014/main" id="{F198082C-742C-49BB-B5AE-EAF573016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3252788"/>
            <a:ext cx="3600450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6">
            <a:extLst>
              <a:ext uri="{FF2B5EF4-FFF2-40B4-BE49-F238E27FC236}">
                <a16:creationId xmlns:a16="http://schemas.microsoft.com/office/drawing/2014/main" id="{135C81AB-1F61-427B-A9A4-6BC92DDA8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4797425"/>
            <a:ext cx="6688137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①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</a:t>
            </a:r>
            <a:r>
              <a:rPr lang="ko-KR" altLang="en-US" b="1"/>
              <a:t>전가산기의 합의 동작을 얻을 수 있는 것은 배타적 </a:t>
            </a:r>
            <a:r>
              <a:rPr lang="en-US" altLang="ko-KR" b="1"/>
              <a:t>OR</a:t>
            </a:r>
          </a:p>
        </p:txBody>
      </p:sp>
      <p:sp>
        <p:nvSpPr>
          <p:cNvPr id="33795" name="슬라이드 번호 개체 틀 1">
            <a:extLst>
              <a:ext uri="{FF2B5EF4-FFF2-40B4-BE49-F238E27FC236}">
                <a16:creationId xmlns:a16="http://schemas.microsoft.com/office/drawing/2014/main" id="{86682E48-62A3-4051-95DA-2A6863C4A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6544604-0949-4782-BF90-59D591B1964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3796" name="Rectangle 7">
            <a:extLst>
              <a:ext uri="{FF2B5EF4-FFF2-40B4-BE49-F238E27FC236}">
                <a16:creationId xmlns:a16="http://schemas.microsoft.com/office/drawing/2014/main" id="{01F9F9B1-5F6A-47CE-B134-E479C156A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81075"/>
            <a:ext cx="76327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논리 회로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1 </a:t>
            </a:r>
            <a:r>
              <a:rPr lang="ko-KR" altLang="en-US" b="1"/>
              <a:t>개의 전가산기를 구성하는데 최소한 </a:t>
            </a:r>
            <a:r>
              <a:rPr lang="en-US" altLang="ko-KR" b="1"/>
              <a:t>2</a:t>
            </a:r>
            <a:r>
              <a:rPr lang="ko-KR" altLang="en-US" b="1"/>
              <a:t>개의 반가산기가 필요함</a:t>
            </a:r>
          </a:p>
        </p:txBody>
      </p:sp>
      <p:pic>
        <p:nvPicPr>
          <p:cNvPr id="33797" name="Picture 12">
            <a:extLst>
              <a:ext uri="{FF2B5EF4-FFF2-40B4-BE49-F238E27FC236}">
                <a16:creationId xmlns:a16="http://schemas.microsoft.com/office/drawing/2014/main" id="{0D867C24-D0BA-463E-A289-068394BE1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844675"/>
            <a:ext cx="5400675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13">
            <a:extLst>
              <a:ext uri="{FF2B5EF4-FFF2-40B4-BE49-F238E27FC236}">
                <a16:creationId xmlns:a16="http://schemas.microsoft.com/office/drawing/2014/main" id="{227A050D-5A00-4798-8822-E66A2B0B7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4437063"/>
            <a:ext cx="76327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논리식</a:t>
            </a:r>
          </a:p>
        </p:txBody>
      </p:sp>
      <p:pic>
        <p:nvPicPr>
          <p:cNvPr id="33799" name="Picture 14">
            <a:extLst>
              <a:ext uri="{FF2B5EF4-FFF2-40B4-BE49-F238E27FC236}">
                <a16:creationId xmlns:a16="http://schemas.microsoft.com/office/drawing/2014/main" id="{26B44461-B66A-4F41-8139-AE6FC6A3D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875" y="4862513"/>
            <a:ext cx="208756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00" name="Picture 15">
            <a:extLst>
              <a:ext uri="{FF2B5EF4-FFF2-40B4-BE49-F238E27FC236}">
                <a16:creationId xmlns:a16="http://schemas.microsoft.com/office/drawing/2014/main" id="{1C2322C1-475F-42C5-96F9-D320184C6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25" y="5708650"/>
            <a:ext cx="2519363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1" name="Rectangle 17">
            <a:extLst>
              <a:ext uri="{FF2B5EF4-FFF2-40B4-BE49-F238E27FC236}">
                <a16:creationId xmlns:a16="http://schemas.microsoft.com/office/drawing/2014/main" id="{E35A30EA-5BF5-458C-9DEC-89B3A8204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5661025"/>
            <a:ext cx="407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번호 개체 틀 1">
            <a:extLst>
              <a:ext uri="{FF2B5EF4-FFF2-40B4-BE49-F238E27FC236}">
                <a16:creationId xmlns:a16="http://schemas.microsoft.com/office/drawing/2014/main" id="{4CCACDC5-C214-49B2-B744-8FEBC85AFD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5B0361A-5859-408D-B328-13B95D3D9C0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32FC6E2-B535-4460-84D9-C93F5F405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92150"/>
            <a:ext cx="8208962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(4) </a:t>
            </a:r>
            <a:r>
              <a:rPr lang="ko-KR" altLang="en-US" b="1"/>
              <a:t>병렬 가산기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n Bit </a:t>
            </a:r>
            <a:r>
              <a:rPr lang="ko-KR" altLang="en-US" b="1"/>
              <a:t>로 된 </a:t>
            </a:r>
            <a:r>
              <a:rPr lang="en-US" altLang="ko-KR" b="1"/>
              <a:t>2 </a:t>
            </a:r>
            <a:r>
              <a:rPr lang="ko-KR" altLang="en-US" b="1"/>
              <a:t>진수 </a:t>
            </a:r>
            <a:r>
              <a:rPr lang="en-US" altLang="ko-KR" b="1"/>
              <a:t>A , B </a:t>
            </a:r>
            <a:r>
              <a:rPr lang="ko-KR" altLang="en-US" b="1"/>
              <a:t>에 대한 덧셈을 </a:t>
            </a:r>
            <a:r>
              <a:rPr lang="en-US" altLang="ko-KR" b="1"/>
              <a:t>n </a:t>
            </a:r>
            <a:r>
              <a:rPr lang="ko-KR" altLang="en-US" b="1"/>
              <a:t>개의 전가산기를 이용하여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구현한 실질적인 가산기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문제</a:t>
            </a:r>
            <a:r>
              <a:rPr lang="en-US" altLang="ko-KR" b="1"/>
              <a:t>) </a:t>
            </a:r>
            <a:r>
              <a:rPr lang="ko-KR" altLang="en-US" b="1"/>
              <a:t>그림에서 </a:t>
            </a:r>
            <a:r>
              <a:rPr lang="en-US" altLang="ko-KR" b="1"/>
              <a:t>F</a:t>
            </a:r>
            <a:r>
              <a:rPr lang="ko-KR" altLang="en-US" b="1"/>
              <a:t>의 값은</a:t>
            </a:r>
            <a:r>
              <a:rPr lang="en-US" altLang="ko-KR" b="1"/>
              <a:t>?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992CE9CA-DFBC-4041-9123-79E2EFBC1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086225"/>
            <a:ext cx="76327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-"/>
            </a:pPr>
            <a:r>
              <a:rPr lang="en-US" altLang="ko-KR" b="1"/>
              <a:t> 2</a:t>
            </a:r>
            <a:r>
              <a:rPr lang="ko-KR" altLang="en-US" b="1"/>
              <a:t>진수의 비트 열이 모두 </a:t>
            </a:r>
            <a:r>
              <a:rPr lang="en-US" altLang="ko-KR" b="1"/>
              <a:t>1</a:t>
            </a:r>
            <a:r>
              <a:rPr lang="ko-KR" altLang="en-US" b="1"/>
              <a:t>일 경우 </a:t>
            </a:r>
            <a:r>
              <a:rPr lang="en-US" altLang="ko-KR" b="1"/>
              <a:t>: -1 (2</a:t>
            </a:r>
            <a:r>
              <a:rPr lang="ko-KR" altLang="en-US" b="1"/>
              <a:t>의 보수법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30000"/>
              </a:lnSpc>
              <a:buFontTx/>
              <a:buChar char="-"/>
            </a:pPr>
            <a:r>
              <a:rPr lang="en-US" altLang="ko-KR" b="1"/>
              <a:t> </a:t>
            </a:r>
            <a:r>
              <a:rPr lang="ko-KR" altLang="en-US" b="1"/>
              <a:t>예</a:t>
            </a:r>
            <a:r>
              <a:rPr lang="en-US" altLang="ko-KR" b="1"/>
              <a:t>)  A  : </a:t>
            </a:r>
            <a:r>
              <a:rPr lang="en-US" altLang="ko-KR" sz="800" b="1"/>
              <a:t>         </a:t>
            </a:r>
            <a:r>
              <a:rPr lang="en-US" altLang="ko-KR" b="1"/>
              <a:t>   0   1   0   1   (+5)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B  :  </a:t>
            </a:r>
            <a:r>
              <a:rPr lang="en-US" altLang="ko-KR" sz="800" b="1"/>
              <a:t>  </a:t>
            </a:r>
            <a:r>
              <a:rPr lang="en-US" altLang="ko-KR" b="1"/>
              <a:t>     1   1   1   1   (-1)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C</a:t>
            </a:r>
            <a:r>
              <a:rPr lang="en-US" altLang="ko-KR" b="1" baseline="-25000"/>
              <a:t>1</a:t>
            </a:r>
            <a:r>
              <a:rPr lang="en-US" altLang="ko-KR" b="1"/>
              <a:t> :      </a:t>
            </a:r>
            <a:r>
              <a:rPr lang="en-US" altLang="ko-KR" sz="800" b="1"/>
              <a:t>  </a:t>
            </a:r>
            <a:r>
              <a:rPr lang="en-US" altLang="ko-KR" b="1"/>
              <a:t> 0   0   0   0   ( 0 )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F  :   1  </a:t>
            </a:r>
            <a:r>
              <a:rPr lang="en-US" altLang="ko-KR" sz="800" b="1"/>
              <a:t> </a:t>
            </a:r>
            <a:r>
              <a:rPr lang="en-US" altLang="ko-KR" b="1"/>
              <a:t> 0   1   0   0   (+4)	   : F</a:t>
            </a:r>
            <a:r>
              <a:rPr lang="ko-KR" altLang="en-US" b="1"/>
              <a:t>의 최상위 </a:t>
            </a:r>
            <a:r>
              <a:rPr lang="en-US" altLang="ko-KR" b="1"/>
              <a:t>bit 1</a:t>
            </a:r>
            <a:r>
              <a:rPr lang="ko-KR" altLang="en-US" b="1"/>
              <a:t>은 버림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</a:t>
            </a:r>
            <a:r>
              <a:rPr lang="en-US" altLang="ko-KR" b="1"/>
              <a:t>-&gt; F = A - 1</a:t>
            </a:r>
          </a:p>
        </p:txBody>
      </p:sp>
      <p:sp>
        <p:nvSpPr>
          <p:cNvPr id="34821" name="Line 5">
            <a:extLst>
              <a:ext uri="{FF2B5EF4-FFF2-40B4-BE49-F238E27FC236}">
                <a16:creationId xmlns:a16="http://schemas.microsoft.com/office/drawing/2014/main" id="{360D64CE-7FA6-445F-BFCA-5D47C7845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5597525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pic>
        <p:nvPicPr>
          <p:cNvPr id="34822" name="Picture 7">
            <a:extLst>
              <a:ext uri="{FF2B5EF4-FFF2-40B4-BE49-F238E27FC236}">
                <a16:creationId xmlns:a16="http://schemas.microsoft.com/office/drawing/2014/main" id="{BDAC3090-5D7E-493C-A0F4-C2091C950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2133600"/>
            <a:ext cx="4195762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번호 개체 틀 1">
            <a:extLst>
              <a:ext uri="{FF2B5EF4-FFF2-40B4-BE49-F238E27FC236}">
                <a16:creationId xmlns:a16="http://schemas.microsoft.com/office/drawing/2014/main" id="{0CA889F6-31AB-4CD8-A2C0-6D65E9D73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DE6E3FB-D0AF-4BAA-AEC7-47DA34E2FAF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57803E4-5E1F-4243-B9BE-223C31EFA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3783013"/>
            <a:ext cx="763270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   </a:t>
            </a:r>
            <a:r>
              <a:rPr lang="ko-KR" altLang="en-US" b="1"/>
              <a:t>예</a:t>
            </a:r>
            <a:r>
              <a:rPr lang="en-US" altLang="ko-KR" b="1"/>
              <a:t>)  A  : </a:t>
            </a:r>
            <a:r>
              <a:rPr lang="en-US" altLang="ko-KR" sz="800" b="1"/>
              <a:t>         </a:t>
            </a:r>
            <a:r>
              <a:rPr lang="en-US" altLang="ko-KR" b="1"/>
              <a:t>   0   1   0   1   (+5)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B  :  </a:t>
            </a:r>
            <a:r>
              <a:rPr lang="en-US" altLang="ko-KR" sz="800" b="1"/>
              <a:t>  </a:t>
            </a:r>
            <a:r>
              <a:rPr lang="en-US" altLang="ko-KR" b="1"/>
              <a:t>     0   0   0   0   ( 0 )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C</a:t>
            </a:r>
            <a:r>
              <a:rPr lang="en-US" altLang="ko-KR" b="1" baseline="-25000"/>
              <a:t>i</a:t>
            </a:r>
            <a:r>
              <a:rPr lang="en-US" altLang="ko-KR" b="1"/>
              <a:t> :      </a:t>
            </a:r>
            <a:r>
              <a:rPr lang="en-US" altLang="ko-KR" sz="800" b="1"/>
              <a:t>   </a:t>
            </a:r>
            <a:r>
              <a:rPr lang="en-US" altLang="ko-KR" b="1"/>
              <a:t> 0   0   0   1   ( 1 )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F  :    </a:t>
            </a:r>
            <a:r>
              <a:rPr lang="en-US" altLang="ko-KR" sz="800" b="1"/>
              <a:t> </a:t>
            </a:r>
            <a:r>
              <a:rPr lang="en-US" altLang="ko-KR" b="1"/>
              <a:t>  </a:t>
            </a:r>
            <a:r>
              <a:rPr lang="en-US" altLang="ko-KR" sz="800" b="1"/>
              <a:t> </a:t>
            </a:r>
            <a:r>
              <a:rPr lang="en-US" altLang="ko-KR" b="1"/>
              <a:t> 0   1   1   0   (+6)	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-&gt; F = A + 1 </a:t>
            </a:r>
            <a:r>
              <a:rPr lang="ko-KR" altLang="en-US" b="1"/>
              <a:t>이므로 병렬가산기가 </a:t>
            </a:r>
            <a:r>
              <a:rPr lang="en-US" altLang="ko-KR" b="1"/>
              <a:t>A</a:t>
            </a:r>
            <a:r>
              <a:rPr lang="ko-KR" altLang="en-US" b="1"/>
              <a:t>값에 </a:t>
            </a:r>
            <a:r>
              <a:rPr lang="en-US" altLang="ko-KR" b="1"/>
              <a:t>C</a:t>
            </a:r>
            <a:r>
              <a:rPr lang="en-US" altLang="ko-KR" b="1" baseline="-25000"/>
              <a:t>i </a:t>
            </a:r>
            <a:r>
              <a:rPr lang="ko-KR" altLang="en-US" b="1"/>
              <a:t>값 </a:t>
            </a:r>
            <a:r>
              <a:rPr lang="en-US" altLang="ko-KR" b="1"/>
              <a:t>1</a:t>
            </a:r>
            <a:r>
              <a:rPr lang="ko-KR" altLang="en-US" b="1"/>
              <a:t>을 더함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   즉 </a:t>
            </a:r>
            <a:r>
              <a:rPr lang="en-US" altLang="ko-KR" b="1"/>
              <a:t>Increment </a:t>
            </a:r>
            <a:r>
              <a:rPr lang="ko-KR" altLang="en-US" b="1"/>
              <a:t>기능을 수행한다</a:t>
            </a:r>
            <a:r>
              <a:rPr lang="en-US" altLang="ko-KR" b="1"/>
              <a:t>.</a:t>
            </a:r>
          </a:p>
        </p:txBody>
      </p:sp>
      <p:sp>
        <p:nvSpPr>
          <p:cNvPr id="35844" name="Line 4">
            <a:extLst>
              <a:ext uri="{FF2B5EF4-FFF2-40B4-BE49-F238E27FC236}">
                <a16:creationId xmlns:a16="http://schemas.microsoft.com/office/drawing/2014/main" id="{6B3402F5-AB69-415F-8769-E67631938E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8025" y="4957763"/>
            <a:ext cx="2952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ko-KR" altLang="en-US"/>
          </a:p>
        </p:txBody>
      </p:sp>
      <p:sp>
        <p:nvSpPr>
          <p:cNvPr id="35845" name="Rectangle 6">
            <a:extLst>
              <a:ext uri="{FF2B5EF4-FFF2-40B4-BE49-F238E27FC236}">
                <a16:creationId xmlns:a16="http://schemas.microsoft.com/office/drawing/2014/main" id="{81EC2814-924D-41E6-A284-363CBDA20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042988"/>
            <a:ext cx="8140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② </a:t>
            </a:r>
            <a:r>
              <a:rPr lang="ko-KR" altLang="en-US" b="1"/>
              <a:t>다음 그림에 해당하는 마이크로 오퍼레이션 동작은 어떤 기능을 수행하는가</a:t>
            </a:r>
            <a:r>
              <a:rPr lang="en-US" altLang="ko-KR" b="1"/>
              <a:t>?</a:t>
            </a:r>
          </a:p>
        </p:txBody>
      </p:sp>
      <p:pic>
        <p:nvPicPr>
          <p:cNvPr id="35846" name="Picture 7">
            <a:extLst>
              <a:ext uri="{FF2B5EF4-FFF2-40B4-BE49-F238E27FC236}">
                <a16:creationId xmlns:a16="http://schemas.microsoft.com/office/drawing/2014/main" id="{BFF0916D-3FDE-419D-B680-718CC2E6E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474788"/>
            <a:ext cx="49053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번호 개체 틀 1">
            <a:extLst>
              <a:ext uri="{FF2B5EF4-FFF2-40B4-BE49-F238E27FC236}">
                <a16:creationId xmlns:a16="http://schemas.microsoft.com/office/drawing/2014/main" id="{6FB105F3-2C9F-4C00-AB38-C3EF412FD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2A1FE92-1B65-44C3-9F82-1E71F61CBC7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52AE218-BB42-4FD8-9EB6-2CBDA8D76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92150"/>
            <a:ext cx="8208962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(5) </a:t>
            </a:r>
            <a:r>
              <a:rPr lang="ko-KR" altLang="en-US" b="1"/>
              <a:t>디코더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디코더 </a:t>
            </a:r>
            <a:r>
              <a:rPr lang="en-US" altLang="ko-KR" b="1"/>
              <a:t>(Decoder)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N</a:t>
            </a:r>
            <a:r>
              <a:rPr lang="ko-KR" altLang="en-US" b="1"/>
              <a:t>비트 입력단자를 통하여 들어온 </a:t>
            </a:r>
            <a:r>
              <a:rPr lang="en-US" altLang="ko-KR" b="1"/>
              <a:t>2</a:t>
            </a:r>
            <a:r>
              <a:rPr lang="ko-KR" altLang="en-US" b="1"/>
              <a:t>진 신호를 최대 </a:t>
            </a:r>
            <a:r>
              <a:rPr lang="en-US" altLang="ko-KR" b="1"/>
              <a:t>2</a:t>
            </a:r>
            <a:r>
              <a:rPr lang="en-US" altLang="ko-KR" b="1" baseline="30000"/>
              <a:t>N</a:t>
            </a:r>
            <a:r>
              <a:rPr lang="ko-KR" altLang="en-US" b="1"/>
              <a:t>개의 출력단자 중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하나를 선택하는 회로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진리표</a:t>
            </a:r>
          </a:p>
        </p:txBody>
      </p:sp>
      <p:pic>
        <p:nvPicPr>
          <p:cNvPr id="36868" name="Picture 7">
            <a:extLst>
              <a:ext uri="{FF2B5EF4-FFF2-40B4-BE49-F238E27FC236}">
                <a16:creationId xmlns:a16="http://schemas.microsoft.com/office/drawing/2014/main" id="{52C3FB05-CB71-4456-BBFB-A06EFEE32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3213100"/>
            <a:ext cx="4824413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Text Box 8">
            <a:extLst>
              <a:ext uri="{FF2B5EF4-FFF2-40B4-BE49-F238E27FC236}">
                <a16:creationId xmlns:a16="http://schemas.microsoft.com/office/drawing/2014/main" id="{D731B5AA-ABBE-4CE1-B21E-60F428E07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373688"/>
            <a:ext cx="45450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l-GR" altLang="ko-KR" b="1"/>
              <a:t>※</a:t>
            </a:r>
            <a:r>
              <a:rPr lang="en-US" altLang="ko-KR" b="1"/>
              <a:t> </a:t>
            </a:r>
            <a:r>
              <a:rPr lang="ko-KR" altLang="en-US" b="1"/>
              <a:t>디코더의 출력이 </a:t>
            </a:r>
            <a:r>
              <a:rPr lang="en-US" altLang="ko-KR" b="1"/>
              <a:t>4</a:t>
            </a:r>
            <a:r>
              <a:rPr lang="ko-KR" altLang="en-US" b="1"/>
              <a:t>개일 때</a:t>
            </a:r>
            <a:r>
              <a:rPr lang="en-US" altLang="ko-KR" b="1"/>
              <a:t>, </a:t>
            </a:r>
            <a:r>
              <a:rPr lang="ko-KR" altLang="en-US" b="1"/>
              <a:t>입력은 </a:t>
            </a:r>
            <a:r>
              <a:rPr lang="en-US" altLang="ko-KR" b="1"/>
              <a:t>2</a:t>
            </a:r>
            <a:r>
              <a:rPr lang="ko-KR" altLang="en-US" b="1"/>
              <a:t>개임</a:t>
            </a:r>
            <a:endParaRPr lang="ko-KR" altLang="el-GR"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번호 개체 틀 1">
            <a:extLst>
              <a:ext uri="{FF2B5EF4-FFF2-40B4-BE49-F238E27FC236}">
                <a16:creationId xmlns:a16="http://schemas.microsoft.com/office/drawing/2014/main" id="{E402848D-1F24-457A-8F10-1A4D9809D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AF8E5FD-33E2-4552-B103-56DAA04DC43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5762C9A3-2A1F-4420-B756-6E63809D6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052513"/>
            <a:ext cx="82089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논리 회로</a:t>
            </a:r>
          </a:p>
        </p:txBody>
      </p:sp>
      <p:pic>
        <p:nvPicPr>
          <p:cNvPr id="37892" name="Picture 4">
            <a:extLst>
              <a:ext uri="{FF2B5EF4-FFF2-40B4-BE49-F238E27FC236}">
                <a16:creationId xmlns:a16="http://schemas.microsoft.com/office/drawing/2014/main" id="{72868889-90F2-4518-A59A-4314129DE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700213"/>
            <a:ext cx="4608513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Rectangle 5">
            <a:extLst>
              <a:ext uri="{FF2B5EF4-FFF2-40B4-BE49-F238E27FC236}">
                <a16:creationId xmlns:a16="http://schemas.microsoft.com/office/drawing/2014/main" id="{D774FC21-EF0E-4BE6-91C2-79D5F4912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038" y="5300663"/>
            <a:ext cx="82089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* </a:t>
            </a:r>
            <a:r>
              <a:rPr lang="ko-KR" altLang="en-US" b="1"/>
              <a:t>디코더는 주로 </a:t>
            </a:r>
            <a:r>
              <a:rPr lang="en-US" altLang="ko-KR" b="1"/>
              <a:t>AND </a:t>
            </a:r>
            <a:r>
              <a:rPr lang="ko-KR" altLang="en-US" b="1"/>
              <a:t>게이트의 집합으로 구성됨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번호 개체 틀 1">
            <a:extLst>
              <a:ext uri="{FF2B5EF4-FFF2-40B4-BE49-F238E27FC236}">
                <a16:creationId xmlns:a16="http://schemas.microsoft.com/office/drawing/2014/main" id="{F67CA77F-774A-44AF-8238-C5EC7EE24B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9D49350-E01B-47A7-9DD4-241066A2A59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565DE20-90FA-4965-8F93-21DFD546C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10080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문제 </a:t>
            </a:r>
          </a:p>
        </p:txBody>
      </p:sp>
      <p:pic>
        <p:nvPicPr>
          <p:cNvPr id="38916" name="Picture 5">
            <a:extLst>
              <a:ext uri="{FF2B5EF4-FFF2-40B4-BE49-F238E27FC236}">
                <a16:creationId xmlns:a16="http://schemas.microsoft.com/office/drawing/2014/main" id="{95FF5F7A-99CF-4097-B62F-6210E8F74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836613"/>
            <a:ext cx="3744913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Rectangle 6">
            <a:extLst>
              <a:ext uri="{FF2B5EF4-FFF2-40B4-BE49-F238E27FC236}">
                <a16:creationId xmlns:a16="http://schemas.microsoft.com/office/drawing/2014/main" id="{7969C47F-5152-4C22-AEBD-243922A76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789363"/>
            <a:ext cx="532923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A</a:t>
            </a:r>
            <a:r>
              <a:rPr lang="ko-KR" altLang="en-US" b="1"/>
              <a:t>로 입력되는 </a:t>
            </a:r>
            <a:r>
              <a:rPr lang="en-US" altLang="ko-KR" b="1"/>
              <a:t>4</a:t>
            </a:r>
            <a:r>
              <a:rPr lang="ko-KR" altLang="en-US" b="1"/>
              <a:t>개의 디코더 출력선 </a:t>
            </a:r>
          </a:p>
        </p:txBody>
      </p:sp>
      <p:pic>
        <p:nvPicPr>
          <p:cNvPr id="38918" name="Picture 7">
            <a:extLst>
              <a:ext uri="{FF2B5EF4-FFF2-40B4-BE49-F238E27FC236}">
                <a16:creationId xmlns:a16="http://schemas.microsoft.com/office/drawing/2014/main" id="{F2AB0B35-5070-4D47-83F4-9DE286EB1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4365625"/>
            <a:ext cx="33115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9" name="Rectangle 8">
            <a:extLst>
              <a:ext uri="{FF2B5EF4-FFF2-40B4-BE49-F238E27FC236}">
                <a16:creationId xmlns:a16="http://schemas.microsoft.com/office/drawing/2014/main" id="{40999B0B-A535-4ED9-AE8E-510395702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437063"/>
            <a:ext cx="3960813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-"/>
            </a:pPr>
            <a:r>
              <a:rPr lang="ko-KR" altLang="en-US" b="1"/>
              <a:t>디코더의 출력선 중 </a:t>
            </a:r>
            <a:r>
              <a:rPr lang="en-US" altLang="ko-KR" b="1"/>
              <a:t>1, 2</a:t>
            </a:r>
            <a:r>
              <a:rPr lang="ko-KR" altLang="en-US" b="1"/>
              <a:t>번 절단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</a:t>
            </a:r>
            <a:r>
              <a:rPr lang="en-US" altLang="ko-KR" b="1"/>
              <a:t>0, 3</a:t>
            </a:r>
            <a:r>
              <a:rPr lang="ko-KR" altLang="en-US" b="1"/>
              <a:t>번이 선택되었을 때 </a:t>
            </a:r>
            <a:r>
              <a:rPr lang="en-US" altLang="ko-KR" b="1"/>
              <a:t>A</a:t>
            </a:r>
            <a:r>
              <a:rPr lang="ko-KR" altLang="en-US" b="1"/>
              <a:t>의 출력이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</a:t>
            </a:r>
            <a:r>
              <a:rPr lang="en-US" altLang="ko-KR" b="1"/>
              <a:t>1</a:t>
            </a:r>
            <a:r>
              <a:rPr lang="ko-KR" altLang="en-US" b="1"/>
              <a:t>이됨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정답 </a:t>
            </a:r>
            <a:r>
              <a:rPr lang="en-US" altLang="ko-KR" b="1"/>
              <a:t>: </a:t>
            </a:r>
          </a:p>
        </p:txBody>
      </p:sp>
      <p:pic>
        <p:nvPicPr>
          <p:cNvPr id="38920" name="Picture 9">
            <a:extLst>
              <a:ext uri="{FF2B5EF4-FFF2-40B4-BE49-F238E27FC236}">
                <a16:creationId xmlns:a16="http://schemas.microsoft.com/office/drawing/2014/main" id="{4010C824-C172-4EC7-9A30-EC2DFF30F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5491163"/>
            <a:ext cx="18732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번호 개체 틀 1">
            <a:extLst>
              <a:ext uri="{FF2B5EF4-FFF2-40B4-BE49-F238E27FC236}">
                <a16:creationId xmlns:a16="http://schemas.microsoft.com/office/drawing/2014/main" id="{E6EA630C-953A-43F8-887C-E0E2AED9E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C7222FE-14F1-4B07-A363-002969C8C8C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32F73B6-01AC-474A-A6B3-230061B4C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08050"/>
            <a:ext cx="8137525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(6) </a:t>
            </a:r>
            <a:r>
              <a:rPr lang="ko-KR" altLang="en-US" b="1"/>
              <a:t>인코더 </a:t>
            </a:r>
            <a:r>
              <a:rPr lang="en-US" altLang="ko-KR" b="1"/>
              <a:t>(Encoder)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1) </a:t>
            </a:r>
            <a:r>
              <a:rPr lang="ko-KR" altLang="en-US" b="1"/>
              <a:t>디코더의 반대 동작을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2) 2</a:t>
            </a:r>
            <a:r>
              <a:rPr lang="en-US" altLang="ko-KR" b="1" baseline="30000"/>
              <a:t>N</a:t>
            </a:r>
            <a:r>
              <a:rPr lang="ko-KR" altLang="en-US" b="1"/>
              <a:t>개의 입력단자에 대해 </a:t>
            </a:r>
            <a:r>
              <a:rPr lang="en-US" altLang="ko-KR" b="1"/>
              <a:t>N</a:t>
            </a:r>
            <a:r>
              <a:rPr lang="ko-KR" altLang="en-US" b="1"/>
              <a:t>개의출력단자로 코드화해서 출력하는 회로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(7) </a:t>
            </a:r>
            <a:r>
              <a:rPr lang="ko-KR" altLang="en-US" b="1"/>
              <a:t>멀티플렉서 </a:t>
            </a:r>
            <a:r>
              <a:rPr lang="en-US" altLang="ko-KR" b="1"/>
              <a:t>(MUX, Multiplexer)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1) N</a:t>
            </a:r>
            <a:r>
              <a:rPr lang="ko-KR" altLang="en-US" b="1"/>
              <a:t>개의 입력 데이터에서 입력선을 선택하여 단일 채널로 송신하는 것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버스</a:t>
            </a:r>
            <a:r>
              <a:rPr lang="en-US" altLang="ko-KR" b="1"/>
              <a:t>(bus) </a:t>
            </a:r>
            <a:r>
              <a:rPr lang="ko-KR" altLang="en-US" b="1"/>
              <a:t>를 구성하는데 사용할 수 있는 논리회로</a:t>
            </a:r>
          </a:p>
          <a:p>
            <a:pPr eaLnBrk="1" hangingPunct="1">
              <a:lnSpc>
                <a:spcPct val="130000"/>
              </a:lnSpc>
            </a:pPr>
            <a:endParaRPr lang="ko-KR" altLang="en-US" b="1"/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(8) </a:t>
            </a:r>
            <a:r>
              <a:rPr lang="ko-KR" altLang="en-US" b="1"/>
              <a:t>디멀티플렉서 </a:t>
            </a:r>
            <a:r>
              <a:rPr lang="en-US" altLang="ko-KR" b="1"/>
              <a:t>(DeMUX, DeMultiplexer)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1) </a:t>
            </a:r>
            <a:r>
              <a:rPr lang="ko-KR" altLang="en-US" b="1"/>
              <a:t>멀티플렉서의 반대 동작을 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2) 1</a:t>
            </a:r>
            <a:r>
              <a:rPr lang="ko-KR" altLang="en-US" b="1"/>
              <a:t>개의 입력선으로 들어오는 정보를 </a:t>
            </a:r>
            <a:r>
              <a:rPr lang="en-US" altLang="ko-KR" b="1"/>
              <a:t>2</a:t>
            </a:r>
            <a:r>
              <a:rPr lang="en-US" altLang="ko-KR" b="1" baseline="30000"/>
              <a:t>N</a:t>
            </a:r>
            <a:r>
              <a:rPr lang="ko-KR" altLang="en-US" b="1"/>
              <a:t>개의 출력선 중 </a:t>
            </a:r>
            <a:r>
              <a:rPr lang="en-US" altLang="ko-KR" b="1"/>
              <a:t>1</a:t>
            </a:r>
            <a:r>
              <a:rPr lang="ko-KR" altLang="en-US" b="1"/>
              <a:t>개를 선택하여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출력하는 회로</a:t>
            </a:r>
          </a:p>
          <a:p>
            <a:pPr eaLnBrk="1" hangingPunct="1">
              <a:lnSpc>
                <a:spcPct val="130000"/>
              </a:lnSpc>
            </a:pPr>
            <a:endParaRPr lang="en-US" altLang="ko-KR"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번호 개체 틀 1">
            <a:extLst>
              <a:ext uri="{FF2B5EF4-FFF2-40B4-BE49-F238E27FC236}">
                <a16:creationId xmlns:a16="http://schemas.microsoft.com/office/drawing/2014/main" id="{0B8A1D3A-BBF4-4178-9ABE-2898A074E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8464768-54FA-4D9A-AA02-2924602E63F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2F22471E-A90D-4C91-A94A-430B9A3B5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613"/>
            <a:ext cx="217328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6. </a:t>
            </a:r>
            <a:r>
              <a:rPr lang="ko-KR" altLang="en-US" sz="2200" b="1"/>
              <a:t>순서논리회로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E94E87E6-6DE0-48E7-B613-293B0DF06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8838" y="1300163"/>
            <a:ext cx="2092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(1) </a:t>
            </a:r>
            <a:r>
              <a:rPr lang="ko-KR" altLang="en-US" sz="2000" b="1"/>
              <a:t>순서논리회로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C1A2745B-7B11-49CF-920B-56DAD938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1700213"/>
            <a:ext cx="7561262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R"/>
            </a:pPr>
            <a:r>
              <a:rPr lang="ko-KR" altLang="en-US" b="1"/>
              <a:t>외부로부터의 입력과 현재 상태에 따라 출력이 결정되는 회로</a:t>
            </a:r>
          </a:p>
          <a:p>
            <a:pPr eaLnBrk="1" hangingPunct="1">
              <a:lnSpc>
                <a:spcPct val="120000"/>
              </a:lnSpc>
              <a:buFontTx/>
              <a:buAutoNum type="arabicParenR"/>
            </a:pPr>
            <a:r>
              <a:rPr lang="ko-KR" altLang="en-US" b="1"/>
              <a:t>종류 </a:t>
            </a:r>
            <a:r>
              <a:rPr lang="en-US" altLang="ko-KR" b="1"/>
              <a:t>: </a:t>
            </a:r>
            <a:r>
              <a:rPr lang="ko-KR" altLang="en-US" b="1"/>
              <a:t>플립플롭</a:t>
            </a:r>
            <a:r>
              <a:rPr lang="en-US" altLang="ko-KR" b="1"/>
              <a:t>, </a:t>
            </a:r>
            <a:r>
              <a:rPr lang="ko-KR" altLang="en-US" b="1"/>
              <a:t>카운터</a:t>
            </a:r>
            <a:r>
              <a:rPr lang="en-US" altLang="ko-KR" b="1"/>
              <a:t>, </a:t>
            </a:r>
            <a:r>
              <a:rPr lang="ko-KR" altLang="en-US" b="1"/>
              <a:t>레지스터</a:t>
            </a:r>
            <a:r>
              <a:rPr lang="en-US" altLang="ko-KR" b="1"/>
              <a:t>, SRAM, CPU </a:t>
            </a:r>
            <a:r>
              <a:rPr lang="ko-KR" altLang="en-US" b="1"/>
              <a:t>등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A216FD0D-F1F1-4B5D-AA39-E7D5FBC9B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2684463"/>
            <a:ext cx="78486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(2) </a:t>
            </a:r>
            <a:r>
              <a:rPr lang="ko-KR" altLang="en-US" sz="2000" b="1"/>
              <a:t>플립플롭 </a:t>
            </a:r>
            <a:r>
              <a:rPr lang="en-US" altLang="ko-KR" sz="2000" b="1"/>
              <a:t>(FF, Flip-Flop)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1) </a:t>
            </a:r>
            <a:r>
              <a:rPr lang="ko-KR" altLang="en-US" b="1"/>
              <a:t>플립플롭은 전원이 공급되고 있는 한 상태의 변화를 위한 신호가 발생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할 때까지 현재의 상태를 그대로 유지하는 논리회로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2) 1bit </a:t>
            </a:r>
            <a:r>
              <a:rPr lang="ko-KR" altLang="en-US" b="1"/>
              <a:t>를 기억하는 메모리 소자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3) </a:t>
            </a:r>
            <a:r>
              <a:rPr lang="ko-KR" altLang="en-US" b="1"/>
              <a:t>종류 </a:t>
            </a:r>
            <a:r>
              <a:rPr lang="en-US" altLang="ko-KR" b="1"/>
              <a:t>:  RS-FF, D-FF, JK-FF, T-FF, RST-FF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번호 개체 틀 1">
            <a:extLst>
              <a:ext uri="{FF2B5EF4-FFF2-40B4-BE49-F238E27FC236}">
                <a16:creationId xmlns:a16="http://schemas.microsoft.com/office/drawing/2014/main" id="{B59CB26C-90FB-43DE-B155-D8E32A295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85E406E-07F1-4B51-9C82-BEF34366896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graphicFrame>
        <p:nvGraphicFramePr>
          <p:cNvPr id="196884" name="Group 276">
            <a:extLst>
              <a:ext uri="{FF2B5EF4-FFF2-40B4-BE49-F238E27FC236}">
                <a16:creationId xmlns:a16="http://schemas.microsoft.com/office/drawing/2014/main" id="{334B988A-11B0-4E1F-9284-5E1FCB29FABF}"/>
              </a:ext>
            </a:extLst>
          </p:cNvPr>
          <p:cNvGraphicFramePr>
            <a:graphicFrameLocks noGrp="1"/>
          </p:cNvGraphicFramePr>
          <p:nvPr/>
        </p:nvGraphicFramePr>
        <p:xfrm>
          <a:off x="2124075" y="2060575"/>
          <a:ext cx="4895850" cy="3108325"/>
        </p:xfrm>
        <a:graphic>
          <a:graphicData uri="http://schemas.openxmlformats.org/drawingml/2006/table">
            <a:tbl>
              <a:tblPr/>
              <a:tblGrid>
                <a:gridCol w="882650">
                  <a:extLst>
                    <a:ext uri="{9D8B030D-6E8A-4147-A177-3AD203B41FA5}">
                      <a16:colId xmlns:a16="http://schemas.microsoft.com/office/drawing/2014/main" val="1428087112"/>
                    </a:ext>
                  </a:extLst>
                </a:gridCol>
                <a:gridCol w="874713">
                  <a:extLst>
                    <a:ext uri="{9D8B030D-6E8A-4147-A177-3AD203B41FA5}">
                      <a16:colId xmlns:a16="http://schemas.microsoft.com/office/drawing/2014/main" val="1639160410"/>
                    </a:ext>
                  </a:extLst>
                </a:gridCol>
                <a:gridCol w="954087">
                  <a:extLst>
                    <a:ext uri="{9D8B030D-6E8A-4147-A177-3AD203B41FA5}">
                      <a16:colId xmlns:a16="http://schemas.microsoft.com/office/drawing/2014/main" val="283869307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503039945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734215501"/>
                    </a:ext>
                  </a:extLst>
                </a:gridCol>
              </a:tblGrid>
              <a:tr h="40947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R(K)</a:t>
                      </a:r>
                    </a:p>
                  </a:txBody>
                  <a:tcPr marL="90000" marR="90000" marT="46788" marB="46788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S(J)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현상태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RS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형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JK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형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5707"/>
                  </a:ext>
                </a:extLst>
              </a:tr>
              <a:tr h="337356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121226"/>
                  </a:ext>
                </a:extLst>
              </a:tr>
              <a:tr h="3373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628939"/>
                  </a:ext>
                </a:extLst>
              </a:tr>
              <a:tr h="337356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073182"/>
                  </a:ext>
                </a:extLst>
              </a:tr>
              <a:tr h="3373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3522"/>
                  </a:ext>
                </a:extLst>
              </a:tr>
              <a:tr h="337356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517462"/>
                  </a:ext>
                </a:extLst>
              </a:tr>
              <a:tr h="3373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544342"/>
                  </a:ext>
                </a:extLst>
              </a:tr>
              <a:tr h="337356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동작안됨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(</a:t>
                      </a:r>
                      <a:r>
                        <a:rPr kumimoji="1" lang="ko-KR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부정</a:t>
                      </a: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)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6729"/>
                  </a:ext>
                </a:extLst>
              </a:tr>
              <a:tr h="3373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L="90000" marR="90000" marT="46788" marB="4678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338662"/>
                  </a:ext>
                </a:extLst>
              </a:tr>
            </a:tbl>
          </a:graphicData>
        </a:graphic>
      </p:graphicFrame>
      <p:sp>
        <p:nvSpPr>
          <p:cNvPr id="42037" name="Text Box 277">
            <a:extLst>
              <a:ext uri="{FF2B5EF4-FFF2-40B4-BE49-F238E27FC236}">
                <a16:creationId xmlns:a16="http://schemas.microsoft.com/office/drawing/2014/main" id="{E8103040-DF8D-4842-80AC-B11DB1D57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65175"/>
            <a:ext cx="28384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R : Rest : 0</a:t>
            </a:r>
            <a:r>
              <a:rPr lang="ko-KR" altLang="en-US" sz="2000" b="1"/>
              <a:t>으로 초기화</a:t>
            </a:r>
          </a:p>
          <a:p>
            <a:pPr eaLnBrk="1" hangingPunct="1"/>
            <a:r>
              <a:rPr lang="en-US" altLang="ko-KR" sz="2000" b="1"/>
              <a:t>S : Set   : 1</a:t>
            </a:r>
            <a:r>
              <a:rPr lang="ko-KR" altLang="en-US" sz="2000" b="1"/>
              <a:t>로 초기화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번호 개체 틀 1">
            <a:extLst>
              <a:ext uri="{FF2B5EF4-FFF2-40B4-BE49-F238E27FC236}">
                <a16:creationId xmlns:a16="http://schemas.microsoft.com/office/drawing/2014/main" id="{79296A7A-1A9D-4A1B-81BC-F20D1912C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A4E9175-3C8A-45B5-9728-B669AF605E4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AA3FB6F2-603F-4AA0-B618-7E04CCC56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836613"/>
            <a:ext cx="3841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(3) RS </a:t>
            </a:r>
            <a:r>
              <a:rPr lang="ko-KR" altLang="en-US" sz="2000" b="1"/>
              <a:t>플립플롭 </a:t>
            </a:r>
            <a:r>
              <a:rPr lang="en-US" altLang="ko-KR" sz="2000" b="1"/>
              <a:t>(Reset-Set FF)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49A5AD5D-5917-4F69-BE18-857115F43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1236663"/>
            <a:ext cx="7885113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R"/>
            </a:pPr>
            <a:r>
              <a:rPr lang="en-US" altLang="ko-KR" b="1"/>
              <a:t>RS </a:t>
            </a:r>
            <a:r>
              <a:rPr lang="ko-KR" altLang="en-US" b="1"/>
              <a:t>플립플롭은 </a:t>
            </a:r>
            <a:r>
              <a:rPr lang="en-US" altLang="ko-KR" b="1"/>
              <a:t>S</a:t>
            </a:r>
            <a:r>
              <a:rPr lang="ko-KR" altLang="en-US" b="1"/>
              <a:t>와 </a:t>
            </a:r>
            <a:r>
              <a:rPr lang="en-US" altLang="ko-KR" b="1"/>
              <a:t>R</a:t>
            </a:r>
            <a:r>
              <a:rPr lang="ko-KR" altLang="en-US" b="1"/>
              <a:t>선의 입력을 조절하여 임의의 </a:t>
            </a:r>
            <a:r>
              <a:rPr lang="en-US" altLang="ko-KR" b="1"/>
              <a:t>bit </a:t>
            </a:r>
            <a:r>
              <a:rPr lang="ko-KR" altLang="en-US" b="1"/>
              <a:t>값을 그대로 유지시키거나</a:t>
            </a:r>
            <a:r>
              <a:rPr lang="en-US" altLang="ko-KR" b="1"/>
              <a:t>, </a:t>
            </a:r>
            <a:r>
              <a:rPr lang="ko-KR" altLang="en-US" b="1"/>
              <a:t>무조건 </a:t>
            </a:r>
            <a:r>
              <a:rPr lang="en-US" altLang="ko-KR" b="1"/>
              <a:t>0 </a:t>
            </a:r>
            <a:r>
              <a:rPr lang="ko-KR" altLang="en-US" b="1"/>
              <a:t>또는 </a:t>
            </a:r>
            <a:r>
              <a:rPr lang="en-US" altLang="ko-KR" b="1"/>
              <a:t>1</a:t>
            </a:r>
            <a:r>
              <a:rPr lang="ko-KR" altLang="en-US" b="1"/>
              <a:t>의 값을 기억시키기 위해서 사용되는 플립플롭</a:t>
            </a:r>
          </a:p>
          <a:p>
            <a:pPr eaLnBrk="1" hangingPunct="1">
              <a:lnSpc>
                <a:spcPct val="120000"/>
              </a:lnSpc>
              <a:buFontTx/>
              <a:buAutoNum type="arabicParenR"/>
            </a:pPr>
            <a:endParaRPr lang="ko-KR" altLang="en-US" b="1"/>
          </a:p>
          <a:p>
            <a:pPr eaLnBrk="1" hangingPunct="1">
              <a:lnSpc>
                <a:spcPct val="120000"/>
              </a:lnSpc>
              <a:buFontTx/>
              <a:buAutoNum type="arabicParenR"/>
            </a:pPr>
            <a:r>
              <a:rPr lang="ko-KR" altLang="en-US" b="1"/>
              <a:t>특성표</a:t>
            </a:r>
          </a:p>
        </p:txBody>
      </p:sp>
      <p:pic>
        <p:nvPicPr>
          <p:cNvPr id="43013" name="Picture 6">
            <a:extLst>
              <a:ext uri="{FF2B5EF4-FFF2-40B4-BE49-F238E27FC236}">
                <a16:creationId xmlns:a16="http://schemas.microsoft.com/office/drawing/2014/main" id="{E5F64FD1-51D7-4AE4-9309-79522FC8B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349500"/>
            <a:ext cx="3529013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Rectangle 7">
            <a:extLst>
              <a:ext uri="{FF2B5EF4-FFF2-40B4-BE49-F238E27FC236}">
                <a16:creationId xmlns:a16="http://schemas.microsoft.com/office/drawing/2014/main" id="{7D6FC22F-9209-4817-99B4-51A678119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508500"/>
            <a:ext cx="7885113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※ </a:t>
            </a:r>
            <a:r>
              <a:rPr lang="ko-KR" altLang="en-US" b="1"/>
              <a:t>조합논리회로의 기능을 나타내는 표는 진리표라 하고</a:t>
            </a:r>
            <a:r>
              <a:rPr lang="en-US" altLang="ko-KR" b="1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</a:t>
            </a:r>
            <a:r>
              <a:rPr lang="ko-KR" altLang="en-US" b="1"/>
              <a:t>순서논리회로의 기능을 나타내는 표는 특성표라고 함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※ </a:t>
            </a:r>
            <a:r>
              <a:rPr lang="ko-KR" altLang="en-US" b="1"/>
              <a:t>특성표에서 </a:t>
            </a:r>
            <a:r>
              <a:rPr lang="en-US" altLang="ko-KR" b="1"/>
              <a:t>Q</a:t>
            </a:r>
            <a:r>
              <a:rPr lang="en-US" altLang="ko-KR" b="1" baseline="-25000"/>
              <a:t>(t)</a:t>
            </a:r>
            <a:r>
              <a:rPr lang="ko-KR" altLang="en-US" b="1"/>
              <a:t>는 플립플롭이 동작되기 전에 원래 기억되어 있는 현재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상태의 값을 의미하고</a:t>
            </a:r>
            <a:r>
              <a:rPr lang="en-US" altLang="ko-KR" b="1"/>
              <a:t>, Q</a:t>
            </a:r>
            <a:r>
              <a:rPr lang="en-US" altLang="ko-KR" b="1" baseline="-25000"/>
              <a:t>(t+1)</a:t>
            </a:r>
            <a:r>
              <a:rPr lang="ko-KR" altLang="en-US" b="1"/>
              <a:t>은 동작한 후 변화된 상태의 값을 의미함</a:t>
            </a:r>
          </a:p>
        </p:txBody>
      </p:sp>
      <p:sp>
        <p:nvSpPr>
          <p:cNvPr id="43015" name="Text Box 8">
            <a:extLst>
              <a:ext uri="{FF2B5EF4-FFF2-40B4-BE49-F238E27FC236}">
                <a16:creationId xmlns:a16="http://schemas.microsoft.com/office/drawing/2014/main" id="{652B8DF2-7617-4336-8548-82C568510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2492375"/>
            <a:ext cx="26939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R : Reset : 0</a:t>
            </a:r>
            <a:r>
              <a:rPr lang="ko-KR" altLang="en-US" b="1"/>
              <a:t>으로 초기화</a:t>
            </a:r>
          </a:p>
          <a:p>
            <a:pPr eaLnBrk="1" hangingPunct="1"/>
            <a:r>
              <a:rPr lang="en-US" altLang="ko-KR" b="1"/>
              <a:t>S : Set    : 1 </a:t>
            </a:r>
            <a:r>
              <a:rPr lang="ko-KR" altLang="en-US" b="1"/>
              <a:t>로 초기화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슬라이드 번호 개체 틀 1">
            <a:extLst>
              <a:ext uri="{FF2B5EF4-FFF2-40B4-BE49-F238E27FC236}">
                <a16:creationId xmlns:a16="http://schemas.microsoft.com/office/drawing/2014/main" id="{25DF87FC-6CB3-4658-B44F-A5F2522F9E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19214C20-2CD7-489D-BD8A-926D00437CF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03C7C8D-1E73-48BC-B0D5-C25D56FC6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65175"/>
            <a:ext cx="788511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논리 회로</a:t>
            </a:r>
          </a:p>
        </p:txBody>
      </p:sp>
      <p:pic>
        <p:nvPicPr>
          <p:cNvPr id="44036" name="Picture 6">
            <a:extLst>
              <a:ext uri="{FF2B5EF4-FFF2-40B4-BE49-F238E27FC236}">
                <a16:creationId xmlns:a16="http://schemas.microsoft.com/office/drawing/2014/main" id="{86D9ABAD-52FA-4C23-9015-0DD48B7E8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1341438"/>
            <a:ext cx="3673475" cy="172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7" name="Rectangle 7">
            <a:extLst>
              <a:ext uri="{FF2B5EF4-FFF2-40B4-BE49-F238E27FC236}">
                <a16:creationId xmlns:a16="http://schemas.microsoft.com/office/drawing/2014/main" id="{656CE0C6-F1E6-4BAC-874A-091BBBF2F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97200"/>
            <a:ext cx="788511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여기표</a:t>
            </a:r>
          </a:p>
        </p:txBody>
      </p:sp>
      <p:pic>
        <p:nvPicPr>
          <p:cNvPr id="44038" name="Picture 8">
            <a:extLst>
              <a:ext uri="{FF2B5EF4-FFF2-40B4-BE49-F238E27FC236}">
                <a16:creationId xmlns:a16="http://schemas.microsoft.com/office/drawing/2014/main" id="{8993DFEF-995B-478F-97B7-48EA8A354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562350"/>
            <a:ext cx="2952750" cy="158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9" name="Rectangle 9">
            <a:extLst>
              <a:ext uri="{FF2B5EF4-FFF2-40B4-BE49-F238E27FC236}">
                <a16:creationId xmlns:a16="http://schemas.microsoft.com/office/drawing/2014/main" id="{8BDD4E11-2CE1-4DA3-83FE-340290553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221288"/>
            <a:ext cx="7273925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※ X : </a:t>
            </a:r>
            <a:r>
              <a:rPr lang="ko-KR" altLang="en-US" b="1"/>
              <a:t>무관 조건임 </a:t>
            </a:r>
            <a:r>
              <a:rPr lang="en-US" altLang="ko-KR" b="1"/>
              <a:t>(Don't care)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</a:t>
            </a:r>
            <a:r>
              <a:rPr lang="ko-KR" altLang="en-US" b="1"/>
              <a:t>즉</a:t>
            </a:r>
            <a:r>
              <a:rPr lang="en-US" altLang="ko-KR" b="1"/>
              <a:t>, X</a:t>
            </a:r>
            <a:r>
              <a:rPr lang="ko-KR" altLang="en-US" b="1"/>
              <a:t>가 표시된 자리에는 </a:t>
            </a:r>
            <a:r>
              <a:rPr lang="en-US" altLang="ko-KR" b="1"/>
              <a:t>0 </a:t>
            </a:r>
            <a:r>
              <a:rPr lang="ko-KR" altLang="en-US" b="1"/>
              <a:t>이나 </a:t>
            </a:r>
            <a:r>
              <a:rPr lang="en-US" altLang="ko-KR" b="1"/>
              <a:t>1 </a:t>
            </a:r>
            <a:r>
              <a:rPr lang="ko-KR" altLang="en-US" b="1"/>
              <a:t>아무거나 입력되어도 </a:t>
            </a:r>
          </a:p>
          <a:p>
            <a:pPr eaLnBrk="1" hangingPunct="1"/>
            <a:r>
              <a:rPr lang="ko-KR" altLang="en-US" b="1"/>
              <a:t>         상관없음</a:t>
            </a:r>
          </a:p>
        </p:txBody>
      </p:sp>
      <p:sp>
        <p:nvSpPr>
          <p:cNvPr id="44040" name="Rectangle 10">
            <a:extLst>
              <a:ext uri="{FF2B5EF4-FFF2-40B4-BE49-F238E27FC236}">
                <a16:creationId xmlns:a16="http://schemas.microsoft.com/office/drawing/2014/main" id="{8E460D75-D5D0-4EF0-A05F-15E7E186A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836613"/>
            <a:ext cx="26638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5) </a:t>
            </a:r>
            <a:r>
              <a:rPr lang="ko-KR" altLang="en-US" b="1"/>
              <a:t>블록 다이어그램</a:t>
            </a:r>
          </a:p>
        </p:txBody>
      </p:sp>
      <p:pic>
        <p:nvPicPr>
          <p:cNvPr id="44041" name="Picture 11">
            <a:extLst>
              <a:ext uri="{FF2B5EF4-FFF2-40B4-BE49-F238E27FC236}">
                <a16:creationId xmlns:a16="http://schemas.microsoft.com/office/drawing/2014/main" id="{42DCF399-299B-4F62-90E2-40B7364A8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1341438"/>
            <a:ext cx="2447925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번호 개체 틀 1">
            <a:extLst>
              <a:ext uri="{FF2B5EF4-FFF2-40B4-BE49-F238E27FC236}">
                <a16:creationId xmlns:a16="http://schemas.microsoft.com/office/drawing/2014/main" id="{08871F04-99C8-4EE4-9C87-AB4E36611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3357F20-61CD-4C47-88E1-C2C29C31656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5059" name="Text Box 9">
            <a:extLst>
              <a:ext uri="{FF2B5EF4-FFF2-40B4-BE49-F238E27FC236}">
                <a16:creationId xmlns:a16="http://schemas.microsoft.com/office/drawing/2014/main" id="{5A577AAB-5BB6-4D2D-962B-D79849D87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" y="836613"/>
            <a:ext cx="314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(4) D </a:t>
            </a:r>
            <a:r>
              <a:rPr lang="ko-KR" altLang="en-US" sz="2000" b="1"/>
              <a:t>플립플롭 </a:t>
            </a:r>
            <a:r>
              <a:rPr lang="en-US" altLang="ko-KR" sz="2000" b="1"/>
              <a:t>(Delay FF)</a:t>
            </a:r>
          </a:p>
        </p:txBody>
      </p:sp>
      <p:sp>
        <p:nvSpPr>
          <p:cNvPr id="45060" name="Rectangle 10">
            <a:extLst>
              <a:ext uri="{FF2B5EF4-FFF2-40B4-BE49-F238E27FC236}">
                <a16:creationId xmlns:a16="http://schemas.microsoft.com/office/drawing/2014/main" id="{D9C56706-E1B9-4B0F-9C0E-1D1C1BD03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268413"/>
            <a:ext cx="7885113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R"/>
            </a:pPr>
            <a:r>
              <a:rPr lang="en-US" altLang="ko-KR" b="1"/>
              <a:t>RS FF</a:t>
            </a:r>
            <a:r>
              <a:rPr lang="ko-KR" altLang="en-US" b="1"/>
              <a:t>의 </a:t>
            </a:r>
            <a:r>
              <a:rPr lang="en-US" altLang="ko-KR" b="1"/>
              <a:t>R</a:t>
            </a:r>
            <a:r>
              <a:rPr lang="ko-KR" altLang="en-US" b="1"/>
              <a:t>선에 인버터</a:t>
            </a:r>
            <a:r>
              <a:rPr lang="en-US" altLang="ko-KR" b="1"/>
              <a:t>(Inverter)</a:t>
            </a:r>
            <a:r>
              <a:rPr lang="ko-KR" altLang="en-US" b="1"/>
              <a:t>를 추가하여 </a:t>
            </a:r>
            <a:r>
              <a:rPr lang="en-US" altLang="ko-KR" b="1"/>
              <a:t>S </a:t>
            </a:r>
            <a:r>
              <a:rPr lang="ko-KR" altLang="en-US" b="1"/>
              <a:t>선과 하나로 묶어서 입력선을 하나만 구성한 플립플롭이며</a:t>
            </a:r>
            <a:r>
              <a:rPr lang="en-US" altLang="ko-KR" b="1"/>
              <a:t>, </a:t>
            </a:r>
            <a:r>
              <a:rPr lang="ko-KR" altLang="en-US" b="1"/>
              <a:t>입력하는 값을 그대로 저장하는 기능을 수행</a:t>
            </a:r>
          </a:p>
          <a:p>
            <a:pPr eaLnBrk="1" hangingPunct="1">
              <a:lnSpc>
                <a:spcPct val="120000"/>
              </a:lnSpc>
              <a:buFontTx/>
              <a:buAutoNum type="arabicParenR"/>
            </a:pPr>
            <a:endParaRPr lang="ko-KR" altLang="en-US" b="1"/>
          </a:p>
          <a:p>
            <a:pPr eaLnBrk="1" hangingPunct="1">
              <a:lnSpc>
                <a:spcPct val="120000"/>
              </a:lnSpc>
              <a:buFontTx/>
              <a:buAutoNum type="arabicParenR"/>
            </a:pPr>
            <a:r>
              <a:rPr lang="ko-KR" altLang="en-US" b="1"/>
              <a:t>특성표</a:t>
            </a:r>
          </a:p>
        </p:txBody>
      </p:sp>
      <p:pic>
        <p:nvPicPr>
          <p:cNvPr id="45061" name="Picture 11">
            <a:extLst>
              <a:ext uri="{FF2B5EF4-FFF2-40B4-BE49-F238E27FC236}">
                <a16:creationId xmlns:a16="http://schemas.microsoft.com/office/drawing/2014/main" id="{C8431E48-B7EE-47BB-A445-6AE9C043B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068638"/>
            <a:ext cx="16573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번호 개체 틀 1">
            <a:extLst>
              <a:ext uri="{FF2B5EF4-FFF2-40B4-BE49-F238E27FC236}">
                <a16:creationId xmlns:a16="http://schemas.microsoft.com/office/drawing/2014/main" id="{BCBE65B7-B994-4A1A-84A7-090B50C72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FBCE121C-699F-41B2-A5B1-319573BCD92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F4C7FFA9-51CB-48E2-B6F5-9F87087F0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65175"/>
            <a:ext cx="788511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논리 회로</a:t>
            </a:r>
          </a:p>
        </p:txBody>
      </p:sp>
      <p:sp>
        <p:nvSpPr>
          <p:cNvPr id="46084" name="Rectangle 7">
            <a:extLst>
              <a:ext uri="{FF2B5EF4-FFF2-40B4-BE49-F238E27FC236}">
                <a16:creationId xmlns:a16="http://schemas.microsoft.com/office/drawing/2014/main" id="{5924B5A4-FF84-4184-B71E-C224016FA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788511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여기표</a:t>
            </a:r>
          </a:p>
        </p:txBody>
      </p:sp>
      <p:sp>
        <p:nvSpPr>
          <p:cNvPr id="46085" name="Rectangle 10">
            <a:extLst>
              <a:ext uri="{FF2B5EF4-FFF2-40B4-BE49-F238E27FC236}">
                <a16:creationId xmlns:a16="http://schemas.microsoft.com/office/drawing/2014/main" id="{E7DD60E8-C2C8-4A7D-9345-30407FBF3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836613"/>
            <a:ext cx="26638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5) </a:t>
            </a:r>
            <a:r>
              <a:rPr lang="ko-KR" altLang="en-US" b="1"/>
              <a:t>블록 다이어그램</a:t>
            </a:r>
          </a:p>
        </p:txBody>
      </p:sp>
      <p:pic>
        <p:nvPicPr>
          <p:cNvPr id="46086" name="Picture 12">
            <a:extLst>
              <a:ext uri="{FF2B5EF4-FFF2-40B4-BE49-F238E27FC236}">
                <a16:creationId xmlns:a16="http://schemas.microsoft.com/office/drawing/2014/main" id="{B6C7D38F-79C8-4DF7-AD8F-08E07F7FA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341438"/>
            <a:ext cx="338455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13">
            <a:extLst>
              <a:ext uri="{FF2B5EF4-FFF2-40B4-BE49-F238E27FC236}">
                <a16:creationId xmlns:a16="http://schemas.microsoft.com/office/drawing/2014/main" id="{4CEE0ADB-261C-4BD5-A075-61478FBD1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149725"/>
            <a:ext cx="26654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8" name="Picture 14">
            <a:extLst>
              <a:ext uri="{FF2B5EF4-FFF2-40B4-BE49-F238E27FC236}">
                <a16:creationId xmlns:a16="http://schemas.microsoft.com/office/drawing/2014/main" id="{88D9708B-901E-462E-B404-9A473F4BA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412875"/>
            <a:ext cx="2376488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번호 개체 틀 1">
            <a:extLst>
              <a:ext uri="{FF2B5EF4-FFF2-40B4-BE49-F238E27FC236}">
                <a16:creationId xmlns:a16="http://schemas.microsoft.com/office/drawing/2014/main" id="{F26C56B2-BD21-49EC-ABC9-FA8313864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A8EA06B-56AB-4FFF-9DAF-E1396B78BC4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7107" name="Text Box 8">
            <a:extLst>
              <a:ext uri="{FF2B5EF4-FFF2-40B4-BE49-F238E27FC236}">
                <a16:creationId xmlns:a16="http://schemas.microsoft.com/office/drawing/2014/main" id="{DFA26A2C-37B0-49D0-B161-9B05A55FC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289050"/>
            <a:ext cx="7921625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1) JK </a:t>
            </a:r>
            <a:r>
              <a:rPr lang="ko-KR" altLang="en-US" sz="2000" b="1"/>
              <a:t>플립플롭</a:t>
            </a:r>
            <a:r>
              <a:rPr lang="ko-KR" altLang="en-US" b="1"/>
              <a:t> </a:t>
            </a:r>
            <a:endParaRPr lang="ko-KR" altLang="ko-KR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ko-KR" altLang="ko-KR" b="1"/>
              <a:t>① RS FF 에서 S=R=1 일 때 동작되지 않는 결점을 보완한 플립플롭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ko-KR" altLang="ko-KR" b="1"/>
              <a:t>② RS FF 의 입력선 S와 R을 JK FF 의 입력선 J와 K로 사용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ko-KR" altLang="ko-KR" b="1"/>
              <a:t>③ 모든 플립플롭의 기능을 포함</a:t>
            </a:r>
            <a:endParaRPr lang="ko-KR" altLang="en-US" b="1"/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2) </a:t>
            </a:r>
            <a:r>
              <a:rPr lang="ko-KR" altLang="en-US" b="1"/>
              <a:t>특성표</a:t>
            </a:r>
          </a:p>
        </p:txBody>
      </p:sp>
      <p:sp>
        <p:nvSpPr>
          <p:cNvPr id="47108" name="Text Box 11">
            <a:extLst>
              <a:ext uri="{FF2B5EF4-FFF2-40B4-BE49-F238E27FC236}">
                <a16:creationId xmlns:a16="http://schemas.microsoft.com/office/drawing/2014/main" id="{A9686386-12FD-4D3A-ABB8-889444629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613"/>
            <a:ext cx="19605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(5) JK </a:t>
            </a:r>
            <a:r>
              <a:rPr lang="ko-KR" altLang="en-US" sz="2000" b="1"/>
              <a:t>플립플롭</a:t>
            </a:r>
          </a:p>
        </p:txBody>
      </p:sp>
      <p:pic>
        <p:nvPicPr>
          <p:cNvPr id="47109" name="Picture 12">
            <a:extLst>
              <a:ext uri="{FF2B5EF4-FFF2-40B4-BE49-F238E27FC236}">
                <a16:creationId xmlns:a16="http://schemas.microsoft.com/office/drawing/2014/main" id="{3D843B91-7DC8-4F86-A527-126CE4D11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573463"/>
            <a:ext cx="410368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번호 개체 틀 1">
            <a:extLst>
              <a:ext uri="{FF2B5EF4-FFF2-40B4-BE49-F238E27FC236}">
                <a16:creationId xmlns:a16="http://schemas.microsoft.com/office/drawing/2014/main" id="{B4A509F8-2B01-45AD-AF5B-8B1220F03C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BED37B6-58C3-47DE-8783-08B60355C8A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8131" name="Text Box 5">
            <a:extLst>
              <a:ext uri="{FF2B5EF4-FFF2-40B4-BE49-F238E27FC236}">
                <a16:creationId xmlns:a16="http://schemas.microsoft.com/office/drawing/2014/main" id="{88AD5FCA-2832-489B-B5E8-473230FE3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908050"/>
            <a:ext cx="1441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3) </a:t>
            </a:r>
            <a:r>
              <a:rPr lang="ko-KR" altLang="en-US" b="1"/>
              <a:t>논리 회로</a:t>
            </a:r>
          </a:p>
        </p:txBody>
      </p:sp>
      <p:pic>
        <p:nvPicPr>
          <p:cNvPr id="48132" name="Picture 6">
            <a:extLst>
              <a:ext uri="{FF2B5EF4-FFF2-40B4-BE49-F238E27FC236}">
                <a16:creationId xmlns:a16="http://schemas.microsoft.com/office/drawing/2014/main" id="{FD670E23-870D-42EA-BC7A-750F811EC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1412875"/>
            <a:ext cx="3384550" cy="208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3" name="Text Box 7">
            <a:extLst>
              <a:ext uri="{FF2B5EF4-FFF2-40B4-BE49-F238E27FC236}">
                <a16:creationId xmlns:a16="http://schemas.microsoft.com/office/drawing/2014/main" id="{87C06B14-1961-401F-AA8B-C787D8A13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3789363"/>
            <a:ext cx="1143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4) </a:t>
            </a:r>
            <a:r>
              <a:rPr lang="ko-KR" altLang="en-US" b="1"/>
              <a:t>여기표</a:t>
            </a:r>
          </a:p>
        </p:txBody>
      </p:sp>
      <p:pic>
        <p:nvPicPr>
          <p:cNvPr id="48134" name="Picture 8">
            <a:extLst>
              <a:ext uri="{FF2B5EF4-FFF2-40B4-BE49-F238E27FC236}">
                <a16:creationId xmlns:a16="http://schemas.microsoft.com/office/drawing/2014/main" id="{9E39C1A9-F76C-434C-9341-4C95C84B5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4149725"/>
            <a:ext cx="2881313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번호 개체 틀 1">
            <a:extLst>
              <a:ext uri="{FF2B5EF4-FFF2-40B4-BE49-F238E27FC236}">
                <a16:creationId xmlns:a16="http://schemas.microsoft.com/office/drawing/2014/main" id="{2FF18B2A-BF2F-4ABF-8C37-7F596E987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EF4E513-84D9-402D-8C12-AC4D5FAA32B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9155" name="Text Box 6">
            <a:extLst>
              <a:ext uri="{FF2B5EF4-FFF2-40B4-BE49-F238E27FC236}">
                <a16:creationId xmlns:a16="http://schemas.microsoft.com/office/drawing/2014/main" id="{C743DD86-BE96-473A-B1C9-875AF6B1C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268413"/>
            <a:ext cx="79216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1) T </a:t>
            </a:r>
            <a:r>
              <a:rPr lang="ko-KR" altLang="en-US" sz="2000" b="1"/>
              <a:t>플립플롭</a:t>
            </a:r>
            <a:r>
              <a:rPr lang="ko-KR" altLang="en-US" b="1"/>
              <a:t> </a:t>
            </a:r>
            <a:endParaRPr lang="ko-KR" altLang="ko-KR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ko-KR" altLang="ko-KR" b="1"/>
              <a:t>① </a:t>
            </a:r>
            <a:r>
              <a:rPr lang="en-US" altLang="ko-KR" b="1"/>
              <a:t>JK FF </a:t>
            </a:r>
            <a:r>
              <a:rPr lang="ko-KR" altLang="en-US" b="1"/>
              <a:t>의 </a:t>
            </a:r>
            <a:r>
              <a:rPr lang="ko-KR" altLang="ko-KR" b="1"/>
              <a:t>두 입력선을 묶어서 한 개의 입력선으로 구성한 플립플롭 </a:t>
            </a: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ko-KR" altLang="ko-KR" b="1"/>
              <a:t>② 플립플롭 중 입력 단자가 하나이며 “1” 이 입력될 때마다 출력 단자의 </a:t>
            </a: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ko-KR" altLang="ko-KR" b="1"/>
              <a:t>상태가</a:t>
            </a:r>
            <a:r>
              <a:rPr lang="ko-KR" altLang="en-US" b="1"/>
              <a:t> </a:t>
            </a:r>
            <a:r>
              <a:rPr lang="ko-KR" altLang="ko-KR" b="1"/>
              <a:t>바뀜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2) </a:t>
            </a:r>
            <a:r>
              <a:rPr lang="ko-KR" altLang="en-US" sz="2000" b="1"/>
              <a:t>특성표</a:t>
            </a:r>
          </a:p>
        </p:txBody>
      </p:sp>
      <p:sp>
        <p:nvSpPr>
          <p:cNvPr id="49156" name="Text Box 7">
            <a:extLst>
              <a:ext uri="{FF2B5EF4-FFF2-40B4-BE49-F238E27FC236}">
                <a16:creationId xmlns:a16="http://schemas.microsoft.com/office/drawing/2014/main" id="{4B22B800-C513-4CB8-9D6E-CAD38E6F3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836613"/>
            <a:ext cx="1738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(5) T</a:t>
            </a:r>
            <a:r>
              <a:rPr lang="ko-KR" altLang="en-US" sz="2000" b="1"/>
              <a:t>플립플롭</a:t>
            </a:r>
          </a:p>
        </p:txBody>
      </p:sp>
      <p:pic>
        <p:nvPicPr>
          <p:cNvPr id="49157" name="Picture 8">
            <a:extLst>
              <a:ext uri="{FF2B5EF4-FFF2-40B4-BE49-F238E27FC236}">
                <a16:creationId xmlns:a16="http://schemas.microsoft.com/office/drawing/2014/main" id="{67BC01CD-780E-4C1B-81AD-0C1EAD42D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3573463"/>
            <a:ext cx="194310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슬라이드 번호 개체 틀 1">
            <a:extLst>
              <a:ext uri="{FF2B5EF4-FFF2-40B4-BE49-F238E27FC236}">
                <a16:creationId xmlns:a16="http://schemas.microsoft.com/office/drawing/2014/main" id="{A942364E-9BB5-4AD2-9429-5FD1D85BB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E6B900D-5D0F-4C53-8CF3-8E1EB26A534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0179" name="Rectangle 5">
            <a:extLst>
              <a:ext uri="{FF2B5EF4-FFF2-40B4-BE49-F238E27FC236}">
                <a16:creationId xmlns:a16="http://schemas.microsoft.com/office/drawing/2014/main" id="{FDCDE41B-8BC1-4ED3-9052-4AB8FCD9D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65175"/>
            <a:ext cx="788511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논리 회로</a:t>
            </a:r>
          </a:p>
        </p:txBody>
      </p:sp>
      <p:sp>
        <p:nvSpPr>
          <p:cNvPr id="50180" name="Rectangle 6">
            <a:extLst>
              <a:ext uri="{FF2B5EF4-FFF2-40B4-BE49-F238E27FC236}">
                <a16:creationId xmlns:a16="http://schemas.microsoft.com/office/drawing/2014/main" id="{93768FBE-7694-4AC6-AA16-88748F449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788511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4) </a:t>
            </a:r>
            <a:r>
              <a:rPr lang="ko-KR" altLang="en-US" b="1"/>
              <a:t>여기표</a:t>
            </a:r>
          </a:p>
        </p:txBody>
      </p:sp>
      <p:sp>
        <p:nvSpPr>
          <p:cNvPr id="50181" name="Rectangle 7">
            <a:extLst>
              <a:ext uri="{FF2B5EF4-FFF2-40B4-BE49-F238E27FC236}">
                <a16:creationId xmlns:a16="http://schemas.microsoft.com/office/drawing/2014/main" id="{BB649DCD-DCD7-4AAE-95FF-0CE040CD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836613"/>
            <a:ext cx="26638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5) </a:t>
            </a:r>
            <a:r>
              <a:rPr lang="ko-KR" altLang="en-US" b="1"/>
              <a:t>블록 다이어그램</a:t>
            </a:r>
          </a:p>
        </p:txBody>
      </p:sp>
      <p:pic>
        <p:nvPicPr>
          <p:cNvPr id="50182" name="Picture 11">
            <a:extLst>
              <a:ext uri="{FF2B5EF4-FFF2-40B4-BE49-F238E27FC236}">
                <a16:creationId xmlns:a16="http://schemas.microsoft.com/office/drawing/2014/main" id="{91546BAA-83C8-48EA-8D3D-84DE1B34E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268413"/>
            <a:ext cx="3673475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Picture 12">
            <a:extLst>
              <a:ext uri="{FF2B5EF4-FFF2-40B4-BE49-F238E27FC236}">
                <a16:creationId xmlns:a16="http://schemas.microsoft.com/office/drawing/2014/main" id="{830FFBDA-89BD-4A6C-9FE5-A586C64DF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4005263"/>
            <a:ext cx="2808288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4" name="Picture 13">
            <a:extLst>
              <a:ext uri="{FF2B5EF4-FFF2-40B4-BE49-F238E27FC236}">
                <a16:creationId xmlns:a16="http://schemas.microsoft.com/office/drawing/2014/main" id="{6FAD07D7-E9E8-4063-B192-AA80ED204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341438"/>
            <a:ext cx="2232025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1860</TotalTime>
  <Words>2936</Words>
  <Application>Microsoft Office PowerPoint</Application>
  <PresentationFormat>화면 슬라이드 쇼(4:3)</PresentationFormat>
  <Paragraphs>625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3" baseType="lpstr">
      <vt:lpstr>HY중고딕</vt:lpstr>
      <vt:lpstr>견고딕</vt:lpstr>
      <vt:lpstr>굴림</vt:lpstr>
      <vt:lpstr>휴먼둥근헤드라인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70</cp:revision>
  <dcterms:created xsi:type="dcterms:W3CDTF">2009-03-02T07:39:04Z</dcterms:created>
  <dcterms:modified xsi:type="dcterms:W3CDTF">2025-11-10T10:14:52Z</dcterms:modified>
</cp:coreProperties>
</file>