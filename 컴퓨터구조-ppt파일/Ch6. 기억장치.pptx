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3903F33-E201-4C36-933D-7F800E90D0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F3D819D-25CF-48DC-B6AB-6E85E9E5F6D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CFACFFC-3C1D-4794-AA82-91CD32182BC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69EDB57-5471-484A-9F2C-2432F17CE67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23CC596-0312-48A9-A423-22AE32368A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CCB5CD7-4686-42B4-9392-86314CBA4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A5CD9B9A-ADF7-4199-95E4-E9486C27192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B7A873C3-4818-4601-B2FC-383E7071DA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5897B159-86A0-416C-AC5D-F6124BD07D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40CE2CF-0438-4244-9999-3B17E7427F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693BB34F-B099-463A-B9EE-195C3F02D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14750" y="3677022"/>
            <a:ext cx="1847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 6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기억장치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54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D76AAE-9DF5-4071-A31B-BD375A83F1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82EB944-C3AB-4755-AAF0-02ABD0E3FC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21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7FD417-5161-4B98-AC15-6F2466F2473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284BC1E-83F0-45BE-AC98-A51F2B2EE3D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44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92DB8C-30DB-44FD-A077-9D53F928FC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E165B69A-7380-406E-92F9-5D849A10E6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00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279AF-A1EE-4342-91B4-CCB23616914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652C7E1F-D392-40EB-91E7-BBF65D3EE1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302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252F3D4-B094-4513-8FF9-4DBD375BA4C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881BFC8-A5FA-4E45-966F-D33E5744E8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87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DBE6E50-5127-4E54-BCC6-0087DC9132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924E0D2-E4FC-457F-A589-99F55D0470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710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998EF7-7C79-4D09-89B1-E361E93946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A24F159-6439-49C1-A868-BFE72091BA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039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60455D-7972-4BEE-AEC5-5A033E7EA0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35209C8-EE9B-4252-A29D-EB20415FF5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629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64195C1-D14C-4D16-9543-0BC1F0820D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BE3AC97-E593-4CBE-AF61-B008561C92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385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C808289-AA02-4D1C-84C9-244FEDB543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9C24DF6-141E-454C-85D3-D3B52E2B18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553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E5C294F0-26E6-4DEE-B20F-F8DC0A9A83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9A6FC25-41DA-4A40-BFA4-392461E2B9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CD91267D-9542-4C5B-BF1F-2B16E5194B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E459D23E-5089-46D8-A975-7B19F9790D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D5FAAEC6-D56C-4938-8361-C7FB03D9973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44887163-6BBD-47D1-9D60-0021C3C3A5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B9D2C60A-D4B9-4019-8D6F-A29A0628C0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2070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6</a:t>
            </a:r>
            <a:r>
              <a:rPr lang="ko-KR" altLang="en-US" sz="2000" b="1"/>
              <a:t>절 기억 장치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F74F9D7F-E176-4CAE-83DA-83B5D4C57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0504587-7B56-45CC-84C1-9DC548D54FE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A33B0584-13B7-4BCE-8D67-7E3A3B1EE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2540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기억장치의 개요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A7B69413-72E5-414B-8644-4035CDF7A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9988"/>
            <a:ext cx="2436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기억장치의 분류</a:t>
            </a:r>
            <a:endParaRPr lang="ko-KR" altLang="en-US" b="1"/>
          </a:p>
        </p:txBody>
      </p:sp>
      <p:pic>
        <p:nvPicPr>
          <p:cNvPr id="4101" name="Picture 13">
            <a:extLst>
              <a:ext uri="{FF2B5EF4-FFF2-40B4-BE49-F238E27FC236}">
                <a16:creationId xmlns:a16="http://schemas.microsoft.com/office/drawing/2014/main" id="{51D4A896-1BFD-4F9D-ACAA-F895ED316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628775"/>
            <a:ext cx="5457825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7DC120E9-2B19-44DB-BDF6-9D89C7C7B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7F6B074-C0DF-42CE-A253-B65D4940A22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8AB815EF-1AC1-4AC0-AD4C-6DD9F7CF1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36613"/>
            <a:ext cx="3005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기억장치의 계층 구조</a:t>
            </a:r>
            <a:endParaRPr lang="ko-KR" altLang="en-US" b="1"/>
          </a:p>
        </p:txBody>
      </p:sp>
      <p:pic>
        <p:nvPicPr>
          <p:cNvPr id="5124" name="Picture 5">
            <a:extLst>
              <a:ext uri="{FF2B5EF4-FFF2-40B4-BE49-F238E27FC236}">
                <a16:creationId xmlns:a16="http://schemas.microsoft.com/office/drawing/2014/main" id="{9DB40058-D7E0-408A-8E84-3CB248A06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73238"/>
            <a:ext cx="7440612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865635E7-0548-468B-B917-D4A21AFD6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FD798E4-19B6-461B-9231-FEA8F837147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BAB760B2-4496-4A7F-A99E-C85ADC1BE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36613"/>
            <a:ext cx="433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기억장치의 특성을 결정하는 요소</a:t>
            </a:r>
            <a:endParaRPr lang="ko-KR" altLang="en-US" b="1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043EFC7-B597-40FB-9CA9-CD0B92915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68413"/>
            <a:ext cx="8243887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1) </a:t>
            </a:r>
            <a:r>
              <a:rPr lang="ko-KR" altLang="en-US" b="1"/>
              <a:t>접근 시간 </a:t>
            </a:r>
            <a:r>
              <a:rPr lang="en-US" altLang="ko-KR" b="1"/>
              <a:t>(Access time)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① </a:t>
            </a:r>
            <a:r>
              <a:rPr lang="ko-KR" altLang="en-US" b="1"/>
              <a:t>정보를 기억 장치에 기억시키거나 읽어 내는 명령을 한 후부터 실제로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정보를 기억 또는 읽기 시작할 때까지 소요되는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② 접근 시간 공식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접근 시간 </a:t>
            </a:r>
            <a:r>
              <a:rPr lang="en-US" altLang="ko-KR" b="1"/>
              <a:t>= </a:t>
            </a:r>
            <a:r>
              <a:rPr lang="ko-KR" altLang="en-US" b="1"/>
              <a:t>탐색시간 </a:t>
            </a:r>
            <a:r>
              <a:rPr lang="en-US" altLang="ko-KR" b="1"/>
              <a:t>(Seek Time) + </a:t>
            </a:r>
            <a:r>
              <a:rPr lang="ko-KR" altLang="en-US" b="1"/>
              <a:t>대기시간 </a:t>
            </a:r>
            <a:r>
              <a:rPr lang="en-US" altLang="ko-KR" b="1"/>
              <a:t>(Latency Time) +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 </a:t>
            </a:r>
            <a:r>
              <a:rPr lang="ko-KR" altLang="en-US" b="1"/>
              <a:t>전송시간 </a:t>
            </a:r>
            <a:r>
              <a:rPr lang="en-US" altLang="ko-KR" b="1"/>
              <a:t>(Transmission Time)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③ </a:t>
            </a:r>
            <a:r>
              <a:rPr lang="ko-KR" altLang="en-US" b="1"/>
              <a:t>접근시간이 빠른 순서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Associative (</a:t>
            </a:r>
            <a:r>
              <a:rPr lang="ko-KR" altLang="en-US" b="1"/>
              <a:t>연관</a:t>
            </a:r>
            <a:r>
              <a:rPr lang="en-US" altLang="ko-KR" b="1"/>
              <a:t>) memory ⇨ Cache memory ⇨ main memory 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magnetic disk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2) </a:t>
            </a:r>
            <a:r>
              <a:rPr lang="ko-KR" altLang="en-US" b="1"/>
              <a:t>사이클 시간 </a:t>
            </a:r>
            <a:r>
              <a:rPr lang="en-US" altLang="ko-KR" b="1"/>
              <a:t>(Cycle time)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① </a:t>
            </a:r>
            <a:r>
              <a:rPr lang="ko-KR" altLang="en-US" b="1"/>
              <a:t>기억장치에 접근을 위하여 판독신호를 내고 나서 다음 판독신호를 낼 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있을 때까지의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② </a:t>
            </a:r>
            <a:r>
              <a:rPr lang="en-US" altLang="ko-KR" b="1"/>
              <a:t>Cycle Time ≧ Access Time, </a:t>
            </a:r>
            <a:r>
              <a:rPr lang="ko-KR" altLang="en-US" b="1"/>
              <a:t>즉 </a:t>
            </a:r>
            <a:r>
              <a:rPr lang="en-US" altLang="ko-KR" b="1"/>
              <a:t>Cycle Time </a:t>
            </a:r>
            <a:r>
              <a:rPr lang="ko-KR" altLang="en-US" b="1"/>
              <a:t>이 </a:t>
            </a:r>
            <a:r>
              <a:rPr lang="en-US" altLang="ko-KR" b="1"/>
              <a:t>Access Time </a:t>
            </a:r>
            <a:r>
              <a:rPr lang="ko-KR" altLang="en-US" b="1"/>
              <a:t>보다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길거나 같음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0038941B-AD13-49EC-A15E-17C68D713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517BDCF-F986-4CEF-B3E8-B6A2EB34937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F8001C03-9D10-4682-9780-A7F3AF3B1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08050"/>
            <a:ext cx="8135937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Bandwidth (</a:t>
            </a:r>
            <a:r>
              <a:rPr lang="ko-KR" altLang="en-US" b="1"/>
              <a:t>대역폭</a:t>
            </a:r>
            <a:r>
              <a:rPr lang="en-US" altLang="ko-KR" b="1"/>
              <a:t>, </a:t>
            </a:r>
            <a:r>
              <a:rPr lang="ko-KR" altLang="en-US" b="1"/>
              <a:t>전송률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기억 장치의 자료 처리 속도를 나타내는 단위로</a:t>
            </a:r>
            <a:r>
              <a:rPr lang="en-US" altLang="ko-KR" b="1"/>
              <a:t>, </a:t>
            </a:r>
            <a:r>
              <a:rPr lang="ko-KR" altLang="en-US" b="1"/>
              <a:t>기억 장치를 연속적으로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액세스할 때 초당 처리할 수 있는 비트 수를 말함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계속적으로 기억장치에서 데이터를 읽거나 기억시킬 때 </a:t>
            </a:r>
            <a:r>
              <a:rPr lang="en-US" altLang="ko-KR" b="1"/>
              <a:t>1</a:t>
            </a:r>
            <a:r>
              <a:rPr lang="ko-KR" altLang="en-US" b="1"/>
              <a:t>초 동안에 사용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되는 </a:t>
            </a:r>
            <a:r>
              <a:rPr lang="en-US" altLang="ko-KR" b="1"/>
              <a:t>(</a:t>
            </a:r>
            <a:r>
              <a:rPr lang="ko-KR" altLang="en-US" b="1"/>
              <a:t>전송되는</a:t>
            </a:r>
            <a:r>
              <a:rPr lang="en-US" altLang="ko-KR" b="1"/>
              <a:t>) </a:t>
            </a:r>
            <a:r>
              <a:rPr lang="ko-KR" altLang="en-US" b="1"/>
              <a:t>비트수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메모리 워드의 길이가 작을수록 대역폭이 좋음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④ 전송 단위 </a:t>
            </a:r>
            <a:r>
              <a:rPr lang="en-US" altLang="ko-KR" b="1"/>
              <a:t>: Baud(</a:t>
            </a:r>
            <a:r>
              <a:rPr lang="ko-KR" altLang="en-US" b="1"/>
              <a:t>보</a:t>
            </a:r>
            <a:r>
              <a:rPr lang="en-US" altLang="ko-KR" b="1"/>
              <a:t>) = bps (1</a:t>
            </a:r>
            <a:r>
              <a:rPr lang="ko-KR" altLang="en-US" b="1"/>
              <a:t>초당 전송 가능한 비트수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410E5D6A-505C-4D69-9102-CCD6F98C4A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4410567-FCC3-4BEF-9556-739402DF5E4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80FC10B-4C81-4B88-ADB8-3DC3B7AF9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6913"/>
            <a:ext cx="8893175" cy="525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sz="2000" b="1"/>
              <a:t>(4) </a:t>
            </a:r>
            <a:r>
              <a:rPr lang="ko-KR" altLang="en-US" sz="2000" b="1"/>
              <a:t>기억장치의 구분</a:t>
            </a:r>
            <a:r>
              <a:rPr lang="ko-KR" altLang="en-US" b="1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내용의 보존 여부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① 파괴성 메모리 </a:t>
            </a:r>
            <a:r>
              <a:rPr lang="en-US" altLang="ko-KR" b="1"/>
              <a:t>(Destructive Memory)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 • </a:t>
            </a:r>
            <a:r>
              <a:rPr lang="ko-KR" altLang="en-US" b="1"/>
              <a:t>판독 후 저장된 내용이 파괴되는 메모리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</a:t>
            </a:r>
            <a:r>
              <a:rPr lang="en-US" altLang="ko-KR" b="1"/>
              <a:t>• </a:t>
            </a:r>
            <a:r>
              <a:rPr lang="ko-KR" altLang="en-US" b="1"/>
              <a:t>파괴된 내용을 재생시키기 위한 재저장 시간 </a:t>
            </a:r>
            <a:r>
              <a:rPr lang="en-US" altLang="ko-KR" b="1"/>
              <a:t>(Restoration Time)</a:t>
            </a:r>
            <a:r>
              <a:rPr lang="ko-KR" altLang="en-US" b="1"/>
              <a:t>이 필요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</a:t>
            </a:r>
            <a:r>
              <a:rPr lang="en-US" altLang="ko-KR" b="1"/>
              <a:t>• </a:t>
            </a:r>
            <a:r>
              <a:rPr lang="ko-KR" altLang="en-US" b="1"/>
              <a:t>파괴성 판독 </a:t>
            </a:r>
            <a:r>
              <a:rPr lang="en-US" altLang="ko-KR" b="1"/>
              <a:t>(DRO : Destructive Read Out) </a:t>
            </a:r>
            <a:r>
              <a:rPr lang="ko-KR" altLang="en-US" b="1"/>
              <a:t>메모리</a:t>
            </a:r>
            <a:r>
              <a:rPr lang="en-US" altLang="ko-KR" b="1"/>
              <a:t>(Memory)</a:t>
            </a:r>
            <a:r>
              <a:rPr lang="ko-KR" altLang="en-US" b="1"/>
              <a:t>는 데이터를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 읽어내면서 원래의 데이터를 소거하는 판독 방법으로 정보를 보존하려면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 읽어낸 뒤 즉시 재기입하여야 하는 메모리를 의미하는 것으로 사이클 시간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 이 접근시간에 비해 큼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② 비파괴성 메모리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</a:t>
            </a:r>
            <a:r>
              <a:rPr lang="en-US" altLang="ko-KR" b="1"/>
              <a:t>• </a:t>
            </a:r>
            <a:r>
              <a:rPr lang="ko-KR" altLang="en-US" b="1"/>
              <a:t>판독 후에도 저장된 내용이 그대로 유지됨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전원 단절 시 내용 소멸 여부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① 휘발성 메모리 </a:t>
            </a:r>
            <a:r>
              <a:rPr lang="en-US" altLang="ko-KR" b="1"/>
              <a:t>(Volatile Memory)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 • </a:t>
            </a:r>
            <a:r>
              <a:rPr lang="ko-KR" altLang="en-US" b="1"/>
              <a:t>전원이 단절되면 모든 정보가 지워지는 메모리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</a:t>
            </a:r>
            <a:r>
              <a:rPr lang="en-US" altLang="ko-KR" b="1"/>
              <a:t>• </a:t>
            </a:r>
            <a:r>
              <a:rPr lang="ko-KR" altLang="en-US" b="1"/>
              <a:t>정전이 되면 기억 내용을 상실함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② 비휘발성 메모리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</a:t>
            </a:r>
            <a:r>
              <a:rPr lang="ko-KR" altLang="en-US"/>
              <a:t> </a:t>
            </a:r>
            <a:r>
              <a:rPr lang="en-US" altLang="ko-KR" b="1"/>
              <a:t>• </a:t>
            </a:r>
            <a:r>
              <a:rPr lang="ko-KR" altLang="en-US" b="1"/>
              <a:t>전원이 단절되더라도 기억된 정보가 보존되는 메모리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9DCD4FED-696A-41D6-8858-8B6DB641D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945953E-7289-45F8-B601-F520B4F1BFD2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C7A25EC3-A3FE-48FD-8587-EB6D22BDE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33425"/>
            <a:ext cx="8569325" cy="552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b="1"/>
              <a:t>3) </a:t>
            </a:r>
            <a:r>
              <a:rPr lang="ko-KR" altLang="en-US" b="1"/>
              <a:t>접근 방식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① 순차 접근 저장 매체 </a:t>
            </a:r>
            <a:r>
              <a:rPr lang="en-US" altLang="ko-KR" b="1"/>
              <a:t>(SASD, Sequential Access Storage Device)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자료가 저장된 위치에 접근할 때</a:t>
            </a:r>
            <a:r>
              <a:rPr lang="en-US" altLang="ko-KR" b="1"/>
              <a:t>, </a:t>
            </a:r>
            <a:r>
              <a:rPr lang="ko-KR" altLang="en-US" b="1"/>
              <a:t>처음부터 순서대로 접근하여 원하는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위치를 검색하는 메모리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② 직접 접근 저장 매체 </a:t>
            </a:r>
            <a:r>
              <a:rPr lang="en-US" altLang="ko-KR" b="1"/>
              <a:t>(DASD, Direct Access Storage Device)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순서를 거치지 않고 자료가 저장된 위치를 직접 접근할 수 있는 메모리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4) </a:t>
            </a:r>
            <a:r>
              <a:rPr lang="ko-KR" altLang="en-US" b="1"/>
              <a:t>재충전</a:t>
            </a:r>
            <a:r>
              <a:rPr lang="en-US" altLang="ko-KR" b="1"/>
              <a:t>(Refresh) </a:t>
            </a:r>
            <a:r>
              <a:rPr lang="ko-KR" altLang="en-US" b="1"/>
              <a:t>여부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① 정적 메모리 </a:t>
            </a:r>
            <a:r>
              <a:rPr lang="en-US" altLang="ko-KR" b="1"/>
              <a:t>(SRAM)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전원이 공급되는 한 기억된 내용이 계속 유지되는 메모리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② 동적 메모리 </a:t>
            </a:r>
            <a:r>
              <a:rPr lang="en-US" altLang="ko-KR" b="1"/>
              <a:t>(DRAM)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전원이 공급되어도 일정 시간이 지나면 내용이 지워지므로 주기적으로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재충전</a:t>
            </a:r>
            <a:r>
              <a:rPr lang="en-US" altLang="ko-KR" b="1"/>
              <a:t>(Refresh) </a:t>
            </a:r>
            <a:r>
              <a:rPr lang="ko-KR" altLang="en-US" b="1"/>
              <a:t>해야 하는 메모리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※ </a:t>
            </a:r>
            <a:r>
              <a:rPr lang="ko-KR" altLang="en-US" b="1"/>
              <a:t>기억보호 </a:t>
            </a:r>
            <a:r>
              <a:rPr lang="en-US" altLang="ko-KR" b="1"/>
              <a:t>(Memory Protection)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기억보호는 메모리의 각 블록에 허락할 수 있는 접근 형태를 지정하는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보호비트</a:t>
            </a:r>
            <a:r>
              <a:rPr lang="en-US" altLang="ko-KR" b="1"/>
              <a:t>(Protection Bit)</a:t>
            </a:r>
            <a:r>
              <a:rPr lang="ko-KR" altLang="en-US" b="1"/>
              <a:t>를 둠으로써 이루어짐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다중 프로그래밍에서는 여러 개의 프로그램이 동시에 병렬로 실행되는데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이때 어떤 프로그램에 의해 다른 프로그램의 결과가 잘못 쓰이지 않도록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기억보호를 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19E3E015-AC0F-4022-ADFC-35C06E729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76989FB-DD3F-4711-B664-1471ADE53E7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3F6B8A58-322C-4677-B9DB-78ADB187B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18986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2. </a:t>
            </a:r>
            <a:r>
              <a:rPr lang="ko-KR" altLang="en-US" sz="2200" b="1"/>
              <a:t>주기억장치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F552A0F2-7BBE-4256-952D-70EA909C4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44588"/>
            <a:ext cx="8280400" cy="441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주기억장치 개요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1) CPU</a:t>
            </a:r>
            <a:r>
              <a:rPr lang="ko-KR" altLang="en-US" b="1"/>
              <a:t>가 직접 접근하여 처리할 수 있는 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2) </a:t>
            </a:r>
            <a:r>
              <a:rPr lang="ko-KR" altLang="en-US" b="1"/>
              <a:t>현재 수행되는 프로그램과 데이터를 저장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3) </a:t>
            </a:r>
            <a:r>
              <a:rPr lang="ko-KR" altLang="en-US" b="1"/>
              <a:t>주기억장치에 사용되는 양극 소자나 </a:t>
            </a:r>
            <a:r>
              <a:rPr lang="en-US" altLang="ko-KR" b="1"/>
              <a:t>MOS</a:t>
            </a:r>
            <a:r>
              <a:rPr lang="ko-KR" altLang="en-US" b="1"/>
              <a:t>형 기억 소자는 보조기억장치에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비해 동작속도가 빠르고</a:t>
            </a:r>
            <a:r>
              <a:rPr lang="en-US" altLang="ko-KR" b="1"/>
              <a:t>, </a:t>
            </a:r>
            <a:r>
              <a:rPr lang="ko-KR" altLang="en-US" b="1"/>
              <a:t>가격이 비쌈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4) </a:t>
            </a:r>
            <a:r>
              <a:rPr lang="ko-KR" altLang="en-US" b="1"/>
              <a:t>주기억장치는 </a:t>
            </a:r>
            <a:r>
              <a:rPr lang="en-US" altLang="ko-KR" b="1"/>
              <a:t>Main Storage </a:t>
            </a:r>
            <a:r>
              <a:rPr lang="ko-KR" altLang="en-US" b="1"/>
              <a:t>를 의미함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5) </a:t>
            </a:r>
            <a:r>
              <a:rPr lang="ko-KR" altLang="en-US" b="1"/>
              <a:t>주기억 장치의 성능을 좌우하는 요소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① 기억용량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② 기억 사이클 타임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③ 기억액세스 폭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※ </a:t>
            </a:r>
            <a:r>
              <a:rPr lang="ko-KR" altLang="en-US" b="1"/>
              <a:t>주기억장치 밴드폭 </a:t>
            </a:r>
            <a:r>
              <a:rPr lang="en-US" altLang="ko-KR" b="1"/>
              <a:t>(Bandwidth)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•</a:t>
            </a:r>
            <a:r>
              <a:rPr lang="en-US" altLang="ko-KR"/>
              <a:t> </a:t>
            </a:r>
            <a:r>
              <a:rPr lang="ko-KR" altLang="en-US" b="1"/>
              <a:t>하드웨어의 특성상 주기억장치가 제공할 수 있는 정보 전달능력의 한계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34903431-3EEC-4D6A-A9CE-462AC3705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4FA58E4-CCF5-4C61-9FE4-D763BC8675B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2D5486D7-F261-4307-B20B-14F3AE8C3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8569325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주기억장치 종류</a:t>
            </a:r>
          </a:p>
          <a:p>
            <a:pPr eaLnBrk="1" hangingPunct="1">
              <a:lnSpc>
                <a:spcPct val="120000"/>
              </a:lnSpc>
            </a:pPr>
            <a:endParaRPr lang="ko-KR" altLang="en-US" sz="2000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ROM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① Read Only Memory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② </a:t>
            </a:r>
            <a:r>
              <a:rPr lang="ko-KR" altLang="en-US" b="1"/>
              <a:t>기억된 내용을 임의로 변경 시킬 수 없음 </a:t>
            </a:r>
            <a:r>
              <a:rPr lang="en-US" altLang="ko-KR" b="1"/>
              <a:t>(Read </a:t>
            </a:r>
            <a:r>
              <a:rPr lang="ko-KR" altLang="en-US" b="1"/>
              <a:t>만이 가능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③ </a:t>
            </a:r>
            <a:r>
              <a:rPr lang="ko-KR" altLang="en-US" b="1"/>
              <a:t>전원이 꺼져도 기억된 내용이 지워지지 않는 비휘발성 메모리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④ 마이크로프로그램을 저장하는 제어 메모리는 주로 </a:t>
            </a:r>
            <a:r>
              <a:rPr lang="en-US" altLang="ko-KR" b="1"/>
              <a:t>ROM </a:t>
            </a:r>
            <a:r>
              <a:rPr lang="ko-KR" altLang="en-US" b="1"/>
              <a:t>메모리를 사용함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⑤ 실제로  </a:t>
            </a:r>
            <a:r>
              <a:rPr lang="en-US" altLang="ko-KR" b="1"/>
              <a:t>ROM </a:t>
            </a:r>
            <a:r>
              <a:rPr lang="ko-KR" altLang="en-US" b="1"/>
              <a:t>은 주기억장치로 사용하기보다는 주로 기본 입ㆍ출력 시스템                 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</a:t>
            </a:r>
            <a:r>
              <a:rPr lang="en-US" altLang="ko-KR" b="1"/>
              <a:t>(BIOS), </a:t>
            </a:r>
            <a:r>
              <a:rPr lang="ko-KR" altLang="en-US" b="1"/>
              <a:t>자가 진단 프로그램</a:t>
            </a:r>
            <a:r>
              <a:rPr lang="en-US" altLang="ko-KR" b="1"/>
              <a:t>(POST) </a:t>
            </a:r>
            <a:r>
              <a:rPr lang="ko-KR" altLang="en-US" b="1"/>
              <a:t>같이 변경 가능성이 희박한 시스템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소프트웨어를 기억시키는데 이용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⑥ </a:t>
            </a:r>
            <a:r>
              <a:rPr lang="en-US" altLang="ko-KR" b="1"/>
              <a:t>Micro instruction </a:t>
            </a:r>
            <a:r>
              <a:rPr lang="ko-KR" altLang="en-US" b="1"/>
              <a:t>을 내장하고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⑦ 제어 기억장치는 보통 기억장치 소자를 이용하여 구현됨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A3941F91-401C-4669-B391-4062584AB0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641D0F7-D7A2-41DD-8868-09E2F4DA993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592801F-CAA3-4686-B3D4-BA4AB0824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08050"/>
            <a:ext cx="8280400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⑧ ROM</a:t>
            </a:r>
            <a:r>
              <a:rPr lang="ko-KR" altLang="en-US" b="1"/>
              <a:t>의 종류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Mask ROM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반도체 공장에서 내용이 기입됨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대용량 메모리를 내장한 제품 중 프로그램 되어 있는 </a:t>
            </a:r>
            <a:r>
              <a:rPr lang="en-US" altLang="ko-KR" b="1"/>
              <a:t>ROM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PROM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</a:t>
            </a:r>
            <a:r>
              <a:rPr lang="ko-KR" altLang="en-US" b="1"/>
              <a:t>사용자가 한번만 내용을 기입을 할 수 있으나</a:t>
            </a:r>
            <a:r>
              <a:rPr lang="en-US" altLang="ko-KR" b="1"/>
              <a:t>, </a:t>
            </a:r>
            <a:r>
              <a:rPr lang="ko-KR" altLang="en-US" b="1"/>
              <a:t>지울 수 없는 것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EPROM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이미 기억된 내용을 자외선을 이용하여 지우고</a:t>
            </a:r>
            <a:r>
              <a:rPr lang="en-US" altLang="ko-KR" b="1"/>
              <a:t>, </a:t>
            </a:r>
            <a:r>
              <a:rPr lang="ko-KR" altLang="en-US" b="1"/>
              <a:t>다시 사용할 수 있는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메모리 </a:t>
            </a:r>
            <a:r>
              <a:rPr lang="en-US" altLang="ko-KR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EEPROM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- </a:t>
            </a:r>
            <a:r>
              <a:rPr lang="ko-KR" altLang="en-US" b="1"/>
              <a:t>이미 기억된 내용을 전기적인 방법을 이용하여 지우고</a:t>
            </a:r>
            <a:r>
              <a:rPr lang="en-US" altLang="ko-KR" b="1"/>
              <a:t>, </a:t>
            </a:r>
            <a:r>
              <a:rPr lang="ko-KR" altLang="en-US" b="1"/>
              <a:t>다시 사용할 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있는 메모리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- </a:t>
            </a:r>
            <a:r>
              <a:rPr lang="ko-KR" altLang="en-US" b="1"/>
              <a:t>전원공급이 중단되어도 내용이 지워지지 않으며 전기적으로 삭제하고</a:t>
            </a:r>
            <a:r>
              <a:rPr lang="en-US" altLang="ko-KR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</a:t>
            </a:r>
            <a:r>
              <a:rPr lang="ko-KR" altLang="en-US" b="1"/>
              <a:t>다시 쓸 수도 있는 기억장치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B8A3193B-27BB-4F8C-A6D4-C842F225D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7467673-E2F4-4BFC-9977-6B9777BDE48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6C6CFAE-10A3-4AAA-80B9-90442923E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052513"/>
            <a:ext cx="755967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⑨ </a:t>
            </a:r>
            <a:r>
              <a:rPr lang="ko-KR" altLang="en-US" b="1"/>
              <a:t>마이크로컴퓨터 내에는 동작에 항상 필요한 모니터 프로그램이 있으며</a:t>
            </a:r>
            <a:r>
              <a:rPr lang="en-US" altLang="ko-KR" b="1"/>
              <a:t>,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</a:t>
            </a:r>
            <a:r>
              <a:rPr lang="ko-KR" altLang="en-US" b="1"/>
              <a:t>이러한 모니터 프로그램이 기억되기에 적당한 장소임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⑩ </a:t>
            </a:r>
            <a:r>
              <a:rPr lang="en-US" altLang="ko-KR" b="1"/>
              <a:t>ROM </a:t>
            </a:r>
            <a:r>
              <a:rPr lang="ko-KR" altLang="en-US" b="1"/>
              <a:t>칩에 필요한 신호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주소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</a:t>
            </a:r>
            <a:r>
              <a:rPr lang="en-US" altLang="ko-KR"/>
              <a:t> </a:t>
            </a:r>
            <a:r>
              <a:rPr lang="ko-KR" altLang="en-US" b="1"/>
              <a:t>읽기 신호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칩 선택 신호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F310F4DD-E082-468F-BD2A-3B994464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462338"/>
            <a:ext cx="457200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RAM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Random Access Memory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② </a:t>
            </a:r>
            <a:r>
              <a:rPr lang="ko-KR" altLang="en-US" b="1"/>
              <a:t>자유롭게 읽고 쓸 수 있는 기억장치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8E953D9E-89C6-4699-887B-A9906E09C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5FFC31F-25BF-461C-86FD-5683A685273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Text Box 4">
            <a:extLst>
              <a:ext uri="{FF2B5EF4-FFF2-40B4-BE49-F238E27FC236}">
                <a16:creationId xmlns:a16="http://schemas.microsoft.com/office/drawing/2014/main" id="{2B0344E8-5DA0-40D9-BC81-BC2C8E685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36613"/>
            <a:ext cx="170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③ RAM</a:t>
            </a:r>
            <a:r>
              <a:rPr lang="ko-KR" altLang="en-US" b="1"/>
              <a:t>의 종류</a:t>
            </a:r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943CC021-3063-466A-9B87-26D560D43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7920037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9C669E5F-BEB8-4515-89CD-CCFA3D5D8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06AE9D4-E39F-4CBD-9B50-7C4496F827E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0512C6D3-D772-4547-8913-1A9AE14E9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8459787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자기 코어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자기 코어는 중심을 통과하는 전선에 흐르는 전류의 방향에 따라 </a:t>
            </a:r>
            <a:r>
              <a:rPr lang="en-US" altLang="ko-KR" b="1"/>
              <a:t>1 </a:t>
            </a:r>
            <a:r>
              <a:rPr lang="ko-KR" altLang="en-US" b="1"/>
              <a:t>혹은 </a:t>
            </a:r>
            <a:r>
              <a:rPr lang="en-US" altLang="ko-KR" b="1"/>
              <a:t>0</a:t>
            </a:r>
            <a:r>
              <a:rPr lang="ko-KR" altLang="en-US" b="1"/>
              <a:t>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값을 가짐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전류 일치 기술 </a:t>
            </a:r>
            <a:r>
              <a:rPr lang="en-US" altLang="ko-KR" b="1"/>
              <a:t>(coincident-current technique)</a:t>
            </a:r>
            <a:r>
              <a:rPr lang="ko-KR" altLang="en-US" b="1"/>
              <a:t>에 의하여 기억장소를 선별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하는 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전자계산기 메모리에서 지움성 읽음 </a:t>
            </a:r>
            <a:r>
              <a:rPr lang="en-US" altLang="ko-KR" b="1"/>
              <a:t>(Destructive Read-Out) </a:t>
            </a:r>
            <a:r>
              <a:rPr lang="ko-KR" altLang="en-US" b="1"/>
              <a:t>성질을 갖고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있음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9E9EB1B7-EDC3-485B-9F29-3B4051361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9230116-2DA1-4C7E-80CE-9844CBE8BE4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306ABFA-D4D1-4121-A49E-13076DF41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65175"/>
            <a:ext cx="8280400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반도체 기억소자 구성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RAM / ROM </a:t>
            </a:r>
            <a:r>
              <a:rPr lang="ko-KR" altLang="en-US" b="1"/>
              <a:t>의 용량계산법 기억장치 용량 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① 워드의 수 </a:t>
            </a:r>
            <a:r>
              <a:rPr lang="en-US" altLang="ko-KR" b="1"/>
              <a:t>= </a:t>
            </a:r>
            <a:r>
              <a:rPr lang="ko-KR" altLang="en-US" b="1"/>
              <a:t>입력 번지선의 수 </a:t>
            </a:r>
            <a:r>
              <a:rPr lang="en-US" altLang="ko-KR" b="1"/>
              <a:t>= </a:t>
            </a:r>
            <a:r>
              <a:rPr lang="ko-KR" altLang="en-US" b="1"/>
              <a:t>주소선의 수 </a:t>
            </a:r>
            <a:r>
              <a:rPr lang="en-US" altLang="ko-KR" b="1"/>
              <a:t>= MAR = PC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② </a:t>
            </a:r>
            <a:r>
              <a:rPr lang="ko-KR" altLang="en-US" b="1"/>
              <a:t>워드의 크기 </a:t>
            </a:r>
            <a:r>
              <a:rPr lang="en-US" altLang="ko-KR" b="1"/>
              <a:t>= </a:t>
            </a:r>
            <a:r>
              <a:rPr lang="ko-KR" altLang="en-US" b="1"/>
              <a:t>출력 데이터선의 수 </a:t>
            </a:r>
            <a:r>
              <a:rPr lang="en-US" altLang="ko-KR" b="1"/>
              <a:t>= Data Bus</a:t>
            </a:r>
            <a:r>
              <a:rPr lang="ko-KR" altLang="en-US" b="1"/>
              <a:t>의 비트 수 </a:t>
            </a:r>
            <a:r>
              <a:rPr lang="en-US" altLang="ko-KR" b="1"/>
              <a:t>=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              = MBR = DR = IR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③ </a:t>
            </a:r>
            <a:r>
              <a:rPr lang="ko-KR" altLang="en-US" b="1"/>
              <a:t>예제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</a:t>
            </a:r>
            <a:r>
              <a:rPr lang="en-US" altLang="ko-KR" b="1"/>
              <a:t>• </a:t>
            </a:r>
            <a:r>
              <a:rPr lang="ko-KR" altLang="en-US" b="1"/>
              <a:t>기억용량이 </a:t>
            </a:r>
            <a:r>
              <a:rPr lang="en-US" altLang="ko-KR" b="1"/>
              <a:t>1MByte </a:t>
            </a:r>
            <a:r>
              <a:rPr lang="ko-KR" altLang="en-US" b="1"/>
              <a:t>일 때 필요한 주소선의 수 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⇨ </a:t>
            </a:r>
            <a:r>
              <a:rPr lang="ko-KR" altLang="en-US" b="1"/>
              <a:t>워드의 크기에 대한 언급이 없으면 워드의 크기를 </a:t>
            </a:r>
            <a:r>
              <a:rPr lang="en-US" altLang="ko-KR" b="1"/>
              <a:t>1Byte</a:t>
            </a:r>
            <a:r>
              <a:rPr lang="ko-KR" altLang="en-US" b="1"/>
              <a:t>로 보면 됨                   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     </a:t>
            </a:r>
            <a:r>
              <a:rPr lang="en-US" altLang="ko-KR" b="1"/>
              <a:t>1MByte = 2</a:t>
            </a:r>
            <a:r>
              <a:rPr lang="en-US" altLang="ko-KR" b="1" baseline="30000"/>
              <a:t>20</a:t>
            </a:r>
            <a:r>
              <a:rPr lang="en-US" altLang="ko-KR" b="1"/>
              <a:t> </a:t>
            </a:r>
            <a:r>
              <a:rPr lang="ko-KR" altLang="en-US" b="1"/>
              <a:t>이므로 </a:t>
            </a:r>
            <a:r>
              <a:rPr lang="en-US" altLang="ko-KR" b="1"/>
              <a:t>20</a:t>
            </a:r>
            <a:r>
              <a:rPr lang="ko-KR" altLang="en-US" b="1"/>
              <a:t>개의 주소선이 필요함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</a:t>
            </a:r>
            <a:r>
              <a:rPr lang="en-US" altLang="ko-KR" b="1"/>
              <a:t>• </a:t>
            </a:r>
            <a:r>
              <a:rPr lang="ko-KR" altLang="en-US" b="1"/>
              <a:t>입력 번지선이 </a:t>
            </a:r>
            <a:r>
              <a:rPr lang="en-US" altLang="ko-KR" b="1"/>
              <a:t>8</a:t>
            </a:r>
            <a:r>
              <a:rPr lang="ko-KR" altLang="en-US" b="1"/>
              <a:t>개</a:t>
            </a:r>
            <a:r>
              <a:rPr lang="en-US" altLang="ko-KR" b="1"/>
              <a:t>, </a:t>
            </a:r>
            <a:r>
              <a:rPr lang="ko-KR" altLang="en-US" b="1"/>
              <a:t>출력 데이터선이 </a:t>
            </a:r>
            <a:r>
              <a:rPr lang="en-US" altLang="ko-KR" b="1"/>
              <a:t>8</a:t>
            </a:r>
            <a:r>
              <a:rPr lang="ko-KR" altLang="en-US" b="1"/>
              <a:t>개인  </a:t>
            </a:r>
            <a:r>
              <a:rPr lang="en-US" altLang="ko-KR" b="1"/>
              <a:t>ROM</a:t>
            </a:r>
            <a:r>
              <a:rPr lang="ko-KR" altLang="en-US" b="1"/>
              <a:t>의 기억용량</a:t>
            </a:r>
            <a:r>
              <a:rPr lang="en-US" altLang="ko-KR" b="1"/>
              <a:t>?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⇨ 2</a:t>
            </a:r>
            <a:r>
              <a:rPr lang="en-US" altLang="ko-KR" b="1" baseline="30000"/>
              <a:t>8</a:t>
            </a:r>
            <a:r>
              <a:rPr lang="en-US" altLang="ko-KR" b="1"/>
              <a:t> × 8 Bit = 256 × 8 Bit = 256 Byte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10956DED-0B01-4731-8ED7-14EA70946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1773238"/>
            <a:ext cx="5853112" cy="376237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/>
              <a:t>기억장치 용량 </a:t>
            </a:r>
            <a:r>
              <a:rPr lang="en-US" altLang="ko-KR" b="1"/>
              <a:t>= 2</a:t>
            </a:r>
            <a:r>
              <a:rPr lang="ko-KR" altLang="en-US" b="1" baseline="30000"/>
              <a:t>워드의 수</a:t>
            </a:r>
            <a:r>
              <a:rPr lang="ko-KR" altLang="en-US" b="1"/>
              <a:t> </a:t>
            </a:r>
            <a:r>
              <a:rPr lang="en-US" altLang="ko-KR" b="1"/>
              <a:t>X </a:t>
            </a:r>
            <a:r>
              <a:rPr lang="ko-KR" altLang="en-US" b="1"/>
              <a:t>워드의 크기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73900ECA-CCB6-4805-8CC2-D00976722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28CCC69-D41A-4D12-8DD4-FCDBA923210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BC104FD1-562E-4646-AD9F-0CBE1E2CE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765175"/>
            <a:ext cx="8135938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• </a:t>
            </a:r>
            <a:r>
              <a:rPr lang="ko-KR" altLang="en-US" b="1"/>
              <a:t>기억장치의 총 용량이 </a:t>
            </a:r>
            <a:r>
              <a:rPr lang="en-US" altLang="ko-KR" b="1"/>
              <a:t>4,096 </a:t>
            </a:r>
            <a:r>
              <a:rPr lang="ko-KR" altLang="en-US" b="1"/>
              <a:t>워드이고</a:t>
            </a:r>
            <a:r>
              <a:rPr lang="en-US" altLang="ko-KR" b="1"/>
              <a:t>, </a:t>
            </a:r>
            <a:r>
              <a:rPr lang="ko-KR" altLang="en-US" b="1"/>
              <a:t>워드 길이가 </a:t>
            </a:r>
            <a:r>
              <a:rPr lang="en-US" altLang="ko-KR" b="1"/>
              <a:t>16Bit </a:t>
            </a:r>
            <a:r>
              <a:rPr lang="ko-KR" altLang="en-US" b="1"/>
              <a:t>일 때 프로그램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카운터</a:t>
            </a:r>
            <a:r>
              <a:rPr lang="en-US" altLang="ko-KR" b="1"/>
              <a:t>(PC), </a:t>
            </a:r>
            <a:r>
              <a:rPr lang="ko-KR" altLang="en-US" b="1"/>
              <a:t>주소 레지스터</a:t>
            </a:r>
            <a:r>
              <a:rPr lang="en-US" altLang="ko-KR" b="1"/>
              <a:t>(AR), </a:t>
            </a:r>
            <a:r>
              <a:rPr lang="ko-KR" altLang="en-US" b="1"/>
              <a:t>데이터 레지스터</a:t>
            </a:r>
            <a:r>
              <a:rPr lang="en-US" altLang="ko-KR" b="1"/>
              <a:t>(DR) </a:t>
            </a:r>
            <a:r>
              <a:rPr lang="ko-KR" altLang="en-US" b="1"/>
              <a:t>의 크기 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⇨ 4,096 × 16 = 2</a:t>
            </a:r>
            <a:r>
              <a:rPr lang="en-US" altLang="ko-KR" b="1" baseline="30000"/>
              <a:t>12</a:t>
            </a:r>
            <a:r>
              <a:rPr lang="en-US" altLang="ko-KR" b="1"/>
              <a:t>× 16 </a:t>
            </a:r>
            <a:r>
              <a:rPr lang="ko-KR" altLang="en-US" b="1"/>
              <a:t>이고</a:t>
            </a:r>
            <a:r>
              <a:rPr lang="en-US" altLang="ko-KR" b="1"/>
              <a:t>, </a:t>
            </a:r>
            <a:r>
              <a:rPr lang="ko-KR" altLang="en-US" b="1"/>
              <a:t>워드의 수 </a:t>
            </a:r>
            <a:r>
              <a:rPr lang="en-US" altLang="ko-KR" b="1"/>
              <a:t>= </a:t>
            </a:r>
            <a:r>
              <a:rPr lang="ko-KR" altLang="en-US" b="1"/>
              <a:t>주소선의 수 </a:t>
            </a:r>
            <a:r>
              <a:rPr lang="en-US" altLang="ko-KR" b="1"/>
              <a:t>= (M)AR = PC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</a:t>
            </a:r>
            <a:r>
              <a:rPr lang="ko-KR" altLang="en-US" b="1"/>
              <a:t>이므로   ∴ </a:t>
            </a:r>
            <a:r>
              <a:rPr lang="en-US" altLang="ko-KR" b="1"/>
              <a:t>PC=12, AR=12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</a:t>
            </a:r>
            <a:r>
              <a:rPr lang="ko-KR" altLang="en-US" b="1"/>
              <a:t>워드 길이 </a:t>
            </a:r>
            <a:r>
              <a:rPr lang="en-US" altLang="ko-KR" b="1"/>
              <a:t>(</a:t>
            </a:r>
            <a:r>
              <a:rPr lang="ko-KR" altLang="en-US" b="1"/>
              <a:t>크기</a:t>
            </a:r>
            <a:r>
              <a:rPr lang="en-US" altLang="ko-KR" b="1"/>
              <a:t>) </a:t>
            </a:r>
            <a:r>
              <a:rPr lang="ko-KR" altLang="en-US" b="1"/>
              <a:t>가 </a:t>
            </a:r>
            <a:r>
              <a:rPr lang="en-US" altLang="ko-KR" b="1"/>
              <a:t>16Bit </a:t>
            </a:r>
            <a:r>
              <a:rPr lang="ko-KR" altLang="en-US" b="1"/>
              <a:t>이고</a:t>
            </a:r>
            <a:r>
              <a:rPr lang="en-US" altLang="ko-KR" b="1"/>
              <a:t>, </a:t>
            </a:r>
            <a:r>
              <a:rPr lang="ko-KR" altLang="en-US" b="1"/>
              <a:t>워드 크기 </a:t>
            </a:r>
            <a:r>
              <a:rPr lang="en-US" altLang="ko-KR" b="1"/>
              <a:t>= DR </a:t>
            </a:r>
            <a:r>
              <a:rPr lang="ko-KR" altLang="en-US" b="1"/>
              <a:t>이므로 ∴ </a:t>
            </a:r>
            <a:r>
              <a:rPr lang="en-US" altLang="ko-KR" b="1"/>
              <a:t>DR=16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• </a:t>
            </a:r>
            <a:r>
              <a:rPr lang="ko-KR" altLang="en-US" b="1"/>
              <a:t>메인 메모리의 용량이 </a:t>
            </a:r>
            <a:r>
              <a:rPr lang="en-US" altLang="ko-KR" b="1"/>
              <a:t>1,024K × 24Bit </a:t>
            </a:r>
            <a:r>
              <a:rPr lang="ko-KR" altLang="en-US" b="1"/>
              <a:t>일 때</a:t>
            </a:r>
            <a:r>
              <a:rPr lang="en-US" altLang="ko-KR" b="1"/>
              <a:t>, MAR </a:t>
            </a:r>
            <a:r>
              <a:rPr lang="ko-KR" altLang="en-US" b="1"/>
              <a:t>과 </a:t>
            </a:r>
            <a:r>
              <a:rPr lang="en-US" altLang="ko-KR" b="1"/>
              <a:t>MBR </a:t>
            </a:r>
            <a:r>
              <a:rPr lang="ko-KR" altLang="en-US" b="1"/>
              <a:t>의 길이는 각각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몇 비트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⇨ 1,024K × 24Bit </a:t>
            </a:r>
            <a:r>
              <a:rPr lang="ko-KR" altLang="en-US" b="1"/>
              <a:t>는 용량이 </a:t>
            </a:r>
            <a:r>
              <a:rPr lang="en-US" altLang="ko-KR" b="1"/>
              <a:t>1,024K </a:t>
            </a:r>
            <a:r>
              <a:rPr lang="ko-KR" altLang="en-US" b="1"/>
              <a:t>워드이고</a:t>
            </a:r>
            <a:r>
              <a:rPr lang="en-US" altLang="ko-KR" b="1"/>
              <a:t>, </a:t>
            </a:r>
            <a:r>
              <a:rPr lang="ko-KR" altLang="en-US" b="1"/>
              <a:t>워드 길이가 </a:t>
            </a:r>
            <a:r>
              <a:rPr lang="en-US" altLang="ko-KR" b="1"/>
              <a:t>24Bit </a:t>
            </a:r>
            <a:r>
              <a:rPr lang="ko-KR" altLang="en-US" b="1"/>
              <a:t>이므로</a:t>
            </a:r>
            <a:r>
              <a:rPr lang="en-US" altLang="ko-KR" b="1"/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</a:t>
            </a:r>
            <a:r>
              <a:rPr lang="ko-KR" altLang="en-US" b="1"/>
              <a:t>워드의 크기 </a:t>
            </a:r>
            <a:r>
              <a:rPr lang="en-US" altLang="ko-KR" b="1"/>
              <a:t>= MBR = 24, 1,024K = 2</a:t>
            </a:r>
            <a:r>
              <a:rPr lang="en-US" altLang="ko-KR" b="1" baseline="30000"/>
              <a:t>10</a:t>
            </a:r>
            <a:r>
              <a:rPr lang="en-US" altLang="ko-KR" b="1"/>
              <a:t> × 2</a:t>
            </a:r>
            <a:r>
              <a:rPr lang="en-US" altLang="ko-KR" b="1" baseline="30000"/>
              <a:t>10  </a:t>
            </a:r>
            <a:r>
              <a:rPr lang="en-US" altLang="ko-KR" b="1"/>
              <a:t>(∵ K =2</a:t>
            </a:r>
            <a:r>
              <a:rPr lang="en-US" altLang="ko-KR" b="1" baseline="30000"/>
              <a:t>10</a:t>
            </a:r>
            <a:r>
              <a:rPr lang="en-US" altLang="ko-KR" b="1"/>
              <a:t> = 1,024) =2</a:t>
            </a:r>
            <a:r>
              <a:rPr lang="en-US" altLang="ko-KR" b="1" baseline="30000"/>
              <a:t>20 </a:t>
            </a:r>
            <a:r>
              <a:rPr lang="en-US" altLang="ko-KR" b="1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∴ MAR = 20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• </a:t>
            </a:r>
            <a:r>
              <a:rPr lang="ko-KR" altLang="en-US" b="1"/>
              <a:t>컴퓨터의 메모리 용량이 </a:t>
            </a:r>
            <a:r>
              <a:rPr lang="en-US" altLang="ko-KR" b="1"/>
              <a:t>16K×32bit </a:t>
            </a:r>
            <a:r>
              <a:rPr lang="ko-KR" altLang="en-US" b="1"/>
              <a:t>라 하면 </a:t>
            </a:r>
            <a:r>
              <a:rPr lang="en-US" altLang="ko-KR" b="1"/>
              <a:t>MAR(Memory Address Register)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</a:t>
            </a:r>
            <a:r>
              <a:rPr lang="ko-KR" altLang="en-US" b="1"/>
              <a:t>와 </a:t>
            </a:r>
            <a:r>
              <a:rPr lang="en-US" altLang="ko-KR" b="1"/>
              <a:t>MBR(Memory Buffer Register) </a:t>
            </a:r>
            <a:r>
              <a:rPr lang="ko-KR" altLang="en-US" b="1"/>
              <a:t>은 각각 몇 비트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⇨16K = 16 × 2</a:t>
            </a:r>
            <a:r>
              <a:rPr lang="en-US" altLang="ko-KR" b="1" baseline="30000"/>
              <a:t>10</a:t>
            </a:r>
            <a:r>
              <a:rPr lang="en-US" altLang="ko-KR" b="1"/>
              <a:t> = 2</a:t>
            </a:r>
            <a:r>
              <a:rPr lang="en-US" altLang="ko-KR" b="1" baseline="30000"/>
              <a:t>4</a:t>
            </a:r>
            <a:r>
              <a:rPr lang="en-US" altLang="ko-KR" b="1"/>
              <a:t> × 2</a:t>
            </a:r>
            <a:r>
              <a:rPr lang="en-US" altLang="ko-KR" b="1" baseline="30000"/>
              <a:t>10</a:t>
            </a:r>
            <a:r>
              <a:rPr lang="en-US" altLang="ko-KR" b="1"/>
              <a:t> = 2</a:t>
            </a:r>
            <a:r>
              <a:rPr lang="en-US" altLang="ko-KR" b="1" baseline="30000"/>
              <a:t>14 </a:t>
            </a:r>
            <a:r>
              <a:rPr lang="en-US" altLang="ko-KR" b="1"/>
              <a:t> ∴ MAR = 14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</a:t>
            </a:r>
            <a:r>
              <a:rPr lang="ko-KR" altLang="en-US" b="1"/>
              <a:t>용량이 </a:t>
            </a:r>
            <a:r>
              <a:rPr lang="en-US" altLang="ko-KR" b="1"/>
              <a:t>16K×32bit </a:t>
            </a:r>
            <a:r>
              <a:rPr lang="ko-KR" altLang="en-US" b="1"/>
              <a:t>이므로</a:t>
            </a:r>
            <a:r>
              <a:rPr lang="en-US" altLang="ko-KR" b="1"/>
              <a:t>, </a:t>
            </a:r>
            <a:r>
              <a:rPr lang="ko-KR" altLang="en-US" b="1"/>
              <a:t>워드의 크기 </a:t>
            </a:r>
            <a:r>
              <a:rPr lang="en-US" altLang="ko-KR" b="1"/>
              <a:t>= MBR =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5F2F1EAE-4C40-402C-BE47-4431F5F5B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C3C1AB6-DA9B-4ADC-840F-ECFC51B206E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91E3097-6979-4552-ABAF-F820D8D38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65175"/>
            <a:ext cx="8659813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• </a:t>
            </a:r>
            <a:r>
              <a:rPr lang="ko-KR" altLang="en-US" b="1"/>
              <a:t>가로 세로 각각 </a:t>
            </a:r>
            <a:r>
              <a:rPr lang="en-US" altLang="ko-KR" b="1"/>
              <a:t>32</a:t>
            </a:r>
            <a:r>
              <a:rPr lang="ko-KR" altLang="en-US" b="1"/>
              <a:t>개로 구성된 </a:t>
            </a:r>
            <a:r>
              <a:rPr lang="en-US" altLang="ko-KR" b="1"/>
              <a:t>core plain </a:t>
            </a:r>
            <a:r>
              <a:rPr lang="ko-KR" altLang="en-US" b="1"/>
              <a:t>을 </a:t>
            </a:r>
            <a:r>
              <a:rPr lang="en-US" altLang="ko-KR" b="1"/>
              <a:t>16</a:t>
            </a:r>
            <a:r>
              <a:rPr lang="ko-KR" altLang="en-US" b="1"/>
              <a:t>장 겹쳐 쌓은 기억장치의 기억 용량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은 몇 </a:t>
            </a:r>
            <a:r>
              <a:rPr lang="en-US" altLang="ko-KR" b="1"/>
              <a:t>K </a:t>
            </a:r>
            <a:r>
              <a:rPr lang="ko-KR" altLang="en-US" b="1"/>
              <a:t>워드 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⇨ </a:t>
            </a:r>
            <a:r>
              <a:rPr lang="ko-KR" altLang="en-US" b="1"/>
              <a:t>코어는 </a:t>
            </a:r>
            <a:r>
              <a:rPr lang="en-US" altLang="ko-KR" b="1"/>
              <a:t>1</a:t>
            </a:r>
            <a:r>
              <a:rPr lang="ko-KR" altLang="en-US" b="1"/>
              <a:t>개의 워드를 구성하는 비트수 만큼 </a:t>
            </a:r>
            <a:r>
              <a:rPr lang="en-US" altLang="ko-KR" b="1"/>
              <a:t>Core Plain </a:t>
            </a:r>
            <a:r>
              <a:rPr lang="ko-KR" altLang="en-US" b="1"/>
              <a:t>을 겹쳐 쌓음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즉 </a:t>
            </a:r>
            <a:r>
              <a:rPr lang="en-US" altLang="ko-KR" b="1"/>
              <a:t>16</a:t>
            </a:r>
            <a:r>
              <a:rPr lang="ko-KR" altLang="en-US" b="1"/>
              <a:t>장이므로 </a:t>
            </a:r>
            <a:r>
              <a:rPr lang="en-US" altLang="ko-KR" b="1"/>
              <a:t>16Bit </a:t>
            </a:r>
            <a:r>
              <a:rPr lang="ko-KR" altLang="en-US" b="1"/>
              <a:t>가 </a:t>
            </a:r>
            <a:r>
              <a:rPr lang="en-US" altLang="ko-KR" b="1"/>
              <a:t>1</a:t>
            </a:r>
            <a:r>
              <a:rPr lang="ko-KR" altLang="en-US" b="1"/>
              <a:t>워드임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가로 세로 각 </a:t>
            </a:r>
            <a:r>
              <a:rPr lang="en-US" altLang="ko-KR" b="1"/>
              <a:t>32</a:t>
            </a:r>
            <a:r>
              <a:rPr lang="ko-KR" altLang="en-US" b="1"/>
              <a:t>개이므로 </a:t>
            </a:r>
            <a:r>
              <a:rPr lang="en-US" altLang="ko-KR" b="1"/>
              <a:t>32 x 32 = 1024, </a:t>
            </a:r>
            <a:r>
              <a:rPr lang="ko-KR" altLang="en-US" b="1"/>
              <a:t>즉 </a:t>
            </a:r>
            <a:r>
              <a:rPr lang="en-US" altLang="ko-KR" b="1"/>
              <a:t>1K </a:t>
            </a:r>
            <a:r>
              <a:rPr lang="ko-KR" altLang="en-US" b="1"/>
              <a:t>임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• 256 x 4</a:t>
            </a:r>
            <a:r>
              <a:rPr lang="ko-KR" altLang="en-US" b="1"/>
              <a:t>비트의 구성을 갖는 메모리 </a:t>
            </a:r>
            <a:r>
              <a:rPr lang="en-US" altLang="ko-KR" b="1"/>
              <a:t>IC</a:t>
            </a:r>
            <a:r>
              <a:rPr lang="ko-KR" altLang="en-US" b="1"/>
              <a:t>를 사용하여 </a:t>
            </a:r>
            <a:r>
              <a:rPr lang="en-US" altLang="ko-KR" b="1"/>
              <a:t>4,096 x 16 </a:t>
            </a:r>
            <a:r>
              <a:rPr lang="ko-KR" altLang="en-US" b="1"/>
              <a:t>비트 메모리를 만들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고자 할 때 몇 개의 </a:t>
            </a:r>
            <a:r>
              <a:rPr lang="en-US" altLang="ko-KR" b="1"/>
              <a:t>IC </a:t>
            </a:r>
            <a:r>
              <a:rPr lang="ko-KR" altLang="en-US" b="1"/>
              <a:t>가 필요 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⇨ (4,096 x 16) / (256 x 4) = 64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</a:t>
            </a:r>
            <a:r>
              <a:rPr lang="ko-KR" altLang="en-US" b="1"/>
              <a:t>따라서 </a:t>
            </a:r>
            <a:r>
              <a:rPr lang="en-US" altLang="ko-KR" b="1"/>
              <a:t>64 </a:t>
            </a:r>
            <a:r>
              <a:rPr lang="ko-KR" altLang="en-US" b="1"/>
              <a:t>개의 </a:t>
            </a:r>
            <a:r>
              <a:rPr lang="en-US" altLang="ko-KR" b="1"/>
              <a:t>256 x 4</a:t>
            </a:r>
            <a:r>
              <a:rPr lang="ko-KR" altLang="en-US" b="1"/>
              <a:t>비트의 구성을 갖는 </a:t>
            </a:r>
            <a:r>
              <a:rPr lang="en-US" altLang="ko-KR" b="1"/>
              <a:t>IC </a:t>
            </a:r>
            <a:r>
              <a:rPr lang="ko-KR" altLang="en-US" b="1"/>
              <a:t>메모리 가 필요함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• </a:t>
            </a:r>
            <a:r>
              <a:rPr lang="ko-KR" altLang="en-US" b="1"/>
              <a:t>컴퓨터 주기억장치의 용량이 </a:t>
            </a:r>
            <a:r>
              <a:rPr lang="en-US" altLang="ko-KR" b="1"/>
              <a:t>256MB </a:t>
            </a:r>
            <a:r>
              <a:rPr lang="ko-KR" altLang="en-US" b="1"/>
              <a:t>라면 주소 버스는 최소한 몇 </a:t>
            </a:r>
            <a:r>
              <a:rPr lang="en-US" altLang="ko-KR" b="1"/>
              <a:t>Bit?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⇨ </a:t>
            </a:r>
            <a:r>
              <a:rPr lang="ko-KR" altLang="en-US" b="1"/>
              <a:t>주소 버스는 최소한 주기억장치의 용량만큼은 주소를 지정할 수 있는 크기이어야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256MB = 2</a:t>
            </a:r>
            <a:r>
              <a:rPr lang="en-US" altLang="ko-KR" b="1" baseline="30000"/>
              <a:t>8</a:t>
            </a:r>
            <a:r>
              <a:rPr lang="en-US" altLang="ko-KR" b="1"/>
              <a:t> x 2</a:t>
            </a:r>
            <a:r>
              <a:rPr lang="en-US" altLang="ko-KR" b="1" baseline="30000"/>
              <a:t>20</a:t>
            </a:r>
            <a:r>
              <a:rPr lang="ko-KR" altLang="en-US" b="1"/>
              <a:t>이므로 </a:t>
            </a:r>
            <a:r>
              <a:rPr lang="en-US" altLang="ko-KR" b="1"/>
              <a:t>28Bit</a:t>
            </a:r>
            <a:r>
              <a:rPr lang="ko-KR" altLang="en-US" b="1"/>
              <a:t>가 필요함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1">
            <a:extLst>
              <a:ext uri="{FF2B5EF4-FFF2-40B4-BE49-F238E27FC236}">
                <a16:creationId xmlns:a16="http://schemas.microsoft.com/office/drawing/2014/main" id="{B80E5438-AEA6-4B30-964F-015C9E2F0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750BEEE-91BF-4C30-9D47-2D563E7CEDC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0EB59AC9-E52C-4815-9BA1-2A8A8D033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2357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3. </a:t>
            </a:r>
            <a:r>
              <a:rPr lang="ko-KR" altLang="en-US" sz="2200" b="1"/>
              <a:t>보조 기억 장치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B7D1FE27-3A6A-43AB-BD22-D587C449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96975"/>
            <a:ext cx="8305800" cy="227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보조기억장치의 개념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1) </a:t>
            </a:r>
            <a:r>
              <a:rPr lang="ko-KR" altLang="en-US" b="1"/>
              <a:t>보조기억장치는 주기억장치의 단점을 보완하기 위한 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2) </a:t>
            </a:r>
            <a:r>
              <a:rPr lang="ko-KR" altLang="en-US" b="1"/>
              <a:t>보조기억장치는 주기억장치에 비해 속도는 느리지만 전원이 차단되어도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내용이 그대로 유지되고</a:t>
            </a:r>
            <a:r>
              <a:rPr lang="en-US" altLang="ko-KR" b="1"/>
              <a:t>, </a:t>
            </a:r>
            <a:r>
              <a:rPr lang="ko-KR" altLang="en-US" b="1"/>
              <a:t>저장 용량이 크다는 장점이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3) </a:t>
            </a:r>
            <a:r>
              <a:rPr lang="ko-KR" altLang="en-US" b="1"/>
              <a:t>사용하지 않는 데이터나 프로그램을 보관하는 곳으로 용량이 크고 액세스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속도 가 느리지만 비트 당 가격이 싼 기억장치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1">
            <a:extLst>
              <a:ext uri="{FF2B5EF4-FFF2-40B4-BE49-F238E27FC236}">
                <a16:creationId xmlns:a16="http://schemas.microsoft.com/office/drawing/2014/main" id="{C23079E1-A6E9-46B8-9792-CB90DAEF9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98B4B8A-2EBE-43F7-9BE6-2DB0AA023B1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4137ABB0-C88C-4EB4-B029-0CEA55EE4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08050"/>
            <a:ext cx="7899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보조기억장치의 종류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1) </a:t>
            </a:r>
            <a:r>
              <a:rPr lang="ko-KR" altLang="en-US" b="1"/>
              <a:t>자기 테이프 </a:t>
            </a:r>
            <a:r>
              <a:rPr lang="en-US" altLang="ko-KR" b="1"/>
              <a:t>(Magnetic Tape)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① </a:t>
            </a:r>
            <a:r>
              <a:rPr lang="ko-KR" altLang="en-US" b="1"/>
              <a:t>자기 테이프는 주소의 개념을 사용하지 않고 처음부터 차례대로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 처리하는</a:t>
            </a:r>
            <a:r>
              <a:rPr lang="en-US" altLang="ko-KR" b="1"/>
              <a:t>, </a:t>
            </a:r>
            <a:r>
              <a:rPr lang="ko-KR" altLang="en-US" b="1"/>
              <a:t>순차처리</a:t>
            </a:r>
            <a:r>
              <a:rPr lang="en-US" altLang="ko-KR" b="1"/>
              <a:t>(SASD) </a:t>
            </a:r>
            <a:r>
              <a:rPr lang="ko-KR" altLang="en-US" b="1"/>
              <a:t>만 할 수 있는 </a:t>
            </a:r>
            <a:r>
              <a:rPr lang="en-US" altLang="ko-KR" b="1"/>
              <a:t>(</a:t>
            </a:r>
            <a:r>
              <a:rPr lang="ko-KR" altLang="en-US" b="1"/>
              <a:t>랜덤 처리가 되지 않음</a:t>
            </a:r>
            <a:r>
              <a:rPr lang="en-US" altLang="ko-KR" b="1"/>
              <a:t>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</a:t>
            </a:r>
            <a:r>
              <a:rPr lang="ko-KR" altLang="en-US" b="1"/>
              <a:t>대용량 저장 매체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② 대량의 자료를 장시간 보관하는데 가장 유리한 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③ 데이터를 순차적으로만 기록 또는 판독 가능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④ 자기 테이프 장치의 기능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  </a:t>
            </a:r>
            <a:r>
              <a:rPr lang="en-US" altLang="ko-KR" b="1"/>
              <a:t>- </a:t>
            </a:r>
            <a:r>
              <a:rPr lang="ko-KR" altLang="en-US" b="1"/>
              <a:t>입 출력장치로 쓰임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⑤ 자기 테이프 구조</a:t>
            </a: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9A64DB76-74B7-4415-ADD1-E5FC5841E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4508500"/>
            <a:ext cx="64770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번호 개체 틀 1">
            <a:extLst>
              <a:ext uri="{FF2B5EF4-FFF2-40B4-BE49-F238E27FC236}">
                <a16:creationId xmlns:a16="http://schemas.microsoft.com/office/drawing/2014/main" id="{705D651C-814B-4F4B-84A1-CC8C150FA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DE5C654-B271-4B37-91F9-7D63EA06873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D49DC3DC-C638-42A4-A562-C08870F1B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81075"/>
            <a:ext cx="83629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en-US" b="1"/>
              <a:t>⑥</a:t>
            </a:r>
            <a:r>
              <a:rPr lang="en-US" altLang="ko-KR" b="1"/>
              <a:t> </a:t>
            </a:r>
            <a:r>
              <a:rPr lang="ko-KR" altLang="en-US" b="1"/>
              <a:t>관련 용어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en-US" b="1"/>
              <a:t>• </a:t>
            </a:r>
            <a:r>
              <a:rPr lang="ko-KR" altLang="en-US" b="1"/>
              <a:t>블록</a:t>
            </a:r>
            <a:r>
              <a:rPr lang="en-US" altLang="en-US" b="1"/>
              <a:t> </a:t>
            </a:r>
            <a:r>
              <a:rPr lang="ko-KR" altLang="en-US" b="1"/>
              <a:t>레코드</a:t>
            </a:r>
            <a:r>
              <a:rPr lang="en-US" altLang="en-US" b="1"/>
              <a:t> </a:t>
            </a:r>
            <a:r>
              <a:rPr lang="en-US" altLang="ko-KR" b="1"/>
              <a:t>(</a:t>
            </a:r>
            <a:r>
              <a:rPr lang="ko-KR" altLang="en-US" b="1"/>
              <a:t>물리 레코드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b="1"/>
              <a:t> </a:t>
            </a:r>
            <a:r>
              <a:rPr lang="en-US" altLang="ko-KR" b="1"/>
              <a:t>      - </a:t>
            </a:r>
            <a:r>
              <a:rPr lang="ko-KR" altLang="en-US" b="1"/>
              <a:t>자기 테이프에서 갭</a:t>
            </a:r>
            <a:r>
              <a:rPr lang="en-US" altLang="ko-KR" b="1"/>
              <a:t>(gap)</a:t>
            </a:r>
            <a:r>
              <a:rPr lang="ko-KR" altLang="en-US" b="1"/>
              <a:t>과 갭 사이에 존재하는 레코드</a:t>
            </a:r>
            <a:r>
              <a:rPr lang="en-US" altLang="en-US" b="1"/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- 1</a:t>
            </a:r>
            <a:r>
              <a:rPr lang="en-US" altLang="en-US" b="1"/>
              <a:t>개 </a:t>
            </a:r>
            <a:r>
              <a:rPr lang="ko-KR" altLang="en-US" b="1"/>
              <a:t>이상의 논리 레코드의 집합으로 입</a:t>
            </a:r>
            <a:r>
              <a:rPr lang="en-US" altLang="ko-KR" b="1"/>
              <a:t>/</a:t>
            </a:r>
            <a:r>
              <a:rPr lang="ko-KR" altLang="en-US" b="1"/>
              <a:t>출력 단위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물리 레코드라고도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en-US" b="1"/>
              <a:t>• IBG</a:t>
            </a:r>
            <a:r>
              <a:rPr lang="en-US" altLang="ko-KR" b="1"/>
              <a:t> </a:t>
            </a:r>
            <a:r>
              <a:rPr lang="en-US" altLang="en-US" b="1"/>
              <a:t>(Inter Block Gap) : </a:t>
            </a:r>
            <a:r>
              <a:rPr lang="ko-KR" altLang="en-US" b="1"/>
              <a:t>블록과 블록 사이의 갭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en-US" b="1"/>
              <a:t>• </a:t>
            </a:r>
            <a:r>
              <a:rPr lang="ko-KR" altLang="en-US" b="1"/>
              <a:t>블록 팩터 </a:t>
            </a:r>
            <a:r>
              <a:rPr lang="en-US" altLang="ko-KR" b="1"/>
              <a:t>(Block Factor)</a:t>
            </a:r>
            <a:r>
              <a:rPr lang="en-US" altLang="en-US" b="1"/>
              <a:t> </a:t>
            </a:r>
            <a:endParaRPr lang="en-US" altLang="ko-KR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- </a:t>
            </a:r>
            <a:r>
              <a:rPr lang="ko-KR" altLang="en-US" b="1"/>
              <a:t>하나의 블록 내에 통합되어 있는 논리 레코드의 개수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블록</a:t>
            </a:r>
            <a:r>
              <a:rPr lang="en-US" altLang="en-US" b="1"/>
              <a:t> 팩터 </a:t>
            </a:r>
            <a:r>
              <a:rPr lang="en-US" altLang="ko-KR" b="1"/>
              <a:t>= </a:t>
            </a:r>
            <a:r>
              <a:rPr lang="ko-KR" altLang="en-US" b="1"/>
              <a:t>블록</a:t>
            </a:r>
            <a:r>
              <a:rPr lang="en-US" altLang="en-US" b="1"/>
              <a:t> </a:t>
            </a:r>
            <a:r>
              <a:rPr lang="ko-KR" altLang="en-US" b="1"/>
              <a:t>크기 </a:t>
            </a:r>
            <a:r>
              <a:rPr lang="en-US" altLang="ko-KR" b="1"/>
              <a:t>/</a:t>
            </a:r>
            <a:r>
              <a:rPr lang="en-US" altLang="en-US" b="1"/>
              <a:t> </a:t>
            </a:r>
            <a:r>
              <a:rPr lang="en-US" altLang="ko-KR" b="1"/>
              <a:t>(</a:t>
            </a:r>
            <a:r>
              <a:rPr lang="ko-KR" altLang="en-US" b="1"/>
              <a:t>논리</a:t>
            </a:r>
            <a:r>
              <a:rPr lang="en-US" altLang="ko-KR" b="1"/>
              <a:t>)</a:t>
            </a:r>
            <a:r>
              <a:rPr lang="ko-KR" altLang="en-US" b="1"/>
              <a:t>레코드 크기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en-US" b="1"/>
              <a:t>예</a:t>
            </a:r>
            <a:r>
              <a:rPr lang="en-US" altLang="ko-KR" b="1"/>
              <a:t>)</a:t>
            </a:r>
            <a:r>
              <a:rPr lang="en-US" altLang="en-US" b="1"/>
              <a:t> </a:t>
            </a:r>
            <a:r>
              <a:rPr lang="ko-KR" altLang="en-US" b="1"/>
              <a:t>자기 테이프</a:t>
            </a:r>
            <a:r>
              <a:rPr lang="en-US" altLang="en-US" b="1"/>
              <a:t> Record</a:t>
            </a:r>
            <a:r>
              <a:rPr lang="en-US" altLang="ko-KR" b="1"/>
              <a:t> </a:t>
            </a:r>
            <a:r>
              <a:rPr lang="ko-KR" altLang="en-US" b="1"/>
              <a:t>크기가 </a:t>
            </a:r>
            <a:r>
              <a:rPr lang="en-US" altLang="ko-KR" b="1"/>
              <a:t>80</a:t>
            </a:r>
            <a:r>
              <a:rPr lang="en-US" altLang="en-US" b="1"/>
              <a:t>자로서 </a:t>
            </a:r>
            <a:r>
              <a:rPr lang="ko-KR" altLang="en-US" b="1"/>
              <a:t>블록 </a:t>
            </a:r>
            <a:r>
              <a:rPr lang="en-US" altLang="ko-KR" b="1"/>
              <a:t>(Block) </a:t>
            </a:r>
            <a:r>
              <a:rPr lang="en-US" altLang="en-US" b="1"/>
              <a:t>의 </a:t>
            </a:r>
            <a:r>
              <a:rPr lang="ko-KR" altLang="en-US" b="1"/>
              <a:t>크기가 </a:t>
            </a:r>
            <a:r>
              <a:rPr lang="en-US" altLang="ko-KR" b="1"/>
              <a:t>2400</a:t>
            </a:r>
            <a:r>
              <a:rPr lang="ko-KR" altLang="en-US" b="1"/>
              <a:t>자 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경우 블록</a:t>
            </a:r>
            <a:r>
              <a:rPr lang="en-US" altLang="en-US" b="1"/>
              <a:t> 팩터</a:t>
            </a:r>
            <a:r>
              <a:rPr lang="ko-KR" altLang="en-US" b="1"/>
              <a:t> </a:t>
            </a:r>
            <a:r>
              <a:rPr lang="en-US" altLang="en-US" b="1"/>
              <a:t>(Block Factor)</a:t>
            </a:r>
            <a:r>
              <a:rPr lang="en-US" altLang="ko-KR" b="1"/>
              <a:t> </a:t>
            </a:r>
            <a:r>
              <a:rPr lang="en-US" altLang="en-US" b="1"/>
              <a:t>?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</a:t>
            </a:r>
            <a:r>
              <a:rPr lang="ko-KR" altLang="en-US" b="1"/>
              <a:t>블록</a:t>
            </a:r>
            <a:r>
              <a:rPr lang="en-US" altLang="en-US" b="1"/>
              <a:t> 팩터 </a:t>
            </a:r>
            <a:r>
              <a:rPr lang="en-US" altLang="ko-KR" b="1"/>
              <a:t>= </a:t>
            </a:r>
            <a:r>
              <a:rPr lang="ko-KR" altLang="en-US" b="1"/>
              <a:t>블록</a:t>
            </a:r>
            <a:r>
              <a:rPr lang="en-US" altLang="en-US" b="1"/>
              <a:t> </a:t>
            </a:r>
            <a:r>
              <a:rPr lang="ko-KR" altLang="en-US" b="1"/>
              <a:t>크기 </a:t>
            </a:r>
            <a:r>
              <a:rPr lang="en-US" altLang="ko-KR" b="1"/>
              <a:t>/ </a:t>
            </a:r>
            <a:r>
              <a:rPr lang="ko-KR" altLang="en-US" b="1"/>
              <a:t>레코드 크기 </a:t>
            </a:r>
            <a:r>
              <a:rPr lang="en-US" altLang="en-US" b="1"/>
              <a:t>= 2,400 / 80 = 30</a:t>
            </a:r>
            <a:endParaRPr lang="en-US" altLang="ko-KR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1">
            <a:extLst>
              <a:ext uri="{FF2B5EF4-FFF2-40B4-BE49-F238E27FC236}">
                <a16:creationId xmlns:a16="http://schemas.microsoft.com/office/drawing/2014/main" id="{CED3BD7F-E892-4B90-A7E3-A9F11C43E9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5F16928-B412-4539-B641-C88CA4F423F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77D178F-CF59-45E0-A292-A60B52197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11225"/>
            <a:ext cx="8281987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⑦ </a:t>
            </a:r>
            <a:r>
              <a:rPr lang="ko-KR" altLang="en-US" b="1"/>
              <a:t>자기 테이프와 관계 있는 것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Magnetic head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• Parity bit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• Protect ring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※ </a:t>
            </a:r>
            <a:r>
              <a:rPr lang="ko-KR" altLang="en-US" b="1"/>
              <a:t>스테이징 </a:t>
            </a:r>
            <a:r>
              <a:rPr lang="en-US" altLang="ko-KR" b="1"/>
              <a:t>(Staging)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자기테이프 등과 같은 대용량의 보조 기억장치의 내용을 직접 접근이 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능한 영역으로 이동하여 컴퓨터시스템에서 자료를 접근할 수 있도록 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는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가상기억체제에서 보조기억장치에 저장되어 있는 프로그램을 주기억장치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로 옮기는 것처럼</a:t>
            </a:r>
            <a:r>
              <a:rPr lang="en-US" altLang="ko-KR" b="1"/>
              <a:t>, </a:t>
            </a:r>
            <a:r>
              <a:rPr lang="ko-KR" altLang="en-US" b="1"/>
              <a:t>느린 장치에서 빠른 장치로 옮겨가는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가상 기억체제에서 페이지 부재</a:t>
            </a:r>
            <a:r>
              <a:rPr lang="en-US" altLang="ko-KR" b="1"/>
              <a:t>(Page Fault)</a:t>
            </a:r>
            <a:r>
              <a:rPr lang="ko-KR" altLang="en-US" b="1"/>
              <a:t>가 발생하면 희생 페이지를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결정해서 보조기억장치의 이전 위치에 기억시키고 새로운 페이지를 이전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희생된 페이지가 있던 곳에 위치시키는 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번호 개체 틀 1">
            <a:extLst>
              <a:ext uri="{FF2B5EF4-FFF2-40B4-BE49-F238E27FC236}">
                <a16:creationId xmlns:a16="http://schemas.microsoft.com/office/drawing/2014/main" id="{4FA05B15-95C9-4993-8512-9448042B5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BB214D4-887C-40F9-BE03-63889014092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49F852C-0C81-4C6A-8902-89D7D0D0B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8424862" cy="402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자기 드럼 </a:t>
            </a:r>
            <a:r>
              <a:rPr lang="en-US" altLang="ko-KR" b="1"/>
              <a:t>(Magnetic Drum)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원통 표면에 </a:t>
            </a:r>
            <a:r>
              <a:rPr lang="en-US" altLang="ko-KR" b="1"/>
              <a:t>Track </a:t>
            </a:r>
            <a:r>
              <a:rPr lang="ko-KR" altLang="en-US" b="1"/>
              <a:t>과 </a:t>
            </a:r>
            <a:r>
              <a:rPr lang="en-US" altLang="ko-KR" b="1"/>
              <a:t>Sector </a:t>
            </a:r>
            <a:r>
              <a:rPr lang="ko-KR" altLang="en-US" b="1"/>
              <a:t>를 구성하고</a:t>
            </a:r>
            <a:r>
              <a:rPr lang="en-US" altLang="ko-KR" b="1"/>
              <a:t>, </a:t>
            </a:r>
            <a:r>
              <a:rPr lang="ko-KR" altLang="en-US" b="1"/>
              <a:t>각 </a:t>
            </a:r>
            <a:r>
              <a:rPr lang="en-US" altLang="ko-KR" b="1"/>
              <a:t>Track </a:t>
            </a:r>
            <a:r>
              <a:rPr lang="ko-KR" altLang="en-US" b="1"/>
              <a:t>마다 고정된 </a:t>
            </a:r>
            <a:r>
              <a:rPr lang="en-US" altLang="ko-KR" b="1"/>
              <a:t>R/W Head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</a:t>
            </a:r>
            <a:r>
              <a:rPr lang="ko-KR" altLang="en-US" b="1"/>
              <a:t>를 두고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자기 디스크에 비해 속도가 빠름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자기 드럼은 순차 비순차</a:t>
            </a:r>
            <a:r>
              <a:rPr lang="en-US" altLang="ko-KR" b="1"/>
              <a:t>(</a:t>
            </a:r>
            <a:r>
              <a:rPr lang="ko-KR" altLang="en-US" b="1"/>
              <a:t>직접</a:t>
            </a:r>
            <a:r>
              <a:rPr lang="en-US" altLang="ko-KR" b="1"/>
              <a:t>)</a:t>
            </a:r>
            <a:r>
              <a:rPr lang="ko-KR" altLang="en-US" b="1"/>
              <a:t>처리가 모두 가능한 </a:t>
            </a:r>
            <a:r>
              <a:rPr lang="en-US" altLang="ko-KR" b="1"/>
              <a:t>DASD (Direct Access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Storage Device) </a:t>
            </a:r>
            <a:r>
              <a:rPr lang="ko-KR" altLang="en-US" b="1"/>
              <a:t>방식으로 데이터를 처리함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④ 기억 용량  </a:t>
            </a:r>
            <a:r>
              <a:rPr lang="en-US" altLang="ko-KR" b="1"/>
              <a:t>= </a:t>
            </a:r>
            <a:r>
              <a:rPr lang="ko-KR" altLang="en-US" b="1"/>
              <a:t>드럼 표면의 트랙당 셀 수 </a:t>
            </a:r>
            <a:r>
              <a:rPr lang="en-US" altLang="ko-KR" b="1"/>
              <a:t>× </a:t>
            </a:r>
            <a:r>
              <a:rPr lang="ko-KR" altLang="en-US" b="1"/>
              <a:t>트랙 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예</a:t>
            </a:r>
            <a:r>
              <a:rPr lang="en-US" altLang="ko-KR" b="1"/>
              <a:t>) </a:t>
            </a:r>
            <a:r>
              <a:rPr lang="ko-KR" altLang="en-US" b="1"/>
              <a:t>자기드럼 기억장치의 드럼 표면이 트랙</a:t>
            </a:r>
            <a:r>
              <a:rPr lang="en-US" altLang="ko-KR" b="1"/>
              <a:t>(track) </a:t>
            </a:r>
            <a:r>
              <a:rPr lang="ko-KR" altLang="en-US" b="1"/>
              <a:t>당 </a:t>
            </a:r>
            <a:r>
              <a:rPr lang="en-US" altLang="ko-KR" b="1"/>
              <a:t>5,000 </a:t>
            </a:r>
            <a:r>
              <a:rPr lang="ko-KR" altLang="en-US" b="1"/>
              <a:t>개의 셀</a:t>
            </a:r>
            <a:r>
              <a:rPr lang="en-US" altLang="ko-KR" b="1"/>
              <a:t>(cell) </a:t>
            </a:r>
            <a:r>
              <a:rPr lang="ko-KR" altLang="en-US" b="1"/>
              <a:t>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된 </a:t>
            </a:r>
            <a:r>
              <a:rPr lang="en-US" altLang="ko-KR" b="1"/>
              <a:t>30</a:t>
            </a:r>
            <a:r>
              <a:rPr lang="ko-KR" altLang="en-US" b="1"/>
              <a:t>개의 트랙으로 구분되어 있다면 몇 비트</a:t>
            </a:r>
            <a:r>
              <a:rPr lang="en-US" altLang="ko-KR" b="1"/>
              <a:t>(bit)</a:t>
            </a:r>
            <a:r>
              <a:rPr lang="ko-KR" altLang="en-US" b="1"/>
              <a:t>의 정보를 기억 </a:t>
            </a:r>
            <a:r>
              <a:rPr lang="en-US" altLang="ko-KR" b="1"/>
              <a:t>?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⇨ </a:t>
            </a:r>
            <a:r>
              <a:rPr lang="ko-KR" altLang="en-US" b="1"/>
              <a:t>기억 용량 </a:t>
            </a:r>
            <a:r>
              <a:rPr lang="en-US" altLang="ko-KR" b="1"/>
              <a:t>= </a:t>
            </a:r>
            <a:r>
              <a:rPr lang="ko-KR" altLang="en-US" b="1"/>
              <a:t>드럼 표면의 트랙당 셀 수 </a:t>
            </a:r>
            <a:r>
              <a:rPr lang="en-US" altLang="ko-KR" b="1"/>
              <a:t>× </a:t>
            </a:r>
            <a:r>
              <a:rPr lang="ko-KR" altLang="en-US" b="1"/>
              <a:t>트랙 수 </a:t>
            </a:r>
            <a:r>
              <a:rPr lang="en-US" altLang="ko-KR" b="1"/>
              <a:t>= 5,000 x 30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           = 150,000 </a:t>
            </a:r>
            <a:r>
              <a:rPr lang="ko-KR" altLang="en-US" b="1"/>
              <a:t>비트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번호 개체 틀 1">
            <a:extLst>
              <a:ext uri="{FF2B5EF4-FFF2-40B4-BE49-F238E27FC236}">
                <a16:creationId xmlns:a16="http://schemas.microsoft.com/office/drawing/2014/main" id="{DC631BAC-C300-42A2-9CF8-11E1FFF25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9B5D5F7-DE46-4AFF-9E2A-0E995C42F3E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F9F5387-B47B-4104-BA8E-CDD752B37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81050"/>
            <a:ext cx="8353425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자기 디스크 </a:t>
            </a:r>
            <a:r>
              <a:rPr lang="en-US" altLang="ko-KR" b="1"/>
              <a:t>(Magnetic Disk)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자성 물질을 입힌 금속 원판을 여러 장 겹쳐서 만든 기억매체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용량이 크고 접근속도가 빠름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주변장치 중 </a:t>
            </a:r>
            <a:r>
              <a:rPr lang="en-US" altLang="ko-KR" b="1"/>
              <a:t>library program </a:t>
            </a:r>
            <a:r>
              <a:rPr lang="ko-KR" altLang="en-US" b="1"/>
              <a:t>들을 기억시켜 두는데 가장 적합함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④ 자기 디스크는 순차</a:t>
            </a:r>
            <a:r>
              <a:rPr lang="en-US" altLang="ko-KR" b="1"/>
              <a:t>, </a:t>
            </a:r>
            <a:r>
              <a:rPr lang="ko-KR" altLang="en-US" b="1"/>
              <a:t>비순차</a:t>
            </a:r>
            <a:r>
              <a:rPr lang="en-US" altLang="ko-KR" b="1"/>
              <a:t>(</a:t>
            </a:r>
            <a:r>
              <a:rPr lang="ko-KR" altLang="en-US" b="1"/>
              <a:t>직접</a:t>
            </a:r>
            <a:r>
              <a:rPr lang="en-US" altLang="ko-KR" b="1"/>
              <a:t>) </a:t>
            </a:r>
            <a:r>
              <a:rPr lang="ko-KR" altLang="en-US" b="1"/>
              <a:t>처리가 모두 가능한 </a:t>
            </a:r>
            <a:r>
              <a:rPr lang="en-US" altLang="ko-KR" b="1"/>
              <a:t>DASD (Direct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Access Storage Device) </a:t>
            </a:r>
            <a:r>
              <a:rPr lang="ko-KR" altLang="en-US" b="1"/>
              <a:t>방식으로 데이터를 처리함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⑤ 자기 디스크는 디스크 번호</a:t>
            </a:r>
            <a:r>
              <a:rPr lang="en-US" altLang="ko-KR" b="1"/>
              <a:t>, </a:t>
            </a:r>
            <a:r>
              <a:rPr lang="ko-KR" altLang="en-US" b="1"/>
              <a:t>디스크 표면 번호</a:t>
            </a:r>
            <a:r>
              <a:rPr lang="en-US" altLang="ko-KR" b="1"/>
              <a:t>, </a:t>
            </a:r>
            <a:r>
              <a:rPr lang="ko-KR" altLang="en-US" b="1"/>
              <a:t>트랙 번호 섹터 번호를 표현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하는 번지 비트를 가지고 디스크의 기억공간을 </a:t>
            </a:r>
            <a:r>
              <a:rPr lang="en-US" altLang="ko-KR" b="1"/>
              <a:t>Access </a:t>
            </a:r>
            <a:r>
              <a:rPr lang="ko-KR" altLang="en-US" b="1"/>
              <a:t>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⑥ 자기 디스크 구성요소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읽고 쓰기 헤드 </a:t>
            </a:r>
            <a:r>
              <a:rPr lang="en-US" altLang="ko-KR" b="1"/>
              <a:t>(Read Write Head)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디스크</a:t>
            </a:r>
            <a:r>
              <a:rPr lang="en-US" altLang="ko-KR" b="1"/>
              <a:t>(Disk)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액세스 암</a:t>
            </a:r>
            <a:r>
              <a:rPr lang="en-US" altLang="ko-KR" b="1"/>
              <a:t>(Access Arm)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※ </a:t>
            </a:r>
            <a:r>
              <a:rPr lang="ko-KR" altLang="en-US" b="1"/>
              <a:t>실린더 는 물리적 구성요소가 아니라 논리적인 의미의 용어임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번호 개체 틀 1">
            <a:extLst>
              <a:ext uri="{FF2B5EF4-FFF2-40B4-BE49-F238E27FC236}">
                <a16:creationId xmlns:a16="http://schemas.microsoft.com/office/drawing/2014/main" id="{5791E26C-A8EA-44F8-BA70-DD866450B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EA00C14-3C7E-40F7-875C-47CAD780D5C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8CD0840-07AE-4DC0-B021-4A03D578F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849630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⑦ </a:t>
            </a:r>
            <a:r>
              <a:rPr lang="ko-KR" altLang="en-US" b="1"/>
              <a:t>자기 디스크 </a:t>
            </a:r>
            <a:r>
              <a:rPr lang="en-US" altLang="ko-KR" b="1"/>
              <a:t>Access Time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Access Time = Seek Time + Rotational Delay Time (latency time) +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  Transmission Time (transfer time)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</a:t>
            </a:r>
            <a:r>
              <a:rPr lang="ko-KR" altLang="en-US" b="1"/>
              <a:t>탐색 시간 </a:t>
            </a:r>
            <a:r>
              <a:rPr lang="en-US" altLang="ko-KR" b="1"/>
              <a:t>(Seek Time)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: </a:t>
            </a:r>
            <a:r>
              <a:rPr lang="ko-KR" altLang="en-US" b="1"/>
              <a:t>원하는 트랙 또는 실린더로 헤드를 움직이는데  필요한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회전 지연 시간</a:t>
            </a:r>
            <a:r>
              <a:rPr lang="en-US" altLang="ko-KR" b="1"/>
              <a:t>(Rotational Delay Time = Latency Time)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: </a:t>
            </a:r>
            <a:r>
              <a:rPr lang="ko-KR" altLang="en-US" b="1"/>
              <a:t>해당 트랙에서 원하는 섹터가 헤드의 바로 밑으로 오기까지 걸리는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전송 시간 </a:t>
            </a:r>
            <a:r>
              <a:rPr lang="en-US" altLang="ko-KR" b="1"/>
              <a:t>(Transfer Time)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: </a:t>
            </a:r>
            <a:r>
              <a:rPr lang="ko-KR" altLang="en-US" b="1"/>
              <a:t>실제 데이터가 이동하는데 소요되는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⑧ 디스켓의 용량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디스켓의 용량 </a:t>
            </a:r>
            <a:r>
              <a:rPr lang="en-US" altLang="ko-KR" b="1"/>
              <a:t>= </a:t>
            </a:r>
            <a:r>
              <a:rPr lang="ko-KR" altLang="en-US" b="1"/>
              <a:t>면수 </a:t>
            </a:r>
            <a:r>
              <a:rPr lang="en-US" altLang="ko-KR" b="1"/>
              <a:t>x </a:t>
            </a:r>
            <a:r>
              <a:rPr lang="ko-KR" altLang="en-US" b="1"/>
              <a:t>트랙 수 </a:t>
            </a:r>
            <a:r>
              <a:rPr lang="en-US" altLang="ko-KR" b="1"/>
              <a:t>x </a:t>
            </a:r>
            <a:r>
              <a:rPr lang="ko-KR" altLang="en-US" b="1"/>
              <a:t>섹터 수 </a:t>
            </a:r>
            <a:r>
              <a:rPr lang="en-US" altLang="ko-KR" b="1"/>
              <a:t>x</a:t>
            </a:r>
            <a:r>
              <a:rPr lang="en-US" altLang="ko-KR"/>
              <a:t> </a:t>
            </a:r>
            <a:r>
              <a:rPr lang="ko-KR" altLang="en-US" b="1"/>
              <a:t>섹터 당 바이트 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예</a:t>
            </a:r>
            <a:r>
              <a:rPr lang="en-US" altLang="ko-KR" b="1"/>
              <a:t>)  </a:t>
            </a:r>
            <a:r>
              <a:rPr lang="ko-KR" altLang="en-US" b="1"/>
              <a:t>디스켓의 표면이 </a:t>
            </a:r>
            <a:r>
              <a:rPr lang="en-US" altLang="ko-KR" b="1"/>
              <a:t>18sector </a:t>
            </a:r>
            <a:r>
              <a:rPr lang="ko-KR" altLang="en-US" b="1"/>
              <a:t>구역으로 나누어져 있고 </a:t>
            </a:r>
            <a:r>
              <a:rPr lang="en-US" altLang="ko-KR" b="1"/>
              <a:t>1</a:t>
            </a:r>
            <a:r>
              <a:rPr lang="ko-KR" altLang="en-US" b="1"/>
              <a:t>면에 </a:t>
            </a:r>
            <a:r>
              <a:rPr lang="en-US" altLang="ko-KR" b="1"/>
              <a:t>40</a:t>
            </a:r>
            <a:r>
              <a:rPr lang="ko-KR" altLang="en-US" b="1"/>
              <a:t>개의 트랙을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사용할 수 있다면 이 디스크에는 총 몇 </a:t>
            </a:r>
            <a:r>
              <a:rPr lang="en-US" altLang="ko-KR" b="1"/>
              <a:t>KByte </a:t>
            </a:r>
            <a:r>
              <a:rPr lang="ko-KR" altLang="en-US" b="1"/>
              <a:t>를 저장 </a:t>
            </a:r>
            <a:r>
              <a:rPr lang="en-US" altLang="ko-KR" b="1"/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(</a:t>
            </a:r>
            <a:r>
              <a:rPr lang="ko-KR" altLang="en-US" b="1"/>
              <a:t>단 각   </a:t>
            </a:r>
            <a:r>
              <a:rPr lang="en-US" altLang="ko-KR" b="1"/>
              <a:t>sector </a:t>
            </a:r>
            <a:r>
              <a:rPr lang="ko-KR" altLang="en-US" b="1"/>
              <a:t>당 저장 능력은 </a:t>
            </a:r>
            <a:r>
              <a:rPr lang="en-US" altLang="ko-KR" b="1"/>
              <a:t>500Byte)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⇨ 2 x 40 x 18 x 500 = 720,000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720,000 / 1,000 = 720 KByte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번호 개체 틀 1">
            <a:extLst>
              <a:ext uri="{FF2B5EF4-FFF2-40B4-BE49-F238E27FC236}">
                <a16:creationId xmlns:a16="http://schemas.microsoft.com/office/drawing/2014/main" id="{736E2D70-30B4-4A2F-9C5E-6FDF8AADC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C2573EB-E918-4ECE-BF50-8E74602DAB4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447D9E5-6DDC-425F-935A-AAC22B6FB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849630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※ </a:t>
            </a:r>
            <a:r>
              <a:rPr lang="ko-KR" altLang="en-US" b="1"/>
              <a:t>등각속도 </a:t>
            </a:r>
            <a:r>
              <a:rPr lang="en-US" altLang="ko-KR" b="1"/>
              <a:t>(Constant Angular Velocity)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• </a:t>
            </a:r>
            <a:r>
              <a:rPr lang="ko-KR" altLang="en-US" b="1"/>
              <a:t>등각속도란 디스크 저장 매체에서 디스크 회전 속도를 일정하게 하고 디스크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의 회전각에 따라 데이터를 저장하는 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</a:t>
            </a:r>
            <a:r>
              <a:rPr lang="ko-KR" altLang="en-US" b="1"/>
              <a:t>디스크 내곽과 외곽의 회전 속도 차이로 생기는 데이터의 밀도가 달라 외곽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에 저장 공간의 낭비가 생기는 단점이 있으나 헤드의 위치에 따라 디스크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회전 속도를 조절하는 상수선형속도</a:t>
            </a:r>
            <a:r>
              <a:rPr lang="en-US" altLang="ko-KR" b="1"/>
              <a:t>(CLV) </a:t>
            </a:r>
            <a:r>
              <a:rPr lang="ko-KR" altLang="en-US" b="1"/>
              <a:t>에 비해 데이터 접근 속도가 빠름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</a:t>
            </a:r>
            <a:r>
              <a:rPr lang="ko-KR" altLang="en-US" b="1"/>
              <a:t>등각속도 방식의 특징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디스크 저장 공간이 비효율적으로 사용됨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회전 구동장치가 간단함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디스크 평판이 일정한 속도로 회전함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번호 개체 틀 1">
            <a:extLst>
              <a:ext uri="{FF2B5EF4-FFF2-40B4-BE49-F238E27FC236}">
                <a16:creationId xmlns:a16="http://schemas.microsoft.com/office/drawing/2014/main" id="{7259088D-A8E3-4B62-84C3-EF5FD14EE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B1A09EB-188B-423E-8298-5077271E2F9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1C6440F-3F41-4599-BF7D-5DA84B12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8066088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arenBoth"/>
            </a:pPr>
            <a:r>
              <a:rPr lang="ko-KR" altLang="en-US" sz="2000" b="1"/>
              <a:t>연관기억장치 </a:t>
            </a:r>
            <a:r>
              <a:rPr lang="en-US" altLang="ko-KR" sz="2000" b="1"/>
              <a:t>(Associative Memory)</a:t>
            </a:r>
            <a:r>
              <a:rPr lang="en-US" altLang="ko-KR" b="1"/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1) </a:t>
            </a:r>
            <a:r>
              <a:rPr lang="ko-KR" altLang="en-US" b="1"/>
              <a:t>연관기억장치의 개념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① 연관기억장치는 기억장치에서 자료를 찾을 때 주소에 의해 접근하지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않고</a:t>
            </a:r>
            <a:r>
              <a:rPr lang="en-US" altLang="ko-KR" b="1"/>
              <a:t>, </a:t>
            </a:r>
            <a:r>
              <a:rPr lang="ko-KR" altLang="en-US" b="1"/>
              <a:t>기억된 내용의 일부를 이용하여 </a:t>
            </a:r>
            <a:r>
              <a:rPr lang="en-US" altLang="ko-KR" b="1"/>
              <a:t>Access </a:t>
            </a:r>
            <a:r>
              <a:rPr lang="ko-KR" altLang="en-US" b="1"/>
              <a:t>할 수 있는 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로</a:t>
            </a:r>
            <a:r>
              <a:rPr lang="en-US" altLang="ko-KR" b="1"/>
              <a:t>, CAM (Content Addressable Memory) </a:t>
            </a:r>
            <a:r>
              <a:rPr lang="ko-KR" altLang="en-US" b="1"/>
              <a:t>이라고도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② 기억된 정보의 일부분을 이용하여 원하는 정보가 기억된 위치를 알아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낸 후 그 위치에서 나머지 정보에 접근하는 기억장치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DDBDEAA3-C53D-42EE-BBAB-1DC6B708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21732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4. </a:t>
            </a:r>
            <a:r>
              <a:rPr lang="ko-KR" altLang="en-US" sz="2200" b="1"/>
              <a:t>특수기억장치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번호 개체 틀 1">
            <a:extLst>
              <a:ext uri="{FF2B5EF4-FFF2-40B4-BE49-F238E27FC236}">
                <a16:creationId xmlns:a16="http://schemas.microsoft.com/office/drawing/2014/main" id="{21DAA5C3-A7C0-41F1-8BA4-35334DEC0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03C53A0-1B4B-4250-A05A-107791D2508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8D7B4891-AF17-4F00-A458-50A71F392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8497887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연관기억장치의 특징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주소에 의해서만 접근이 가능한 기억장치보다 정보 검색이 신속함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캐시 메모리나 가상 메모리 관리 기법에서 사용하는 </a:t>
            </a:r>
            <a:r>
              <a:rPr lang="en-US" altLang="ko-KR" b="1"/>
              <a:t>Mapping Table</a:t>
            </a:r>
            <a:r>
              <a:rPr lang="ko-KR" altLang="en-US" b="1"/>
              <a:t>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사용됨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외부의 인자와 내용을 비교하기 위한 병렬 판독 논리회로를 갖고 있기 때문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에 하드웨어 비용이 증가함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④ 메모리의 내용으로 접근</a:t>
            </a:r>
            <a:r>
              <a:rPr lang="en-US" altLang="ko-KR" b="1"/>
              <a:t>(access) </a:t>
            </a:r>
            <a:r>
              <a:rPr lang="ko-KR" altLang="en-US" b="1"/>
              <a:t>할 수 있는 메모리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⑤ 기억된 정보의 일부분을 이용하여 원하는 정보가 기억된 위치를 알아낸 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나머지 정보에 접근함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⑥ 기억된 여러 개의 자료 중에서 주어진 특성을 가진 자료를 신속히 찾을 수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⑦ 비파괴적으로 읽을 수 있어야 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번호 개체 틀 1">
            <a:extLst>
              <a:ext uri="{FF2B5EF4-FFF2-40B4-BE49-F238E27FC236}">
                <a16:creationId xmlns:a16="http://schemas.microsoft.com/office/drawing/2014/main" id="{007081AF-96E5-4A54-9E86-3AB52B313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97B0F7A-523B-459A-AAB2-62ABB44CE83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4502C6F-BDEA-4210-8D9F-897D87ED9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8497887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※ Mapping Table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• </a:t>
            </a:r>
            <a:r>
              <a:rPr lang="ko-KR" altLang="en-US" b="1"/>
              <a:t>메모리 계층 시스템에서 보조기억 장치의 내용을 주기억장치로 옮기는 데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필요한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대응 관계를 테이블로 표현하여 임의의 정보를 그에 대응하는 정보로 변환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하는 것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연관기억장치에 사용되는 기본요소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일치 지시기 </a:t>
            </a:r>
            <a:r>
              <a:rPr lang="en-US" altLang="ko-KR" b="1"/>
              <a:t>: </a:t>
            </a:r>
            <a:r>
              <a:rPr lang="ko-KR" altLang="en-US" b="1"/>
              <a:t>내용의 일부가 같은 워드를 찾았으면 </a:t>
            </a:r>
            <a:r>
              <a:rPr lang="en-US" altLang="ko-KR" b="1"/>
              <a:t>1 </a:t>
            </a:r>
            <a:r>
              <a:rPr lang="ko-KR" altLang="en-US" b="1"/>
              <a:t>로 세트함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마스크 레지스터 </a:t>
            </a:r>
            <a:r>
              <a:rPr lang="en-US" altLang="ko-KR" b="1"/>
              <a:t>: </a:t>
            </a:r>
            <a:r>
              <a:rPr lang="ko-KR" altLang="en-US" b="1"/>
              <a:t>비교할 비트를 정해 </a:t>
            </a:r>
            <a:r>
              <a:rPr lang="en-US" altLang="ko-KR" b="1"/>
              <a:t>1 </a:t>
            </a:r>
            <a:r>
              <a:rPr lang="ko-KR" altLang="en-US" b="1"/>
              <a:t>로 세트함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검색 데이터 레지스터 비교할 내용이 들어 있음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번호 개체 틀 1">
            <a:extLst>
              <a:ext uri="{FF2B5EF4-FFF2-40B4-BE49-F238E27FC236}">
                <a16:creationId xmlns:a16="http://schemas.microsoft.com/office/drawing/2014/main" id="{E6995163-35F0-457C-AABF-32ED624E1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B60310A-B3A9-4E10-97C5-3FF63FA244E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648FE50-C17A-4A94-A29B-6D5290B5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208962" cy="513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(2)  </a:t>
            </a:r>
            <a:r>
              <a:rPr lang="ko-KR" altLang="en-US" sz="2000" b="1"/>
              <a:t>복수 모듈 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1) </a:t>
            </a:r>
            <a:r>
              <a:rPr lang="ko-KR" altLang="en-US" b="1"/>
              <a:t>복수 모듈 기억장치의 개념 </a:t>
            </a:r>
            <a:r>
              <a:rPr lang="en-US" altLang="ko-KR" b="1"/>
              <a:t>: </a:t>
            </a:r>
            <a:r>
              <a:rPr lang="ko-KR" altLang="en-US" b="1"/>
              <a:t>독자적으로 데이터를 저장할 수 있는 기억       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장치</a:t>
            </a:r>
            <a:r>
              <a:rPr lang="en-US" altLang="ko-KR" b="1"/>
              <a:t>, </a:t>
            </a:r>
            <a:r>
              <a:rPr lang="ko-KR" altLang="en-US" b="1"/>
              <a:t>모듈을 여러 개 가진 기억장치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2) </a:t>
            </a:r>
            <a:r>
              <a:rPr lang="ko-KR" altLang="en-US" b="1"/>
              <a:t>복수 모듈 기억장치의 특징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① 주기억장치와 의  </a:t>
            </a:r>
            <a:r>
              <a:rPr lang="en-US" altLang="ko-KR" b="1"/>
              <a:t>CPU </a:t>
            </a:r>
            <a:r>
              <a:rPr lang="ko-KR" altLang="en-US" b="1"/>
              <a:t>속도 차의 문제점을 개선함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② 기억장치 버스를 시분할하여 사용함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③ 기억장소의 접근을 보다 빠르게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</a:t>
            </a:r>
            <a:r>
              <a:rPr lang="en-US" altLang="ko-KR" b="1"/>
              <a:t>3) </a:t>
            </a:r>
            <a:r>
              <a:rPr lang="ko-KR" altLang="en-US" b="1"/>
              <a:t>메모리 인터리빙 </a:t>
            </a:r>
            <a:r>
              <a:rPr lang="en-US" altLang="ko-KR" b="1"/>
              <a:t>(Memory Interleaving)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인터리빙이란 여러 개의 독립된 모듈로 이루어진 복수 모듈 메모리와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CPU</a:t>
            </a:r>
            <a:r>
              <a:rPr lang="ko-KR" altLang="en-US" b="1"/>
              <a:t>간의 주소 버스가 한 개로만 구성되어 있으면 같은 시각에 </a:t>
            </a:r>
            <a:r>
              <a:rPr lang="en-US" altLang="ko-KR" b="1"/>
              <a:t>CPU</a:t>
            </a:r>
            <a:r>
              <a:rPr lang="ko-KR" altLang="en-US" b="1"/>
              <a:t>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부터 여러 모듈들로 동시에 주소를 전달할 수 없기 때문에</a:t>
            </a:r>
            <a:r>
              <a:rPr lang="en-US" altLang="ko-KR" b="1"/>
              <a:t>, CPU</a:t>
            </a:r>
            <a:r>
              <a:rPr lang="ko-KR" altLang="en-US" b="1"/>
              <a:t>가 각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모듈로 전송할 주소를 교대로 배치한 후 차례대로 전송하여 여러 모듈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을 병행 접근하는 기법</a:t>
            </a:r>
          </a:p>
          <a:p>
            <a:pPr eaLnBrk="1" hangingPunct="1">
              <a:lnSpc>
                <a:spcPct val="130000"/>
              </a:lnSpc>
            </a:pPr>
            <a:endParaRPr lang="en-US" altLang="ko-KR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번호 개체 틀 1">
            <a:extLst>
              <a:ext uri="{FF2B5EF4-FFF2-40B4-BE49-F238E27FC236}">
                <a16:creationId xmlns:a16="http://schemas.microsoft.com/office/drawing/2014/main" id="{6234382E-6C48-4820-9B4D-4092DA066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16659B5-EDCE-44CA-92F1-50AA0D863E4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735D908-262F-4933-9F31-70EDDF068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0713"/>
            <a:ext cx="8497887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② CPU</a:t>
            </a:r>
            <a:r>
              <a:rPr lang="ko-KR" altLang="en-US" b="1"/>
              <a:t>가 버스를 통해 주소를 전달하는 속도는 빠르지만 메모리 모듈의 처리속도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가 느리기 때문에 병행 접근이 가능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③ 기억장치의 접근 시간을 효율적으로 높일 수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④ 캐시 기억장치</a:t>
            </a:r>
            <a:r>
              <a:rPr lang="en-US" altLang="ko-KR" b="1"/>
              <a:t>, </a:t>
            </a:r>
            <a:r>
              <a:rPr lang="ko-KR" altLang="en-US" b="1"/>
              <a:t>고속 </a:t>
            </a:r>
            <a:r>
              <a:rPr lang="en-US" altLang="ko-KR" b="1"/>
              <a:t>DMA </a:t>
            </a:r>
            <a:r>
              <a:rPr lang="ko-KR" altLang="en-US" b="1"/>
              <a:t>전송 등에서 많이 사용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⑤ 각 모듈을 번갈아 가면서 접근</a:t>
            </a:r>
            <a:r>
              <a:rPr lang="en-US" altLang="ko-KR" b="1"/>
              <a:t>(Access) </a:t>
            </a:r>
            <a:r>
              <a:rPr lang="ko-KR" altLang="en-US" b="1"/>
              <a:t>할 수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⑥ </a:t>
            </a:r>
            <a:r>
              <a:rPr lang="en-US" altLang="ko-KR" b="1"/>
              <a:t>Instruction </a:t>
            </a:r>
            <a:r>
              <a:rPr lang="ko-KR" altLang="en-US" b="1"/>
              <a:t>의 빠른 처리속도를 위해 중앙처리장치의 속도와 기억장치의 속도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를 유효 </a:t>
            </a:r>
            <a:r>
              <a:rPr lang="en-US" altLang="ko-KR" b="1"/>
              <a:t>Cycle </a:t>
            </a:r>
            <a:r>
              <a:rPr lang="ko-KR" altLang="en-US" b="1"/>
              <a:t>동안 병행 실행한다는 것과 관련 있는 것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⑦ 중앙처리장치와 기억장치 사이에 실질적인 대역폭</a:t>
            </a:r>
            <a:r>
              <a:rPr lang="en-US" altLang="ko-KR" b="1"/>
              <a:t>(bandwidth)</a:t>
            </a:r>
            <a:r>
              <a:rPr lang="ko-KR" altLang="en-US" b="1"/>
              <a:t>을 늘리기 위한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방법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⑧ 메모리 인터리빙</a:t>
            </a:r>
            <a:r>
              <a:rPr lang="en-US" altLang="ko-KR" b="1"/>
              <a:t>(interleaving) </a:t>
            </a:r>
            <a:r>
              <a:rPr lang="ko-KR" altLang="en-US" b="1"/>
              <a:t>방법의 사용 목적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메모리 액세스의 효율 증대 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디스크 인터리빙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디스크 인터리빙</a:t>
            </a:r>
            <a:r>
              <a:rPr lang="en-US" altLang="ko-KR" b="1"/>
              <a:t>(interleaving) </a:t>
            </a:r>
            <a:r>
              <a:rPr lang="ko-KR" altLang="en-US" b="1"/>
              <a:t>은 독립된 디스크</a:t>
            </a:r>
            <a:r>
              <a:rPr lang="en-US" altLang="ko-KR" b="1"/>
              <a:t>(disk) </a:t>
            </a:r>
            <a:r>
              <a:rPr lang="ko-KR" altLang="en-US" b="1"/>
              <a:t>를 </a:t>
            </a:r>
            <a:r>
              <a:rPr lang="en-US" altLang="ko-KR" b="1"/>
              <a:t>2 </a:t>
            </a:r>
            <a:r>
              <a:rPr lang="ko-KR" altLang="en-US" b="1"/>
              <a:t>개 이상 나누어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연결하고 독립된 디스크</a:t>
            </a:r>
            <a:r>
              <a:rPr lang="en-US" altLang="ko-KR" b="1"/>
              <a:t>(disk) </a:t>
            </a:r>
            <a:r>
              <a:rPr lang="ko-KR" altLang="en-US" b="1"/>
              <a:t>를 번갈아 가면서 연속적으로 액세스가 이루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어 지도록 구현하는 방법으로 주기억장치 처리 속도에 비해 사이클 타임이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오래 걸리는 디스크에 접근하는 시간을 효율적으로 높일 수 있는 방식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1">
            <a:extLst>
              <a:ext uri="{FF2B5EF4-FFF2-40B4-BE49-F238E27FC236}">
                <a16:creationId xmlns:a16="http://schemas.microsoft.com/office/drawing/2014/main" id="{BA07B9FB-15C2-4467-B4B8-2A587513B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023661C-21BF-4526-9F1F-7AC1CF6DD852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A4158AD-8FCA-4E22-A3D3-5A954B6F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8208962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캐시 메모리</a:t>
            </a:r>
            <a:r>
              <a:rPr lang="en-US" altLang="ko-KR" sz="2000" b="1"/>
              <a:t>(Cache Memory)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1) </a:t>
            </a:r>
            <a:r>
              <a:rPr lang="ko-KR" altLang="en-US" b="1"/>
              <a:t>캐시 메모리</a:t>
            </a:r>
            <a:r>
              <a:rPr lang="en-US" altLang="ko-KR" b="1"/>
              <a:t>(Cache Memory) </a:t>
            </a:r>
            <a:r>
              <a:rPr lang="ko-KR" altLang="en-US" b="1"/>
              <a:t>의 개념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캐시 메모리는 </a:t>
            </a:r>
            <a:r>
              <a:rPr lang="en-US" altLang="ko-KR" b="1"/>
              <a:t>CPU </a:t>
            </a:r>
            <a:r>
              <a:rPr lang="ko-KR" altLang="en-US" b="1"/>
              <a:t>의 처리 속도와 주기억장치의 접근 속도 차이를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줄이기 위해 사용하는 고속 </a:t>
            </a:r>
            <a:r>
              <a:rPr lang="en-US" altLang="ko-KR" b="1"/>
              <a:t>Buffer Memory </a:t>
            </a:r>
            <a:r>
              <a:rPr lang="ko-KR" altLang="en-US" b="1"/>
              <a:t>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중앙 처리장치</a:t>
            </a:r>
            <a:r>
              <a:rPr lang="en-US" altLang="ko-KR" b="1"/>
              <a:t>(CPU) </a:t>
            </a:r>
            <a:r>
              <a:rPr lang="ko-KR" altLang="en-US" b="1"/>
              <a:t>의 속도와 주기억장치의 속도차가 클 때 명령어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(Instruction) </a:t>
            </a:r>
            <a:r>
              <a:rPr lang="ko-KR" altLang="en-US" b="1"/>
              <a:t>의 수행 속도를 중앙 처리 장치의 속도와 비슷하도록 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기 위하여 사용하는 메모리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성능을 향상시키기 위하여 주기억 장치와 </a:t>
            </a:r>
            <a:r>
              <a:rPr lang="en-US" altLang="ko-KR" b="1"/>
              <a:t>CPU </a:t>
            </a:r>
            <a:r>
              <a:rPr lang="ko-KR" altLang="en-US" b="1"/>
              <a:t>레지스터 사이에서 데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이터를 이동시키는 중간 버퍼로 작용하는 기억장치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번호 개체 틀 1">
            <a:extLst>
              <a:ext uri="{FF2B5EF4-FFF2-40B4-BE49-F238E27FC236}">
                <a16:creationId xmlns:a16="http://schemas.microsoft.com/office/drawing/2014/main" id="{FEAF81FC-3106-40EF-B7DB-C7432519B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908ADBC-CC27-4732-A96F-263C7CD0DD7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9CBAD3A-B8DB-4067-B37B-BE8C06367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5175"/>
            <a:ext cx="8640762" cy="552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b="1"/>
              <a:t>2) </a:t>
            </a:r>
            <a:r>
              <a:rPr lang="ko-KR" altLang="en-US" b="1"/>
              <a:t>캐시 메모리의 특징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① 캐시는 주기억장치와 </a:t>
            </a:r>
            <a:r>
              <a:rPr lang="en-US" altLang="ko-KR" b="1"/>
              <a:t>CPU </a:t>
            </a:r>
            <a:r>
              <a:rPr lang="ko-KR" altLang="en-US" b="1"/>
              <a:t>사이에 위치함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② 캐시를 사용하면 주기억장치를 접근</a:t>
            </a:r>
            <a:r>
              <a:rPr lang="en-US" altLang="ko-KR" b="1"/>
              <a:t>(Access) </a:t>
            </a:r>
            <a:r>
              <a:rPr lang="ko-KR" altLang="en-US" b="1"/>
              <a:t>하는 횟수가 줄어듦으로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컴퓨터의 처리 속도가 향상됨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③ 주기억장치와 </a:t>
            </a:r>
            <a:r>
              <a:rPr lang="en-US" altLang="ko-KR" b="1"/>
              <a:t>CPU </a:t>
            </a:r>
            <a:r>
              <a:rPr lang="ko-KR" altLang="en-US" b="1"/>
              <a:t>사이에서 일종의 버퍼 </a:t>
            </a:r>
            <a:r>
              <a:rPr lang="en-US" altLang="ko-KR" b="1"/>
              <a:t>(buffer) </a:t>
            </a:r>
            <a:r>
              <a:rPr lang="ko-KR" altLang="en-US" b="1"/>
              <a:t>기능을 수행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④ 수십</a:t>
            </a:r>
            <a:r>
              <a:rPr lang="en-US" altLang="ko-KR" b="1"/>
              <a:t>Kbyte - </a:t>
            </a:r>
            <a:r>
              <a:rPr lang="ko-KR" altLang="en-US" b="1"/>
              <a:t>수백 </a:t>
            </a:r>
            <a:r>
              <a:rPr lang="en-US" altLang="ko-KR" b="1"/>
              <a:t>Kbyte </a:t>
            </a:r>
            <a:r>
              <a:rPr lang="ko-KR" altLang="en-US" b="1"/>
              <a:t>의 용량을 사용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3) </a:t>
            </a:r>
            <a:r>
              <a:rPr lang="ko-KR" altLang="en-US" b="1"/>
              <a:t>캐시 </a:t>
            </a:r>
            <a:r>
              <a:rPr lang="en-US" altLang="ko-KR" b="1"/>
              <a:t>(Cache) </a:t>
            </a:r>
            <a:r>
              <a:rPr lang="ko-KR" altLang="en-US" b="1"/>
              <a:t>메모리 설계 시 고려할 사항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① </a:t>
            </a:r>
            <a:r>
              <a:rPr lang="en-US" altLang="ko-KR" b="1"/>
              <a:t>Cache size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② </a:t>
            </a:r>
            <a:r>
              <a:rPr lang="ko-KR" altLang="en-US" b="1"/>
              <a:t>전송 </a:t>
            </a:r>
            <a:r>
              <a:rPr lang="en-US" altLang="ko-KR" b="1"/>
              <a:t>Block size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</a:t>
            </a:r>
            <a:r>
              <a:rPr lang="ko-KR" altLang="ko-KR" b="1"/>
              <a:t>③</a:t>
            </a:r>
            <a:r>
              <a:rPr lang="en-US" altLang="ko-KR" b="1"/>
              <a:t> </a:t>
            </a:r>
            <a:r>
              <a:rPr lang="ko-KR" altLang="en-US" b="1"/>
              <a:t>교체 알고리즘</a:t>
            </a:r>
            <a:r>
              <a:rPr lang="en-US" altLang="ko-KR" b="1"/>
              <a:t>(Replacement algorithm)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4) </a:t>
            </a:r>
            <a:r>
              <a:rPr lang="ko-KR" altLang="en-US" b="1"/>
              <a:t>매핑 프로세스 </a:t>
            </a:r>
            <a:r>
              <a:rPr lang="en-US" altLang="ko-KR" b="1"/>
              <a:t>(Mapping Process)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① </a:t>
            </a:r>
            <a:r>
              <a:rPr lang="ko-KR" altLang="en-US" b="1"/>
              <a:t>매핑 프로세스는 주기억장치로부터 캐시 메모리로 데이터를 전송하는 방법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을 말함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② 매핑 프로세스의 종류 </a:t>
            </a:r>
            <a:r>
              <a:rPr lang="en-US" altLang="ko-KR" b="1"/>
              <a:t>(</a:t>
            </a:r>
            <a:r>
              <a:rPr lang="ko-KR" altLang="en-US" b="1"/>
              <a:t>캐시 메모리에서 사용하는 매핑 방법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직접 매핑 </a:t>
            </a:r>
            <a:r>
              <a:rPr lang="en-US" altLang="ko-KR" b="1"/>
              <a:t>(Direct Mapping)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어소시에이티브 매핑 </a:t>
            </a:r>
            <a:r>
              <a:rPr lang="en-US" altLang="ko-KR" b="1"/>
              <a:t>(Associative Mapping)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</a:t>
            </a:r>
            <a:r>
              <a:rPr lang="ko-KR" altLang="ko-KR" b="1"/>
              <a:t>•</a:t>
            </a:r>
            <a:r>
              <a:rPr lang="en-US" altLang="ko-KR" b="1"/>
              <a:t> </a:t>
            </a:r>
            <a:r>
              <a:rPr lang="ko-KR" altLang="en-US" b="1"/>
              <a:t>세트</a:t>
            </a:r>
            <a:r>
              <a:rPr lang="en-US" altLang="ko-KR" b="1"/>
              <a:t>-</a:t>
            </a:r>
            <a:r>
              <a:rPr lang="ko-KR" altLang="en-US" b="1"/>
              <a:t>어소시에이티브 매핑 </a:t>
            </a:r>
            <a:r>
              <a:rPr lang="en-US" altLang="ko-KR" b="1"/>
              <a:t>(Set-Associative Mapping)</a:t>
            </a:r>
          </a:p>
          <a:p>
            <a:pPr eaLnBrk="1" hangingPunct="1">
              <a:lnSpc>
                <a:spcPct val="110000"/>
              </a:lnSpc>
            </a:pPr>
            <a:endParaRPr lang="en-US" altLang="ko-KR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1">
            <a:extLst>
              <a:ext uri="{FF2B5EF4-FFF2-40B4-BE49-F238E27FC236}">
                <a16:creationId xmlns:a16="http://schemas.microsoft.com/office/drawing/2014/main" id="{0A634F61-D99D-4905-9188-1AA8BA6E9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2C906E0-F475-4095-ADF8-CDF0FC5A542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E8939CC-79D5-4460-BF46-B7008B9A5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5538"/>
            <a:ext cx="8496300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5) </a:t>
            </a:r>
            <a:r>
              <a:rPr lang="ko-KR" altLang="en-US" b="1"/>
              <a:t>캐시 메모리</a:t>
            </a:r>
            <a:r>
              <a:rPr lang="en-US" altLang="ko-KR" b="1"/>
              <a:t>(cache memory) </a:t>
            </a:r>
            <a:r>
              <a:rPr lang="ko-KR" altLang="en-US" b="1"/>
              <a:t>와 관련 있는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적중률 </a:t>
            </a:r>
            <a:r>
              <a:rPr lang="en-US" altLang="ko-KR" b="1"/>
              <a:t>(hit ratio)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캐시에 찾는 내용이 있을 확률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참조의 국한성</a:t>
            </a:r>
            <a:r>
              <a:rPr lang="en-US" altLang="ko-KR" b="1"/>
              <a:t>(locality of reference)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 CPU</a:t>
            </a:r>
            <a:r>
              <a:rPr lang="ko-KR" altLang="en-US" b="1"/>
              <a:t>가 기억장치를 접근할 때는 일부 특정 위치를 계속 참조한다는 이론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매칭</a:t>
            </a:r>
            <a:r>
              <a:rPr lang="en-US" altLang="ko-KR" b="1"/>
              <a:t>(matching)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• </a:t>
            </a:r>
            <a:r>
              <a:rPr lang="ko-KR" altLang="en-US" b="1"/>
              <a:t>내용의 일부를 이용하여 자료를 찾는 기억장치에서 내용이 같은지 비교하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는 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번호 개체 틀 1">
            <a:extLst>
              <a:ext uri="{FF2B5EF4-FFF2-40B4-BE49-F238E27FC236}">
                <a16:creationId xmlns:a16="http://schemas.microsoft.com/office/drawing/2014/main" id="{E4176D23-4339-4669-9924-DCDB3B97D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4F3AF25-9668-466A-B084-75C5451A482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7C1355B-BB38-4C77-8802-E6E407CDF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08050"/>
            <a:ext cx="8604250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(4) </a:t>
            </a:r>
            <a:r>
              <a:rPr lang="ko-KR" altLang="en-US" sz="2000" b="1"/>
              <a:t>가상기억장치 </a:t>
            </a:r>
            <a:r>
              <a:rPr lang="en-US" altLang="ko-KR" sz="2000" b="1"/>
              <a:t>(Virtual Memory)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1) </a:t>
            </a:r>
            <a:r>
              <a:rPr lang="ko-KR" altLang="en-US" b="1"/>
              <a:t>가상기억장치의 개념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기억용량이 작은 주기억장치를 마치 큰 용량을 가진 것처럼 사용할 수  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있도록 하는 운영체제의 메모리 운영 기법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사용자는 프로그램의 크기에 제한 받지 않고 프로그램의 실행이 가능함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사용자가 보조 메모리의 총 용량에 해당하는 기억 장소를 컴퓨터가 갖고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있는 것처럼 가상하고 프로그램을 짤 수 있는 것을 말함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번호 개체 틀 1">
            <a:extLst>
              <a:ext uri="{FF2B5EF4-FFF2-40B4-BE49-F238E27FC236}">
                <a16:creationId xmlns:a16="http://schemas.microsoft.com/office/drawing/2014/main" id="{ACC1D62A-0C94-4370-85B2-A66497640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03E626D-ED31-4605-91B3-D48D0A5F27D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9BC34AF-504F-4FD5-AA29-F4F0AF42B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08050"/>
            <a:ext cx="7991475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가상기억장치의 특징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주기억장치를 확장한 것과 같은 효과를 제공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실제로는 보조기억장치를 사용하는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사용자가 프로그램 크기에 제한 받지 않고 실행이 가능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④ 컴퓨터속도는 문제시되지 않음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⑤ 주소공간의 확대 </a:t>
            </a:r>
            <a:r>
              <a:rPr lang="en-US" altLang="ko-KR" b="1"/>
              <a:t>(</a:t>
            </a:r>
            <a:r>
              <a:rPr lang="ko-KR" altLang="en-US" b="1"/>
              <a:t>용량의 확대</a:t>
            </a:r>
            <a:r>
              <a:rPr lang="en-US" altLang="ko-KR" b="1"/>
              <a:t>) </a:t>
            </a:r>
            <a:r>
              <a:rPr lang="ko-KR" altLang="en-US" b="1"/>
              <a:t>가 가장 큰 목적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⑥ 사용할 수 있는 보조기억장치는 </a:t>
            </a:r>
            <a:r>
              <a:rPr lang="en-US" altLang="ko-KR" b="1"/>
              <a:t>DASD </a:t>
            </a:r>
            <a:r>
              <a:rPr lang="ko-KR" altLang="en-US" b="1"/>
              <a:t>이어야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⑦ 가상기억공간의 구성은 프로그램에 의해서 수행됨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⑧ 보조기억장치는 자기 디스크를 많이 사용함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⑨ 보조기억장치의 접근이 자주 발생되면 컴퓨터 시스템의 처리 효율이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저하될 수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⑩ 주기억장치와 보조 기억장치가 계층 기억 체제를 이루고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⑪ 하드웨어에 의한 것이 아니라 소프트웨어에 의해 실현됨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번호 개체 틀 1">
            <a:extLst>
              <a:ext uri="{FF2B5EF4-FFF2-40B4-BE49-F238E27FC236}">
                <a16:creationId xmlns:a16="http://schemas.microsoft.com/office/drawing/2014/main" id="{E580E29F-8512-4B27-8B69-77397E2E8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AE72832-2C26-48D6-8DFC-871D1878DF1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9420BCD-B262-4354-A6C0-B3D7C596E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8280400" cy="548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3) </a:t>
            </a:r>
            <a:r>
              <a:rPr lang="ko-KR" altLang="en-US" sz="2000" b="1"/>
              <a:t>기억장치의 관리전략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기억장치의 관리전략은 보조기억장치에 저장되어 있는 프로그램을 주기억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장치에 효율적으로 적재하기 위한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기억장치의 관리전략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반입 전략 </a:t>
            </a:r>
            <a:r>
              <a:rPr lang="en-US" altLang="ko-KR" b="1"/>
              <a:t>(Fetch)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보조기억장치에 보관 중인 프로그램이나 데이터를 언제 주기억장치로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적재할 것인지를 결정하는 전략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요구반입</a:t>
            </a:r>
            <a:r>
              <a:rPr lang="en-US" altLang="ko-KR" b="1"/>
              <a:t>(Demand Fetch) : </a:t>
            </a:r>
            <a:r>
              <a:rPr lang="ko-KR" altLang="en-US" b="1"/>
              <a:t>실행 프로그램이 요구할 때 비로소 적재 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                                    는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예상반입</a:t>
            </a:r>
            <a:r>
              <a:rPr lang="en-US" altLang="ko-KR" b="1"/>
              <a:t>(Anticipatory Fetch) : </a:t>
            </a:r>
            <a:r>
              <a:rPr lang="ko-KR" altLang="en-US" b="1"/>
              <a:t>실행 프로그램에 의해 참조될 것을 예상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                                          하여 미리 적재하는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배치 전략 </a:t>
            </a:r>
            <a:r>
              <a:rPr lang="en-US" altLang="ko-KR" b="1"/>
              <a:t>(Placement)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새로 반입되는 프로그램이나 데이터를 주기억장치의 어디에 위치시킬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것인가를 결정하는 전략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최초 적합</a:t>
            </a:r>
            <a:r>
              <a:rPr lang="en-US" altLang="ko-KR" b="1"/>
              <a:t>(First Fit), </a:t>
            </a:r>
            <a:r>
              <a:rPr lang="ko-KR" altLang="en-US" b="1"/>
              <a:t>최적 적합</a:t>
            </a:r>
            <a:r>
              <a:rPr lang="en-US" altLang="ko-KR" b="1"/>
              <a:t>(Best Fit), </a:t>
            </a:r>
            <a:r>
              <a:rPr lang="ko-KR" altLang="en-US" b="1"/>
              <a:t>최악 적합 </a:t>
            </a:r>
            <a:r>
              <a:rPr lang="en-US" altLang="ko-KR" b="1"/>
              <a:t>(Worst Fit) </a:t>
            </a:r>
            <a:r>
              <a:rPr lang="ko-KR" altLang="en-US" b="1"/>
              <a:t>이 있음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번호 개체 틀 1">
            <a:extLst>
              <a:ext uri="{FF2B5EF4-FFF2-40B4-BE49-F238E27FC236}">
                <a16:creationId xmlns:a16="http://schemas.microsoft.com/office/drawing/2014/main" id="{0E3B60C4-2A2C-4AF7-A09B-9B1B01307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F28780A-5257-40F8-9329-84FD601CD12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62326D3-F8A5-4C7B-A903-D2ABACAEB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3" y="981075"/>
            <a:ext cx="77216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• </a:t>
            </a:r>
            <a:r>
              <a:rPr lang="ko-KR" altLang="en-US" b="1"/>
              <a:t>교체</a:t>
            </a:r>
            <a:r>
              <a:rPr lang="en-US" altLang="ko-KR" b="1"/>
              <a:t>(Replacement) </a:t>
            </a:r>
            <a:r>
              <a:rPr lang="ko-KR" altLang="en-US" b="1"/>
              <a:t>전략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</a:t>
            </a:r>
            <a:r>
              <a:rPr lang="en-US" altLang="ko-KR" b="1"/>
              <a:t>- </a:t>
            </a:r>
            <a:r>
              <a:rPr lang="ko-KR" altLang="en-US" b="1"/>
              <a:t>주기억장치의 모든 분할된 영역이 이미 사용 중인 상태에서 새로운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프로그램을 주기억장치에 배치하려고 할 때</a:t>
            </a:r>
            <a:r>
              <a:rPr lang="en-US" altLang="ko-KR" b="1"/>
              <a:t>, </a:t>
            </a:r>
            <a:r>
              <a:rPr lang="ko-KR" altLang="en-US" b="1"/>
              <a:t>이미 사용되고 있는 페이지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프레임 중에서 어느 하나를 선택하여 빈 페이지 프레임으로 만들어 줄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것인지를 결정 하는 전략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- FIFO(First In First Out), OPT, LRU, NUR, LFU, MFU </a:t>
            </a:r>
            <a:r>
              <a:rPr lang="ko-KR" altLang="en-US" b="1"/>
              <a:t>등의 방법이 있음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EB2B52D6-DF26-458C-9705-7A5098615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3429000"/>
            <a:ext cx="81375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4) </a:t>
            </a:r>
            <a:r>
              <a:rPr lang="ko-KR" altLang="en-US" sz="2000" b="1"/>
              <a:t>가상기억장치의 관리 기법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① 페이징 기법 </a:t>
            </a:r>
            <a:r>
              <a:rPr lang="en-US" altLang="ko-KR" b="1"/>
              <a:t>(Paging)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• </a:t>
            </a:r>
            <a:r>
              <a:rPr lang="ko-KR" altLang="en-US" b="1"/>
              <a:t>가상기억장치를 고정 길이의 페이지로 구분하고 이러한 페이지를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하나의 단위로 하여 주기억장치에 설치하고 주소를 변환함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보조기억장치를 여러 개의 로 </a:t>
            </a:r>
            <a:r>
              <a:rPr lang="en-US" altLang="ko-KR" b="1"/>
              <a:t>page</a:t>
            </a:r>
            <a:r>
              <a:rPr lang="ko-KR" altLang="en-US" b="1"/>
              <a:t>구분함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OS</a:t>
            </a:r>
            <a:r>
              <a:rPr lang="ko-KR" altLang="en-US" b="1"/>
              <a:t>가 보조기억장치에 있는 프로그램을 동일한 크기의 블록으로 나누어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관리하는 기법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</TotalTime>
  <Words>3564</Words>
  <Application>Microsoft Office PowerPoint</Application>
  <PresentationFormat>화면 슬라이드 쇼(4:3)</PresentationFormat>
  <Paragraphs>431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HY중고딕</vt:lpstr>
      <vt:lpstr>견고딕</vt:lpstr>
      <vt:lpstr>굴림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72</cp:revision>
  <dcterms:created xsi:type="dcterms:W3CDTF">2009-03-02T07:39:04Z</dcterms:created>
  <dcterms:modified xsi:type="dcterms:W3CDTF">2025-11-10T10:11:43Z</dcterms:modified>
</cp:coreProperties>
</file>