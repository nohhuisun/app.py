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2"/>
  </p:notesMasterIdLst>
  <p:sldIdLst>
    <p:sldId id="256" r:id="rId2"/>
    <p:sldId id="258" r:id="rId3"/>
    <p:sldId id="27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7A544D9-A259-4B1D-8F06-9127CC5BDE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4272D7D-7E5F-444B-A10F-DAB6F5EFCD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3A91EE-8A32-4B9B-9056-E788685E6BD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4DE8378-E30F-4870-9470-013C8E841AB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0CCFE2E-2746-450D-9447-14EAFE87F9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95776AE-C04B-4AF9-A545-353AF1C52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B45C8BB9-AD1F-4D8C-947E-D3F0CCBB11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773D5E19-1574-4F0A-AA31-018D432B73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F26E2339-AF59-440D-B2B5-DBC2480C9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81CB7DB-CF79-4EDB-84C5-5BD0493B473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FCFECB2C-BFEC-460C-B42D-88FAA86652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87663" y="3749030"/>
            <a:ext cx="342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 10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인터럽트와 병렬처리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25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1554CEF-90AF-426F-99A5-BA2EA2293B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5747D54D-166C-4261-8390-2F927A4711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777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00BA00-A125-438C-94E5-C0C16FA330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6A09F55-F185-451C-B2AC-78FA00A557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007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BE57DD-72B9-4B32-A108-3E2377253A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9BE8EE5-25AF-428A-A456-9041B85FF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03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6AFE7-D5FB-461C-9AED-4CDE26CFDB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E7D4AFD-2A26-4083-A371-162B01ECBB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824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5163F07-7A03-48BB-BBE8-8CC7E7FF17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95D3F141-522F-4667-A82B-B093D71D4C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125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CC527549-DFCD-44D7-8D24-97628D7402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D401E1E-5FC1-4B99-BD08-A0B01937F5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58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9F2CDC-4825-4002-B39A-0282EE49D0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43FF3B1-91BD-4E71-AD36-A4CBFAE09C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65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DA0F9F-05F3-48DE-8840-F9845D480B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3CF3EA6-47B9-4BEF-8BB5-10B34B72CA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866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94FA4F0-827D-41BF-9ACB-15F684B5FE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DDF98F8-AB6F-4BE9-99D8-8E4BC92271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464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A09FD1-840C-44A9-873A-D37C6F758E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02DB1DA-DDB6-4C9D-87CB-708E744338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957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ADFA9A0A-E6A0-4E7A-B627-0CD0B249B3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E9150E41-B97C-4FE9-9956-755A506027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87ECE2FE-D8C8-4B01-818D-F758DBF0200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A2769DEF-D57F-4128-9CFF-BEB8D8AFF2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A3C7FFF4-0142-4752-A13B-834334E837E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C893AE0A-7612-4764-98BA-2BD3B225B6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B72F715C-20B6-45F3-AA2A-6EA80F8FF5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3541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10</a:t>
            </a:r>
            <a:r>
              <a:rPr lang="ko-KR" altLang="en-US" sz="2000" b="1"/>
              <a:t>절 인터럽트 와 병렬처리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37CEEE6A-B38C-48A1-BF51-1BD0187DB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D6D0776-42D2-44A5-9D35-6759D26046A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D4BA8F31-1D4E-4155-8E44-7EF07576F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92150"/>
            <a:ext cx="16240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인터럽트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719210E7-DB5E-4187-9927-974CDCC40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096963"/>
            <a:ext cx="3592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인터럽트</a:t>
            </a:r>
            <a:r>
              <a:rPr lang="en-US" altLang="ko-KR" sz="2000" b="1"/>
              <a:t>(Interrupt)</a:t>
            </a:r>
            <a:r>
              <a:rPr lang="ko-KR" altLang="en-US" sz="2000" b="1"/>
              <a:t>의 정의</a:t>
            </a:r>
            <a:endParaRPr lang="ko-KR" altLang="en-US" b="1"/>
          </a:p>
        </p:txBody>
      </p:sp>
      <p:sp>
        <p:nvSpPr>
          <p:cNvPr id="4101" name="Rectangle 37">
            <a:extLst>
              <a:ext uri="{FF2B5EF4-FFF2-40B4-BE49-F238E27FC236}">
                <a16:creationId xmlns:a16="http://schemas.microsoft.com/office/drawing/2014/main" id="{6B55B0F3-1487-4640-BA69-DA59F6522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628775"/>
            <a:ext cx="8126412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1) </a:t>
            </a:r>
            <a:r>
              <a:rPr lang="ko-KR" altLang="en-US" b="1"/>
              <a:t>인터럽트는 프로그램을 실행하는 도중에 예기치 않은 상황이 발생할 경우</a:t>
            </a:r>
            <a:r>
              <a:rPr lang="en-US" altLang="ko-KR" b="1"/>
              <a:t>,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</a:t>
            </a:r>
            <a:r>
              <a:rPr lang="ko-KR" altLang="en-US" b="1"/>
              <a:t>현재 실행 중인 작업을 즉시 중단하고 발생된 상황을 우선 처리한 후 실행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중이던 작업으로 복귀하여 계속 처리하는 것을 말함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2) Computer system</a:t>
            </a:r>
            <a:r>
              <a:rPr lang="ko-KR" altLang="en-US" b="1"/>
              <a:t>에 예기치 않은 일이 발생했을 때 제어프로그램에게 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려 주는 것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인터럽트는 외부 인터럽트</a:t>
            </a:r>
            <a:r>
              <a:rPr lang="en-US" altLang="ko-KR" b="1"/>
              <a:t>, </a:t>
            </a:r>
            <a:r>
              <a:rPr lang="ko-KR" altLang="en-US" b="1"/>
              <a:t>내부 인터럽트</a:t>
            </a:r>
            <a:r>
              <a:rPr lang="en-US" altLang="ko-KR" b="1"/>
              <a:t>, </a:t>
            </a:r>
            <a:r>
              <a:rPr lang="ko-KR" altLang="en-US" b="1"/>
              <a:t>소프트웨어 인터럽트로 분류 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는데</a:t>
            </a:r>
            <a:r>
              <a:rPr lang="en-US" altLang="ko-KR" b="1"/>
              <a:t>, </a:t>
            </a:r>
            <a:r>
              <a:rPr lang="ko-KR" altLang="en-US" b="1"/>
              <a:t>외부나 내부 인터럽트는 </a:t>
            </a:r>
            <a:r>
              <a:rPr lang="en-US" altLang="ko-KR" b="1"/>
              <a:t>CPU </a:t>
            </a:r>
            <a:r>
              <a:rPr lang="ko-KR" altLang="en-US" b="1"/>
              <a:t>의 하드웨어에서의 신호에 의해 발생하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고 소프트웨어 인터럽트는 명령어의 수행에 의해 발생함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인터럽트 체제의 기본 요소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인터럽트 처리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인터럽트 요청 신호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인터럽트 취급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B7C6EF40-CEF3-45BE-962C-94E6895A9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691B211-79F2-4D43-AB6F-699C36B92AD2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graphicFrame>
        <p:nvGraphicFramePr>
          <p:cNvPr id="300106" name="Group 74">
            <a:extLst>
              <a:ext uri="{FF2B5EF4-FFF2-40B4-BE49-F238E27FC236}">
                <a16:creationId xmlns:a16="http://schemas.microsoft.com/office/drawing/2014/main" id="{98BDD195-0779-4347-AE00-AEAAD1D388A6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1341438"/>
          <a:ext cx="8064500" cy="4249737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2879300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57321822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214088334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815212910"/>
                    </a:ext>
                  </a:extLst>
                </a:gridCol>
              </a:tblGrid>
              <a:tr h="39624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구분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종류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특징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우선순위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839181"/>
                  </a:ext>
                </a:extLst>
              </a:tr>
              <a:tr h="398405"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하드웨어</a:t>
                      </a: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정전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최상위 인터럽트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05879"/>
                  </a:ext>
                </a:extLst>
              </a:tr>
              <a:tr h="3984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기계검사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기계고장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605168"/>
                  </a:ext>
                </a:extLst>
              </a:tr>
              <a:tr h="7641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외부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오퍼레이터의 콘솔조작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타이머에 의한 인터럽트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85619"/>
                  </a:ext>
                </a:extLst>
              </a:tr>
              <a:tr h="3984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입출력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데이터의 입출력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324"/>
                  </a:ext>
                </a:extLst>
              </a:tr>
              <a:tr h="14957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소프트웨어</a:t>
                      </a: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프로그램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무한루프</a:t>
                      </a: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Division Zero,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Overflow, Underflow,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Trap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24659"/>
                  </a:ext>
                </a:extLst>
              </a:tr>
              <a:tr h="3984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SVC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감시프로그램의 호출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6996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50DA4146-013B-4DFF-AD4B-2CAD9BB13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6E103D6-7A15-4362-B68D-1FC3CC78BDA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2B525EC9-7EC0-4FB5-A251-7EEFA31DC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507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인터럽트</a:t>
            </a:r>
            <a:r>
              <a:rPr lang="en-US" altLang="ko-KR" sz="2000" b="1"/>
              <a:t>(Interrupt)</a:t>
            </a:r>
            <a:r>
              <a:rPr lang="ko-KR" altLang="en-US" sz="2000" b="1"/>
              <a:t>의 종류 및 발생 원인</a:t>
            </a:r>
            <a:endParaRPr lang="ko-KR" altLang="en-US" b="1"/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20BEF815-8D14-4A5B-8C0B-381B174A2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8064500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b="1"/>
              <a:t>1) </a:t>
            </a:r>
            <a:r>
              <a:rPr lang="ko-KR" altLang="en-US" b="1"/>
              <a:t>외부 인터럽트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외부 인터럽트는 입출력 장치</a:t>
            </a:r>
            <a:r>
              <a:rPr lang="en-US" altLang="ko-KR" b="1"/>
              <a:t>, </a:t>
            </a:r>
            <a:r>
              <a:rPr lang="ko-KR" altLang="en-US" b="1"/>
              <a:t>타이밍 장치</a:t>
            </a:r>
            <a:r>
              <a:rPr lang="en-US" altLang="ko-KR" b="1"/>
              <a:t>, </a:t>
            </a:r>
            <a:r>
              <a:rPr lang="ko-KR" altLang="en-US" b="1"/>
              <a:t>전원 등 외부적인 요인에 의해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발생함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① 전원 이상 인터럽트 </a:t>
            </a:r>
            <a:r>
              <a:rPr lang="en-US" altLang="ko-KR" b="1"/>
              <a:t>(Power Fail Interrupt)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정전이 되거나 전원 이상이 있는 경우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② 기계 착오 인터럽트 </a:t>
            </a:r>
            <a:r>
              <a:rPr lang="en-US" altLang="ko-KR" b="1"/>
              <a:t>(Machine Check Interrupt)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• CPU </a:t>
            </a:r>
            <a:r>
              <a:rPr lang="ko-KR" altLang="en-US" b="1"/>
              <a:t>의 기능적인 오류 동작이 발생한 경우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③ 외부 신호 인터럽트 </a:t>
            </a:r>
            <a:r>
              <a:rPr lang="en-US" altLang="ko-KR" b="1"/>
              <a:t>(External Interrupt)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타이머에 의해 규정된 시간 </a:t>
            </a:r>
            <a:r>
              <a:rPr lang="en-US" altLang="ko-KR" b="1"/>
              <a:t>(Time Slice) </a:t>
            </a:r>
            <a:r>
              <a:rPr lang="ko-KR" altLang="en-US" b="1"/>
              <a:t>을 알리는 경우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키보드로 인터럽트 키를 누를 경우 </a:t>
            </a:r>
            <a:r>
              <a:rPr lang="en-US" altLang="ko-KR" b="1"/>
              <a:t>(Operator</a:t>
            </a:r>
            <a:r>
              <a:rPr lang="ko-KR" altLang="en-US" b="1"/>
              <a:t>의 </a:t>
            </a:r>
            <a:r>
              <a:rPr lang="en-US" altLang="ko-KR" b="1"/>
              <a:t>console </a:t>
            </a:r>
            <a:r>
              <a:rPr lang="ko-KR" altLang="en-US" b="1"/>
              <a:t>조작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외부 장치로부터 인터럽트 요청이 있는 경우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④ 입 출력 인터럽트 </a:t>
            </a:r>
            <a:r>
              <a:rPr lang="en-US" altLang="ko-KR" b="1"/>
              <a:t>(Input-Output Interrupt)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입출력 </a:t>
            </a:r>
            <a:r>
              <a:rPr lang="en-US" altLang="ko-KR" b="1"/>
              <a:t>Data </a:t>
            </a:r>
            <a:r>
              <a:rPr lang="ko-KR" altLang="en-US" b="1"/>
              <a:t>의 오류나 이상 현상이 발생한 경우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입 출력 장치가 데이터의 전송을 요구하거나 전송이 끝났음을 알릴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경우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입출력 장치 동작에  </a:t>
            </a:r>
            <a:r>
              <a:rPr lang="en-US" altLang="ko-KR" b="1"/>
              <a:t>CPU</a:t>
            </a:r>
            <a:r>
              <a:rPr lang="ko-KR" altLang="en-US" b="1"/>
              <a:t>의 기능이 요청 될 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A7D1550D-DCA7-4155-A081-E1AACD11E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97CC4AF-B096-45E8-B94D-A6096750BEE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CDE82476-5E18-4353-ABF4-761491E9D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36613"/>
            <a:ext cx="8281987" cy="47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내부 인터럽트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트랩 </a:t>
            </a:r>
            <a:r>
              <a:rPr lang="en-US" altLang="ko-KR" b="1"/>
              <a:t>(Trap) </a:t>
            </a:r>
            <a:r>
              <a:rPr lang="ko-KR" altLang="en-US" b="1"/>
              <a:t>이라고도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프로그램 검사 </a:t>
            </a:r>
            <a:r>
              <a:rPr lang="en-US" altLang="ko-KR" b="1"/>
              <a:t>(Program Check)</a:t>
            </a:r>
            <a:r>
              <a:rPr lang="ko-KR" altLang="en-US" b="1"/>
              <a:t>인터럽트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</a:t>
            </a:r>
            <a:r>
              <a:rPr lang="ko-KR" altLang="en-US" b="1"/>
              <a:t>프로그램의 실행 오류로 발생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프로그램 실행 중에 트랩 </a:t>
            </a:r>
            <a:r>
              <a:rPr lang="en-US" altLang="ko-KR" b="1"/>
              <a:t>(Trap) </a:t>
            </a:r>
            <a:r>
              <a:rPr lang="ko-KR" altLang="en-US" b="1"/>
              <a:t>이 발생하는 조건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overflow </a:t>
            </a:r>
            <a:r>
              <a:rPr lang="ko-KR" altLang="en-US" b="1"/>
              <a:t>또는  </a:t>
            </a:r>
            <a:r>
              <a:rPr lang="en-US" altLang="ko-KR" b="1"/>
              <a:t>underflow </a:t>
            </a:r>
            <a:r>
              <a:rPr lang="ko-KR" altLang="en-US" b="1"/>
              <a:t>시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0 </a:t>
            </a:r>
            <a:r>
              <a:rPr lang="ko-KR" altLang="en-US" b="1"/>
              <a:t>에 의한 나눗셈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불법적인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보호 영역 내의 메모리 어드레스를 </a:t>
            </a:r>
            <a:r>
              <a:rPr lang="en-US" altLang="ko-KR" b="1"/>
              <a:t>Access</a:t>
            </a:r>
            <a:r>
              <a:rPr lang="ko-KR" altLang="en-US" b="1"/>
              <a:t>하는 경우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</a:t>
            </a:r>
            <a:r>
              <a:rPr lang="en-US" altLang="ko-KR" b="1"/>
              <a:t>※ </a:t>
            </a:r>
            <a:r>
              <a:rPr lang="ko-KR" altLang="en-US" b="1"/>
              <a:t>불법 명령어 사용 인터럽트 </a:t>
            </a:r>
            <a:r>
              <a:rPr lang="en-US" altLang="ko-KR" b="1"/>
              <a:t>(Use Bad Command Interrupt)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</a:t>
            </a:r>
            <a:r>
              <a:rPr lang="ko-KR" altLang="en-US" b="1"/>
              <a:t>정의되지 않은 명령이나 불법적인 명령을 사용했을 경우 혹은 보호되어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있는 기억공간에 접근하는 경우 발생하는 인터럽트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872ACF9C-32D9-43AB-B0BC-61B8EB60B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3AE4604-2984-42E8-88BC-31B678D4A54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58BC571-9F91-4312-B384-E1CB8D380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08050"/>
            <a:ext cx="8569325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소프트웨어 인터럽트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프로그램 처리 중 명령의 요청에 의해 발생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 </a:t>
            </a:r>
            <a:r>
              <a:rPr lang="en-US" altLang="ko-KR" b="1"/>
              <a:t>SVC </a:t>
            </a:r>
            <a:r>
              <a:rPr lang="ko-KR" altLang="en-US" b="1"/>
              <a:t>인터럽트 </a:t>
            </a:r>
            <a:r>
              <a:rPr lang="en-US" altLang="ko-KR" b="1"/>
              <a:t>(Supervisor Call Interrupt)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</a:t>
            </a:r>
            <a:r>
              <a:rPr lang="ko-KR" altLang="en-US" b="1"/>
              <a:t>입출력 수행</a:t>
            </a:r>
            <a:r>
              <a:rPr lang="en-US" altLang="ko-KR" b="1"/>
              <a:t>, </a:t>
            </a:r>
            <a:r>
              <a:rPr lang="ko-KR" altLang="en-US" b="1"/>
              <a:t>기억장치 할당 및 오퍼레이터와 대화 등을 하기 위해 발생하는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인터럽트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4) S/W </a:t>
            </a:r>
            <a:r>
              <a:rPr lang="ko-KR" altLang="en-US" b="1"/>
              <a:t>문제로 프로그램에 오류가 없는데도 인터럽트가 발생하는 경우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</a:t>
            </a:r>
            <a:r>
              <a:rPr lang="ko-KR" altLang="en-US" b="1"/>
              <a:t>금지된 자원의 접근시도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F55D9FFF-9C5F-4CEF-81AE-577AA6B96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3631035-D4D3-4957-9B44-90BBA5602D0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464156A-DA9E-4EEB-A07E-96583922D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97887" cy="441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인터럽트의 동작 원리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인터럽트 수행 순서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① 인터럽트 요청 신호 발생 </a:t>
            </a:r>
            <a:r>
              <a:rPr lang="en-US" altLang="ko-KR" b="1"/>
              <a:t>(CPU </a:t>
            </a:r>
            <a:r>
              <a:rPr lang="ko-KR" altLang="en-US" b="1"/>
              <a:t>에게 인터럽트 요청 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② </a:t>
            </a:r>
            <a:r>
              <a:rPr lang="ko-KR" altLang="en-US" b="1"/>
              <a:t>현재 수행중인 명령을 완료하고 상태를 기억시킴 </a:t>
            </a:r>
            <a:r>
              <a:rPr lang="en-US" altLang="ko-KR" b="1"/>
              <a:t>(</a:t>
            </a:r>
            <a:r>
              <a:rPr lang="ko-KR" altLang="en-US" b="1"/>
              <a:t>현재 작업 중인 주소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를 메모리에 저장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③ </a:t>
            </a:r>
            <a:r>
              <a:rPr lang="ko-KR" altLang="en-US" b="1"/>
              <a:t>어느 장치가 인터럽트를 요청했는지 찾음 </a:t>
            </a:r>
            <a:r>
              <a:rPr lang="en-US" altLang="ko-KR" b="1"/>
              <a:t>(</a:t>
            </a:r>
            <a:r>
              <a:rPr lang="ko-KR" altLang="en-US" b="1"/>
              <a:t>인터럽트 인지신호 발생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④ </a:t>
            </a:r>
            <a:r>
              <a:rPr lang="ko-KR" altLang="en-US" b="1"/>
              <a:t>인터럽트 취급 루틴을 수행 </a:t>
            </a:r>
            <a:r>
              <a:rPr lang="en-US" altLang="ko-KR" b="1"/>
              <a:t>(</a:t>
            </a:r>
            <a:r>
              <a:rPr lang="ko-KR" altLang="en-US" b="1"/>
              <a:t>벡터 인터럽트 처리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⑤ </a:t>
            </a:r>
            <a:r>
              <a:rPr lang="ko-KR" altLang="en-US" b="1"/>
              <a:t>보존한 프로그램 상태를 복귀 </a:t>
            </a:r>
            <a:r>
              <a:rPr lang="en-US" altLang="ko-KR" b="1"/>
              <a:t>(</a:t>
            </a:r>
            <a:r>
              <a:rPr lang="ko-KR" altLang="en-US" b="1"/>
              <a:t>리턴에 의한 복귀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2) </a:t>
            </a:r>
            <a:r>
              <a:rPr lang="ko-KR" altLang="en-US" b="1"/>
              <a:t>인터럽트 발생 시 </a:t>
            </a:r>
            <a:r>
              <a:rPr lang="en-US" altLang="ko-KR" b="1"/>
              <a:t>CPU </a:t>
            </a:r>
            <a:r>
              <a:rPr lang="ko-KR" altLang="en-US" b="1"/>
              <a:t>가 확인할 사항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① 프로그램 카운터 내용 </a:t>
            </a:r>
            <a:r>
              <a:rPr lang="en-US" altLang="ko-KR" b="1"/>
              <a:t>(PC : </a:t>
            </a:r>
            <a:r>
              <a:rPr lang="ko-KR" altLang="en-US" b="1"/>
              <a:t>복귀주소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② 상태 조건 내용 </a:t>
            </a:r>
            <a:r>
              <a:rPr lang="en-US" altLang="ko-KR" b="1"/>
              <a:t>(PSW)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③ </a:t>
            </a:r>
            <a:r>
              <a:rPr lang="ko-KR" altLang="en-US" b="1"/>
              <a:t>사용한 모든 레지스터 내용 </a:t>
            </a:r>
            <a:r>
              <a:rPr lang="en-US" altLang="ko-KR" b="1"/>
              <a:t>(</a:t>
            </a:r>
            <a:r>
              <a:rPr lang="ko-KR" altLang="en-US" b="1"/>
              <a:t>결과값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AC94E751-D9FA-4608-9F92-838FD98BB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A802596-CD00-45D5-AA47-AE0F118BA24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017600F-3136-42C4-8A41-30187D309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92150"/>
            <a:ext cx="8424863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인터럽트 발생 시 이행해야 할 사항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</a:t>
            </a:r>
            <a:r>
              <a:rPr lang="en-US" altLang="ko-KR" b="1"/>
              <a:t>CPU </a:t>
            </a:r>
            <a:r>
              <a:rPr lang="ko-KR" altLang="en-US" b="1"/>
              <a:t>의 처리 와  </a:t>
            </a:r>
            <a:r>
              <a:rPr lang="en-US" altLang="ko-KR" b="1"/>
              <a:t>register</a:t>
            </a:r>
            <a:r>
              <a:rPr lang="ko-KR" altLang="en-US" b="1"/>
              <a:t>상태를 기억시키고 나중에 복귀시킴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② </a:t>
            </a:r>
            <a:r>
              <a:rPr lang="en-US" altLang="ko-KR" b="1"/>
              <a:t>interrupt service routine </a:t>
            </a:r>
            <a:r>
              <a:rPr lang="ko-KR" altLang="en-US" b="1"/>
              <a:t>의 시작 </a:t>
            </a:r>
            <a:r>
              <a:rPr lang="en-US" altLang="ko-KR" b="1"/>
              <a:t>address </a:t>
            </a:r>
            <a:r>
              <a:rPr lang="ko-KR" altLang="en-US" b="1"/>
              <a:t>를 발생시킴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③ </a:t>
            </a:r>
            <a:r>
              <a:rPr lang="en-US" altLang="ko-KR" b="1"/>
              <a:t>interrupt service routine </a:t>
            </a:r>
            <a:r>
              <a:rPr lang="ko-KR" altLang="en-US" b="1"/>
              <a:t>이 완료된 후 </a:t>
            </a:r>
            <a:r>
              <a:rPr lang="en-US" altLang="ko-KR" b="1"/>
              <a:t>CPU </a:t>
            </a:r>
            <a:r>
              <a:rPr lang="ko-KR" altLang="en-US" b="1"/>
              <a:t>를 원상 복귀시킴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인터럽트 요청 신호회선 체제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단일 인터럽트 요청 신호회선 체제는 인터럽트 요청이 단일 회선을 이용하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기 때문에 인터럽트를 요청한 장치 판별과정이 필요함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② 고유 인터럽트 요청 신호회선 체제는 벡터 인터럽트 방식</a:t>
            </a:r>
            <a:r>
              <a:rPr lang="en-US" altLang="ko-KR" b="1"/>
              <a:t>(Vector Interrupt)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</a:t>
            </a:r>
            <a:r>
              <a:rPr lang="ko-KR" altLang="en-US" b="1"/>
              <a:t>이라고도 하며 인터럽트 서비스 루틴으로 분기하는 명령들로 구성된 인터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럽트 벡터를 이용함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③ 고유 인터럽트 요청 신호회선 체제는 장치마다 고유한 인터럽트 요청 신호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회선을 가지므로 인터럽트를 요청한 장치 판별과정이 필요 없음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5) </a:t>
            </a:r>
            <a:r>
              <a:rPr lang="ko-KR" altLang="en-US" b="1"/>
              <a:t>인터럽트 발생 시 처리할 사항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</a:t>
            </a:r>
            <a:r>
              <a:rPr lang="en-US" altLang="ko-KR" b="1"/>
              <a:t>return address </a:t>
            </a:r>
            <a:r>
              <a:rPr lang="ko-KR" altLang="en-US" b="1"/>
              <a:t>의 기억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② </a:t>
            </a:r>
            <a:r>
              <a:rPr lang="en-US" altLang="ko-KR" b="1"/>
              <a:t>CPU</a:t>
            </a:r>
            <a:r>
              <a:rPr lang="ko-KR" altLang="en-US" b="1"/>
              <a:t>내의 레지스터 내용 기억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③ 인터럽트 마스크 상태 제어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7CAA9DF5-8929-4E47-9A1C-D627F8EFE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D4C064F-6ED6-4BFD-BE57-1EE06FE04CD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DBBE338-8DC3-4724-A722-F66ED4148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765175"/>
            <a:ext cx="8729663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6) </a:t>
            </a:r>
            <a:r>
              <a:rPr lang="ko-KR" altLang="en-US" b="1"/>
              <a:t>기타 인터럽트 작동과 관련 용어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① 요청한 인터럽트를 처리하기 위해서 이전 프로그램의 상태 보존이 필요한 경우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Cache memory </a:t>
            </a:r>
            <a:r>
              <a:rPr lang="ko-KR" altLang="en-US" b="1"/>
              <a:t>에서 캐시 </a:t>
            </a:r>
            <a:r>
              <a:rPr lang="en-US" altLang="ko-KR" b="1"/>
              <a:t>miss </a:t>
            </a:r>
            <a:r>
              <a:rPr lang="ko-KR" altLang="en-US" b="1"/>
              <a:t>나 가상 메모리 시스템에서 </a:t>
            </a:r>
            <a:r>
              <a:rPr lang="en-US" altLang="ko-KR" b="1"/>
              <a:t>page fault </a:t>
            </a:r>
            <a:r>
              <a:rPr lang="ko-KR" altLang="en-US" b="1"/>
              <a:t>가 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생한 경우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② 인터럽트 반응시간 </a:t>
            </a:r>
            <a:r>
              <a:rPr lang="en-US" altLang="ko-KR" b="1"/>
              <a:t>(interrupt response time)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• </a:t>
            </a:r>
            <a:r>
              <a:rPr lang="ko-KR" altLang="en-US" b="1"/>
              <a:t>인터럽트 요청신호를 발생한 후부터 인터럽트 취급 루틴의 수행이 시작될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때까지의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③ 인터럽트 발생 시 운영체제가 가장 먼저 하는 일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현재까지의 모든 프로그램 상태를 저장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④ 벡터 인터럽트 </a:t>
            </a:r>
            <a:r>
              <a:rPr lang="en-US" altLang="ko-KR" b="1"/>
              <a:t>(Vectored Interrupt)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• </a:t>
            </a:r>
            <a:r>
              <a:rPr lang="ko-KR" altLang="en-US" b="1"/>
              <a:t>인터럽트 발생 시 프로세서의 인터럽트 서비스가 특정의 장소로 점프</a:t>
            </a:r>
            <a:r>
              <a:rPr lang="en-US" altLang="ko-KR" b="1"/>
              <a:t>(</a:t>
            </a:r>
            <a:r>
              <a:rPr lang="ko-KR" altLang="en-US" b="1"/>
              <a:t>분기</a:t>
            </a:r>
            <a:r>
              <a:rPr lang="en-US" altLang="ko-KR" b="1"/>
              <a:t>) </a:t>
            </a:r>
            <a:r>
              <a:rPr lang="ko-KR" altLang="en-US" b="1"/>
              <a:t>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여 서비스 할 수 있게 함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인터럽트를 발생한 장치가 프로세서에게 분기할 곳의 정보를 제공해 주는 것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인터럽트 벡터</a:t>
            </a:r>
            <a:r>
              <a:rPr lang="en-US" altLang="ko-KR" b="1"/>
              <a:t>(= </a:t>
            </a:r>
            <a:r>
              <a:rPr lang="ko-KR" altLang="en-US" b="1"/>
              <a:t>벡터 인터럽트</a:t>
            </a:r>
            <a:r>
              <a:rPr lang="en-US" altLang="ko-KR" b="1"/>
              <a:t>) </a:t>
            </a:r>
            <a:r>
              <a:rPr lang="ko-KR" altLang="en-US" b="1"/>
              <a:t>에 필수적인 것 </a:t>
            </a:r>
            <a:r>
              <a:rPr lang="en-US" altLang="ko-KR" b="1"/>
              <a:t>: </a:t>
            </a:r>
            <a:r>
              <a:rPr lang="ko-KR" altLang="en-US" b="1"/>
              <a:t>분기번지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하드웨어 신호에 의하여 특정 번지의 서브루틴을 수행하는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46A4F6A1-5F2C-4294-A7DB-567C0A3F0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4D0A955-2F03-4029-B657-8FD8D16ABA2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59C5974-4110-4829-A733-D609BC8E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593138" cy="47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⑤ </a:t>
            </a:r>
            <a:r>
              <a:rPr lang="ko-KR" altLang="en-US" b="1"/>
              <a:t>인터럽트 수행 후에 처리되는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인터럽트 처리 시 보존시켰던 </a:t>
            </a:r>
            <a:r>
              <a:rPr lang="en-US" altLang="ko-KR" b="1"/>
              <a:t>PC</a:t>
            </a:r>
            <a:r>
              <a:rPr lang="ko-KR" altLang="en-US" b="1"/>
              <a:t>및 제어 상태 데이터를 </a:t>
            </a:r>
            <a:r>
              <a:rPr lang="en-US" altLang="ko-KR" b="1"/>
              <a:t>PC</a:t>
            </a:r>
            <a:r>
              <a:rPr lang="ko-KR" altLang="en-US" b="1"/>
              <a:t>와 제어상태 레지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스터에 복구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⑥ </a:t>
            </a:r>
            <a:r>
              <a:rPr lang="en-US" altLang="ko-KR" b="1"/>
              <a:t>Stack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• Interrupt </a:t>
            </a:r>
            <a:r>
              <a:rPr lang="ko-KR" altLang="en-US" b="1"/>
              <a:t>발생 시 복귀 주소를 기억시키는데 사용됨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인터럽트가 받아들여졌을 때 스택 메모리를 사용함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⑦ </a:t>
            </a:r>
            <a:r>
              <a:rPr lang="en-US" altLang="ko-KR" b="1"/>
              <a:t>Program Counter (PC)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• </a:t>
            </a:r>
            <a:r>
              <a:rPr lang="ko-KR" altLang="en-US" b="1"/>
              <a:t>인터럽트 처리 루틴에서 반드시 사용되는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인터럽트 발생 시에 반드시 보존되어야 하는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⑧ 인터럽트 서비스 루틴의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처리기 레지스터의 상태 보존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인터럽트 원인 결정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처리기 상태 복구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3F813AEF-BE7C-4C3A-B2C8-E8DFD7B16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F5BCEFF-B310-4A44-8DB0-2D88CFEF1C7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AF56BBFF-6D95-42E2-9304-2C91AF825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63575"/>
            <a:ext cx="2709862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(4) </a:t>
            </a:r>
            <a:r>
              <a:rPr lang="ko-KR" altLang="en-US" sz="2000" b="1"/>
              <a:t>인터럽트 우선순위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인터럽트 우선순위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E9054FDD-3887-4C45-BCF1-043AD0B7F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1565275"/>
            <a:ext cx="8820150" cy="376238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500" b="1"/>
              <a:t>전원이상</a:t>
            </a:r>
            <a:r>
              <a:rPr lang="en-US" altLang="ko-KR" sz="1500" b="1"/>
              <a:t>(Power Fail) ➡ </a:t>
            </a:r>
            <a:r>
              <a:rPr lang="ko-KR" altLang="en-US" sz="1500" b="1"/>
              <a:t>기계 이상 ➡ 외부 신호 ➡ 입출력 </a:t>
            </a:r>
            <a:r>
              <a:rPr lang="ko-KR" altLang="en-US" b="1"/>
              <a:t>➡</a:t>
            </a:r>
            <a:r>
              <a:rPr lang="ko-KR" altLang="en-US" sz="1500" b="1"/>
              <a:t> 명령어 잘못 ➡ 프로그램 검사 ➡ </a:t>
            </a:r>
            <a:r>
              <a:rPr lang="en-US" altLang="ko-KR" sz="1500" b="1"/>
              <a:t>SVC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A928E91A-989B-4713-A07D-8A3257EA3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1966913"/>
            <a:ext cx="8074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b="1"/>
              <a:t>높음 </a:t>
            </a:r>
            <a:r>
              <a:rPr lang="en-US" altLang="ko-KR" b="1"/>
              <a:t>&lt;-----------------------------------------------&gt; </a:t>
            </a:r>
            <a:r>
              <a:rPr lang="ko-KR" altLang="en-US" b="1"/>
              <a:t>낮음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BF96D03F-3504-40DF-B0F3-51326A0F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2357438"/>
            <a:ext cx="8334375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인터럽트 회선에 대하여 우선순위를 배정하는 일차적 목적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인터럽트가 하나 이상 발생 할 때 어느 것이 선택 되어야 하는가를 지적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인터럽트 우선순위를 판별하는 방법은 소프트웨어적인 방법과 하드웨어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적인 방법이 있음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인터럽트 우선순위 판별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소프트웨어적인 방법 </a:t>
            </a:r>
            <a:r>
              <a:rPr lang="en-US" altLang="ko-KR" b="1"/>
              <a:t>: Polling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• </a:t>
            </a:r>
            <a:r>
              <a:rPr lang="ko-KR" altLang="en-US" b="1"/>
              <a:t>폴링</a:t>
            </a:r>
            <a:r>
              <a:rPr lang="en-US" altLang="ko-KR" b="1"/>
              <a:t>(polling) </a:t>
            </a:r>
            <a:r>
              <a:rPr lang="ko-KR" altLang="en-US" b="1"/>
              <a:t>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인터럽트 우선순위 가운데 소프트웨어적 처리기법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인터럽트 요청신호 플래그를 차례로 검사하여 인터럽트의 원인을 판별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하는 방식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6FDBD7BB-72DE-4C2C-BB38-832D966DB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B46B727-0F8F-49EF-A847-93DA6D22EF0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20FBB896-25A5-4BDE-9C1D-D758E449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587375"/>
            <a:ext cx="864235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② </a:t>
            </a:r>
            <a:r>
              <a:rPr lang="ko-KR" altLang="en-US" b="1"/>
              <a:t>하드웨어적인 방법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종류 </a:t>
            </a:r>
            <a:r>
              <a:rPr lang="en-US" altLang="ko-KR" b="1"/>
              <a:t>: </a:t>
            </a:r>
            <a:r>
              <a:rPr lang="ko-KR" altLang="en-US" b="1"/>
              <a:t>직렬 우선순위 부여방식</a:t>
            </a:r>
            <a:r>
              <a:rPr lang="en-US" altLang="ko-KR" b="1"/>
              <a:t>(Daisy-Chain), </a:t>
            </a:r>
            <a:r>
              <a:rPr lang="ko-KR" altLang="en-US" b="1"/>
              <a:t>병렬 우선순위 부여 방식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데이지 체인 </a:t>
            </a:r>
            <a:r>
              <a:rPr lang="en-US" altLang="ko-KR" b="1"/>
              <a:t>(Daisy-Chain)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직렬 우선순위 부여 방식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인터럽트를 발생하는 모든 장치들을 직렬로 연결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인터럽트 처리 과정 중 하드웨어를 이용하여 우선순위를 결정하는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벡터에 의한 인터럽트 처리 방법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인터럽트 된 모든 장치들은 벡터를 동시에 보낼 수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인터럽트 신호 선을 공유하면서 연결 순서에 따라 우선순위가 결정되는 것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인터럽트 요청 체인 </a:t>
            </a:r>
            <a:r>
              <a:rPr lang="en-US" altLang="ko-KR" b="1"/>
              <a:t>(Interrupt Request Chain) </a:t>
            </a:r>
            <a:r>
              <a:rPr lang="ko-KR" altLang="en-US" b="1"/>
              <a:t>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하드웨어 방식으로 우선순위가 높은 것에서 낮은 것 순으로 인터럽트 요청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회선을 직렬로 연결하여 인터럽트 요청을 받는 순서대로 우선순위를 결정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하는 방법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인터럽트 우선순위 </a:t>
            </a:r>
            <a:r>
              <a:rPr lang="en-US" altLang="ko-KR" b="1"/>
              <a:t>(Interrupt Priority Chain) </a:t>
            </a:r>
            <a:r>
              <a:rPr lang="ko-KR" altLang="en-US" b="1"/>
              <a:t>체인 방식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하드웨어 방식으로 인터럽트 요청을 받은 장치 중에서 가장 우선순위가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높은 장치만이 </a:t>
            </a:r>
            <a:r>
              <a:rPr lang="en-US" altLang="ko-KR" b="1"/>
              <a:t>CPU </a:t>
            </a:r>
            <a:r>
              <a:rPr lang="ko-KR" altLang="en-US" b="1"/>
              <a:t>에게 자신의 장치번호를 보낼 수 있도록 하여 우선순위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를 결정하는 방식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49215F93-D934-42C1-9A4E-AE2475B7E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BB433C8-9767-4356-B52C-5D8EAA5E052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A4DF5AF-0182-4CBD-9902-A8EF962FA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52513"/>
            <a:ext cx="8281987" cy="402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• </a:t>
            </a:r>
            <a:r>
              <a:rPr lang="ko-KR" altLang="en-US" b="1"/>
              <a:t>병렬 우선순위 부여 방식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</a:t>
            </a:r>
            <a:r>
              <a:rPr lang="en-US" altLang="ko-KR" b="1"/>
              <a:t>- </a:t>
            </a:r>
            <a:r>
              <a:rPr lang="ko-KR" altLang="en-US" b="1"/>
              <a:t>인터럽트가 발생하는 각 장치를 개별적인 회선으로 연결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</a:t>
            </a:r>
            <a:r>
              <a:rPr lang="en-US" altLang="ko-KR" b="1"/>
              <a:t>- </a:t>
            </a:r>
            <a:r>
              <a:rPr lang="ko-KR" altLang="en-US" b="1"/>
              <a:t>마스크 레지스터 </a:t>
            </a:r>
            <a:r>
              <a:rPr lang="en-US" altLang="ko-KR" b="1"/>
              <a:t>(Mask Register) </a:t>
            </a:r>
            <a:r>
              <a:rPr lang="ko-KR" altLang="en-US" b="1"/>
              <a:t>를 갖고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</a:t>
            </a:r>
            <a:r>
              <a:rPr lang="en-US" altLang="ko-KR" b="1"/>
              <a:t>- </a:t>
            </a:r>
            <a:r>
              <a:rPr lang="ko-KR" altLang="en-US" b="1"/>
              <a:t>마스크 레지스터는 우선순위가 높은 것이 서비스 받고 있을 때 우선순위가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낮은 것을 비활성화 시킬 수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</a:t>
            </a:r>
            <a:r>
              <a:rPr lang="en-US" altLang="ko-KR" b="1"/>
              <a:t>- </a:t>
            </a:r>
            <a:r>
              <a:rPr lang="ko-KR" altLang="en-US" b="1"/>
              <a:t>우선순위는 레지스터의 </a:t>
            </a:r>
            <a:r>
              <a:rPr lang="en-US" altLang="ko-KR" b="1"/>
              <a:t>Bit </a:t>
            </a:r>
            <a:r>
              <a:rPr lang="ko-KR" altLang="en-US" b="1"/>
              <a:t>의 위치에 따라 결정될 수 있음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• </a:t>
            </a:r>
            <a:r>
              <a:rPr lang="ko-KR" altLang="en-US" b="1"/>
              <a:t>하드웨어 우선순위 인터럽트의 특징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</a:t>
            </a:r>
            <a:r>
              <a:rPr lang="en-US" altLang="ko-KR" b="1"/>
              <a:t>- </a:t>
            </a:r>
            <a:r>
              <a:rPr lang="ko-KR" altLang="en-US" b="1"/>
              <a:t>응답속도가 빠름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※ </a:t>
            </a:r>
            <a:r>
              <a:rPr lang="ko-KR" altLang="en-US" b="1"/>
              <a:t>프로그램 수행 중에 인터럽트가 발생하였을 경우 인터럽트의 처리 시기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</a:t>
            </a:r>
            <a:r>
              <a:rPr lang="en-US" altLang="ko-KR"/>
              <a:t> </a:t>
            </a:r>
            <a:r>
              <a:rPr lang="ko-KR" altLang="en-US" b="1"/>
              <a:t>수행 중인 인스트럭션을 끝내고 처리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DF65051B-C3B0-466B-BAD0-A1648AB65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5867359-461A-4D2F-957A-C7C6DE59AEE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2841538-468C-4CE8-93D2-E17754145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1075"/>
            <a:ext cx="8664575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우선순위 인터럽트 운영 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근착 우선 처리 </a:t>
            </a:r>
            <a:r>
              <a:rPr lang="en-US" altLang="ko-KR" b="1"/>
              <a:t>(last come first serve : LCFS)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•</a:t>
            </a:r>
            <a:r>
              <a:rPr lang="ko-KR" altLang="en-US" b="1"/>
              <a:t>가장 최근에 인터럽트를 요청한 장치가 최고 우선순위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선착 우선 처리 </a:t>
            </a:r>
            <a:r>
              <a:rPr lang="en-US" altLang="ko-KR" b="1"/>
              <a:t>(first come first serve : FCFS)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제일 먼저 인터럽트를 요청한 장치가 최고 우선순위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</a:t>
            </a:r>
            <a:r>
              <a:rPr lang="en-US" altLang="ko-KR" b="1"/>
              <a:t>Masking Scheme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한 인터럽트가 서비스 중이면 하위 순위의 인터럽트는 </a:t>
            </a:r>
            <a:r>
              <a:rPr lang="en-US" altLang="ko-KR" b="1"/>
              <a:t>disable by masking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</a:t>
            </a:r>
            <a:r>
              <a:rPr lang="ko-KR" altLang="en-US" b="1"/>
              <a:t>에 의해 요청하지 못하게 하고 높은 순위의 인터럽트 허용하도록 하는 방법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4ED68E28-592D-49FF-8D8F-A829A68A9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C355B6D-46D8-44BD-AAD9-DE248D23266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2E49DA3-417E-4FF3-BB6F-4B9B0C8B0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33115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200" b="1"/>
              <a:t>2. </a:t>
            </a:r>
            <a:r>
              <a:rPr lang="ko-KR" altLang="en-US" sz="2200" b="1"/>
              <a:t>병렬 컴퓨터 구조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45D0C21-D1EA-423D-B02F-C1777A00F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557338"/>
            <a:ext cx="8388350" cy="282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2000" b="1"/>
              <a:t>(1) </a:t>
            </a:r>
            <a:r>
              <a:rPr lang="ko-KR" altLang="en-US" sz="2000" b="1"/>
              <a:t>병렬 컴퓨터의 개요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병렬 처리 개념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 b="1"/>
              <a:t>         ① 병렬 처리는 폰 노이만 컴퓨터 구조의 순차처리에 반대되는 구조로 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I/O</a:t>
            </a:r>
            <a:r>
              <a:rPr lang="ko-KR" altLang="en-US" b="1"/>
              <a:t>채널</a:t>
            </a:r>
            <a:r>
              <a:rPr lang="en-US" altLang="ko-KR" b="1"/>
              <a:t>, </a:t>
            </a:r>
            <a:r>
              <a:rPr lang="ko-KR" altLang="en-US" b="1"/>
              <a:t>또는 </a:t>
            </a:r>
            <a:r>
              <a:rPr lang="en-US" altLang="ko-KR" b="1"/>
              <a:t>Processor </a:t>
            </a:r>
            <a:r>
              <a:rPr lang="ko-KR" altLang="en-US" b="1"/>
              <a:t>와 같은 다수의 </a:t>
            </a:r>
            <a:r>
              <a:rPr lang="en-US" altLang="ko-KR" b="1"/>
              <a:t>Processor (</a:t>
            </a:r>
            <a:r>
              <a:rPr lang="ko-KR" altLang="en-US" b="1"/>
              <a:t>처리기</a:t>
            </a:r>
            <a:r>
              <a:rPr lang="en-US" altLang="ko-KR" b="1"/>
              <a:t>) </a:t>
            </a:r>
            <a:r>
              <a:rPr lang="ko-KR" altLang="en-US" b="1"/>
              <a:t>에서 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 b="1"/>
              <a:t>             동시에 여러 작업 </a:t>
            </a:r>
            <a:r>
              <a:rPr lang="en-US" altLang="ko-KR" b="1"/>
              <a:t>(Process) </a:t>
            </a:r>
            <a:r>
              <a:rPr lang="ko-KR" altLang="en-US" b="1"/>
              <a:t>을 처리하는 것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 b="1"/>
              <a:t>         ② 다수의 프로세서를 연결하여 동시에 수행을 하게 함으로서 연산 속도</a:t>
            </a:r>
          </a:p>
          <a:p>
            <a:pPr eaLnBrk="1" hangingPunct="1">
              <a:lnSpc>
                <a:spcPct val="140000"/>
              </a:lnSpc>
            </a:pPr>
            <a:r>
              <a:rPr lang="ko-KR" altLang="en-US" b="1"/>
              <a:t>            를 향상 시키고 다수의 프로세서를 관리하기 위한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82CE3CA0-C2DC-46DE-B21F-5193B9042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9AF95E4-966C-42D6-89F5-3F54166130B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64E14EAD-7EB3-4F94-A152-FD8AF484A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92150"/>
            <a:ext cx="7056438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(2) </a:t>
            </a:r>
            <a:r>
              <a:rPr lang="ko-KR" altLang="en-US" b="1"/>
              <a:t>병렬 컴퓨터의 분류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팽</a:t>
            </a:r>
            <a:r>
              <a:rPr lang="en-US" altLang="ko-KR" b="1"/>
              <a:t>(Feng) </a:t>
            </a:r>
            <a:r>
              <a:rPr lang="ko-KR" altLang="en-US" b="1"/>
              <a:t>의 분류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컴퓨터의 구조를 병렬 수행의 정도에 따라 분류한 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팽의 </a:t>
            </a:r>
            <a:r>
              <a:rPr lang="en-US" altLang="ko-KR" b="1"/>
              <a:t>4</a:t>
            </a:r>
            <a:r>
              <a:rPr lang="ko-KR" altLang="en-US" b="1"/>
              <a:t>가지 분류</a:t>
            </a:r>
          </a:p>
        </p:txBody>
      </p:sp>
      <p:graphicFrame>
        <p:nvGraphicFramePr>
          <p:cNvPr id="294993" name="Group 81">
            <a:extLst>
              <a:ext uri="{FF2B5EF4-FFF2-40B4-BE49-F238E27FC236}">
                <a16:creationId xmlns:a16="http://schemas.microsoft.com/office/drawing/2014/main" id="{CFF18A4A-6BED-4571-ACDA-8B74075D63E2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2330450"/>
          <a:ext cx="8642350" cy="3721100"/>
        </p:xfrm>
        <a:graphic>
          <a:graphicData uri="http://schemas.openxmlformats.org/drawingml/2006/table">
            <a:tbl>
              <a:tblPr/>
              <a:tblGrid>
                <a:gridCol w="31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1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WSBS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(Word-Serial, Bit-Serial)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단어별 순차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비트별 순차 처리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한 번에 한 비트씩 처리하는 방식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초기의 컴퓨터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5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WPBS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(Word-Parallel, Bit-Serial)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단어별 병렬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비트별 순차 처리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개의 단어를 묶어서 그 중에서 한 개의 비트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슬라이스 단위를 순차적으로 처리하는 방식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5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WSBP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(Word-Serial, Bit-Parallel)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단어별 순차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비트별 병렬 처리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한 번에 한 단어씩 병렬로 처리하는 것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현재의 컴퓨터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WPBP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(Word-Parallel, Bit-Parallel)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단어별 병렬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비트별 병렬 처리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병렬 처리의 가능성을 최대로 높인 처리 방식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1">
            <a:extLst>
              <a:ext uri="{FF2B5EF4-FFF2-40B4-BE49-F238E27FC236}">
                <a16:creationId xmlns:a16="http://schemas.microsoft.com/office/drawing/2014/main" id="{3A22D0A4-2BF6-4616-A2FF-79C945C2A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EED653F-52A9-4ECC-917D-2F00D1CFD75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9459" name="Rectangle 20">
            <a:extLst>
              <a:ext uri="{FF2B5EF4-FFF2-40B4-BE49-F238E27FC236}">
                <a16:creationId xmlns:a16="http://schemas.microsoft.com/office/drawing/2014/main" id="{716F6FEE-2030-41CB-9B22-B2934C87D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42950"/>
            <a:ext cx="8353425" cy="544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플린</a:t>
            </a:r>
            <a:r>
              <a:rPr lang="en-US" altLang="ko-KR" b="1"/>
              <a:t>(Flynn)</a:t>
            </a:r>
            <a:r>
              <a:rPr lang="ko-KR" altLang="en-US" b="1"/>
              <a:t>의 분류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플린은 명령 흐름과 자료 흐름을 고려하여 병렬 컴퓨터 구조를 분류함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처리기가 동시에 수행하는 명령과 데이터의 수에 따라 구분하는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플린의 </a:t>
            </a:r>
            <a:r>
              <a:rPr lang="en-US" altLang="ko-KR" b="1"/>
              <a:t>4</a:t>
            </a:r>
            <a:r>
              <a:rPr lang="ko-KR" altLang="en-US" b="1"/>
              <a:t>가지 분류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SISD(Single Instruction stream Single Data stream)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하나의 명령에 하나의 데이터를 처리하는 단일 프로세서 시스템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현재의 보통 컴퓨터 구조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SIMD(Single Instruction stream Multiple Data stream)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하나의 명령이 여러 개의 데이터를 처리하는 형태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다수의 처리기가 한 개의 제어장치에 의해 제어되며</a:t>
            </a:r>
            <a:r>
              <a:rPr lang="en-US" altLang="ko-KR" b="1"/>
              <a:t>, </a:t>
            </a:r>
            <a:r>
              <a:rPr lang="ko-KR" altLang="en-US" b="1"/>
              <a:t>모든 처리기는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제어장치로부터 같은 명령을 수행하도록 제어하지만 처리기는 각각 다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른 자료를 사용함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MISD(Multiple Instruction stream Single Data stream)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- </a:t>
            </a:r>
            <a:r>
              <a:rPr lang="ko-KR" altLang="en-US" b="1"/>
              <a:t>하나의 데이터에 대해 여러 명령어를 수행하는 구조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실제로는 사용되지 않는 구조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1">
            <a:extLst>
              <a:ext uri="{FF2B5EF4-FFF2-40B4-BE49-F238E27FC236}">
                <a16:creationId xmlns:a16="http://schemas.microsoft.com/office/drawing/2014/main" id="{49A73A4B-5C51-441F-9F13-CF0F9ADB7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DA6BCAD-2A42-48F9-B92F-FB8C75242AE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7C1314B-17F4-44FD-AFE8-8DACC5B33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36613"/>
            <a:ext cx="8208962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•  MIMD(Multiple Instruction stream Multiple Data stream)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- </a:t>
            </a:r>
            <a:r>
              <a:rPr lang="ko-KR" altLang="en-US" b="1"/>
              <a:t>복수 인스트럭션 스트림 </a:t>
            </a:r>
            <a:r>
              <a:rPr lang="en-US" altLang="ko-KR" b="1"/>
              <a:t>- </a:t>
            </a:r>
            <a:r>
              <a:rPr lang="ko-KR" altLang="en-US" b="1"/>
              <a:t>복수 데이터 스트림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</a:t>
            </a:r>
            <a:r>
              <a:rPr lang="en-US" altLang="ko-KR" b="1"/>
              <a:t>- </a:t>
            </a:r>
            <a:r>
              <a:rPr lang="ko-KR" altLang="en-US" b="1"/>
              <a:t>여러 개의 명령이 여러 개의 데이터를 처리하는 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</a:t>
            </a:r>
            <a:r>
              <a:rPr lang="en-US" altLang="ko-KR" b="1"/>
              <a:t>- </a:t>
            </a:r>
            <a:r>
              <a:rPr lang="ko-KR" altLang="en-US" b="1"/>
              <a:t>진정한 의미의 병렬 처리 구조로 대부분 약결합 형태의 구조적 특징을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가지나</a:t>
            </a:r>
            <a:r>
              <a:rPr lang="en-US" altLang="ko-KR" b="1"/>
              <a:t>, </a:t>
            </a:r>
            <a:r>
              <a:rPr lang="ko-KR" altLang="en-US" b="1"/>
              <a:t>강결합 형태도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</a:t>
            </a:r>
            <a:r>
              <a:rPr lang="en-US" altLang="ko-KR" b="1"/>
              <a:t>- </a:t>
            </a:r>
            <a:r>
              <a:rPr lang="ko-KR" altLang="en-US" b="1"/>
              <a:t>한 시스템 내에  </a:t>
            </a:r>
            <a:r>
              <a:rPr lang="en-US" altLang="ko-KR" b="1"/>
              <a:t>n</a:t>
            </a:r>
            <a:r>
              <a:rPr lang="ko-KR" altLang="en-US" b="1"/>
              <a:t>개의 프로세서들이 서로 다른 명령어들과 데이터를 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리하는 방식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번호 개체 틀 1">
            <a:extLst>
              <a:ext uri="{FF2B5EF4-FFF2-40B4-BE49-F238E27FC236}">
                <a16:creationId xmlns:a16="http://schemas.microsoft.com/office/drawing/2014/main" id="{1F88175A-0AE0-4B0B-AD7D-60ECA6ABA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39F7FF6-C2ED-4D43-BB23-36AE99F2C8C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90D30BC-469C-4486-8C53-F41044AAF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81075"/>
            <a:ext cx="8459787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(3) </a:t>
            </a:r>
            <a:r>
              <a:rPr lang="ko-KR" altLang="en-US" b="1"/>
              <a:t>병렬 처리 기법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병렬처리기의 종류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</a:t>
            </a:r>
            <a:r>
              <a:rPr lang="en-US" altLang="ko-KR" b="1"/>
              <a:t>Pipeline processor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② Vector processor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③ Multi processor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2) </a:t>
            </a:r>
            <a:r>
              <a:rPr lang="ko-KR" altLang="en-US" b="1"/>
              <a:t>배열 처리기 </a:t>
            </a:r>
            <a:r>
              <a:rPr lang="en-US" altLang="ko-KR" b="1"/>
              <a:t>(Array Processor)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① PE(Processing Eement)</a:t>
            </a:r>
            <a:r>
              <a:rPr lang="ko-KR" altLang="en-US" b="1"/>
              <a:t>라고 불리는 다수의 연산기를 갖는 형태로 </a:t>
            </a:r>
            <a:r>
              <a:rPr lang="en-US" altLang="ko-KR" b="1"/>
              <a:t>PE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</a:t>
            </a:r>
            <a:r>
              <a:rPr lang="ko-KR" altLang="en-US" b="1"/>
              <a:t>들을 동기적으로 병렬처리를 수행하는데 동시에 같은 기능을 수행하도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록 되어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명령 해독 및 제어는 제어장치가 하고</a:t>
            </a:r>
            <a:r>
              <a:rPr lang="en-US" altLang="ko-KR" b="1"/>
              <a:t>, PE </a:t>
            </a:r>
            <a:r>
              <a:rPr lang="ko-KR" altLang="en-US" b="1"/>
              <a:t>들은 명령 해독 능력이 결여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된 수동적 장치로서 명령 처리만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벡터 계산이나 행렬 계산에 적합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1">
            <a:extLst>
              <a:ext uri="{FF2B5EF4-FFF2-40B4-BE49-F238E27FC236}">
                <a16:creationId xmlns:a16="http://schemas.microsoft.com/office/drawing/2014/main" id="{A9101DD0-9FA7-461E-BC20-D15AF70C1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1C65C02-27C9-4617-A5CA-6CEC6B52B53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A8D4295-B9CB-4DE6-8F3E-72D6588B6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424863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※ </a:t>
            </a:r>
            <a:r>
              <a:rPr lang="ko-KR" altLang="en-US" b="1"/>
              <a:t>복수 배열 독립 디스크</a:t>
            </a:r>
            <a:r>
              <a:rPr lang="en-US" altLang="ko-KR" b="1"/>
              <a:t>(Redundant Arrays Independent Disk, RAID)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복수의 디스크를 병렬로 처리하여 컴퓨터와의 입출력을 제공하기 위한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디스크 관리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여러 디스크를 병렬로 연결하여 사용하는 기법으로서 접근</a:t>
            </a:r>
            <a:r>
              <a:rPr lang="en-US" altLang="ko-KR" b="1"/>
              <a:t>(access) </a:t>
            </a:r>
            <a:r>
              <a:rPr lang="ko-KR" altLang="en-US" b="1"/>
              <a:t>속도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와 데이터 보존 신뢰가 우수할수록 높은 등급을 받는 </a:t>
            </a:r>
            <a:r>
              <a:rPr lang="en-US" altLang="ko-KR" b="1"/>
              <a:t>5</a:t>
            </a:r>
            <a:r>
              <a:rPr lang="ko-KR" altLang="en-US" b="1"/>
              <a:t>단계로 구분됨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(RAID-0</a:t>
            </a:r>
            <a:r>
              <a:rPr lang="ko-KR" altLang="en-US" b="1"/>
              <a:t>부터 </a:t>
            </a:r>
            <a:r>
              <a:rPr lang="en-US" altLang="ko-KR" b="1"/>
              <a:t>RAID-5)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RAID-2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</a:t>
            </a:r>
            <a:r>
              <a:rPr lang="ko-KR" altLang="en-US" b="1"/>
              <a:t>오류 검출을 위하여 해밍코드를 이용하는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관리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복수 디스크에 데이터를 처리하는 미러링</a:t>
            </a:r>
            <a:r>
              <a:rPr lang="en-US" altLang="ko-KR" b="1"/>
              <a:t>/</a:t>
            </a:r>
            <a:r>
              <a:rPr lang="ko-KR" altLang="en-US" b="1"/>
              <a:t>이중화</a:t>
            </a:r>
            <a:r>
              <a:rPr lang="en-US" altLang="ko-KR" b="1"/>
              <a:t>(duplexing)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비트</a:t>
            </a:r>
            <a:r>
              <a:rPr lang="en-US" altLang="ko-KR" b="1"/>
              <a:t>/</a:t>
            </a:r>
            <a:r>
              <a:rPr lang="ko-KR" altLang="en-US" b="1"/>
              <a:t>블록 단위로 차례별로 디스크를 처리하는 스트라이핑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데이터와 별개의 디스크를 처리하는 패리티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스트라이핑과 유사한 처리를 하지만 디스크를 이용할 수 없을 때 그 다음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디스크에서 처리하는 스패닝</a:t>
            </a:r>
            <a:r>
              <a:rPr lang="en-US" altLang="ko-KR" b="1"/>
              <a:t>/</a:t>
            </a:r>
            <a:r>
              <a:rPr lang="ko-KR" altLang="en-US" b="1"/>
              <a:t>스캐터링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2028</Words>
  <Application>Microsoft Office PowerPoint</Application>
  <PresentationFormat>화면 슬라이드 쇼(4:3)</PresentationFormat>
  <Paragraphs>283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HY중고딕</vt:lpstr>
      <vt:lpstr>견고딕</vt:lpstr>
      <vt:lpstr>굴림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97</cp:revision>
  <dcterms:created xsi:type="dcterms:W3CDTF">2009-03-02T07:39:04Z</dcterms:created>
  <dcterms:modified xsi:type="dcterms:W3CDTF">2025-11-10T10:14:02Z</dcterms:modified>
</cp:coreProperties>
</file>