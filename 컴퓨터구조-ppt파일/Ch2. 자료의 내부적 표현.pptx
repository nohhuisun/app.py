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9FF99"/>
    <a:srgbClr val="FFFF99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7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6BCC5D2-FD07-4443-8189-2ADEFE7A278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EAF3E2CE-FE5C-40D4-93A6-5D9CE3DDD2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C74EE97-999A-4DE2-B469-1E83B01F5FE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28005221-D15D-4685-AF11-EA0B15077C3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81C16A10-5BB9-4321-9F86-CE18AB3654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3D0F4DE-C50C-45C2-AD14-F3903CC2B5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1F6E2AD9-5E9D-4943-8328-77B50E081A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realpt-039A">
            <a:extLst>
              <a:ext uri="{FF2B5EF4-FFF2-40B4-BE49-F238E27FC236}">
                <a16:creationId xmlns:a16="http://schemas.microsoft.com/office/drawing/2014/main" id="{33357550-91C2-4DB1-81B7-3E874D6104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AutoShape 8">
            <a:extLst>
              <a:ext uri="{FF2B5EF4-FFF2-40B4-BE49-F238E27FC236}">
                <a16:creationId xmlns:a16="http://schemas.microsoft.com/office/drawing/2014/main" id="{821C69C3-72B1-4E83-8801-310E5FA5DB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87500" y="685800"/>
            <a:ext cx="6019800" cy="1600200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B619F16-7C5B-44E9-B004-934ACB41ECB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25613" y="990600"/>
            <a:ext cx="57150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5400" b="1" dirty="0">
                <a:solidFill>
                  <a:schemeClr val="bg1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컴 퓨 터 구 조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:a16="http://schemas.microsoft.com/office/drawing/2014/main" id="{BB58693F-4F7D-4DAA-A46F-7A378CE0E1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62288" y="3749030"/>
            <a:ext cx="30813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Ch2. </a:t>
            </a:r>
            <a:r>
              <a:rPr lang="ko-KR" altLang="en-US" sz="2000" b="1" dirty="0">
                <a:solidFill>
                  <a:srgbClr val="003366"/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자료의 내부적 표현</a:t>
            </a:r>
            <a:endParaRPr lang="en-US" altLang="ko-KR" sz="2000" b="1" dirty="0">
              <a:solidFill>
                <a:srgbClr val="003366"/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6400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74638A9-F480-4D08-927B-1F989CD9551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00FF2AFE-4593-4438-B55F-9051F07FDC2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1586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020CD35-0F67-40B0-B8FC-C811675F0E6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1AE741D7-2108-4014-BB3B-9100237A611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4003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D5D88F2-EF18-4191-BA5E-9C2424BD75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4BDEDC8C-87A5-4854-8B45-4FD7D5CD846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7476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1257D1-42FE-4DAF-A411-DABFFF9EFBE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4384B758-1B3E-480A-8489-CBFF0C8F4F0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61018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D67F03BF-796A-473B-9AA7-7952CF700A2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2743B020-C945-440B-A359-6D1367059A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53086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30F65ADB-EA48-45C0-9576-27DCE833DE0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2AA926B0-5024-4043-87BC-6B32F9223AA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38407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C16DCEB-6313-41F4-BFCF-B51E5D47E9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C8CD174A-6E44-478E-85AA-361EF0DC12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935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08D1348-E4C2-4E0A-9ECC-33EC425FE0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7338634A-28BA-49CC-BD4F-B51C49D87C1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00154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30CADBE-2269-4FC5-B64C-9EB3287631D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F47EDB28-A512-44BF-8354-CC5CA5FE385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83949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6F0A761E-8FE6-4C0C-830C-A79C6F8A614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C2DFFC46-ED5C-4E77-88D6-89723FE461B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401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>
            <a:extLst>
              <a:ext uri="{FF2B5EF4-FFF2-40B4-BE49-F238E27FC236}">
                <a16:creationId xmlns:a16="http://schemas.microsoft.com/office/drawing/2014/main" id="{53C32CD6-0BA5-442E-ABB3-2AF78EFB48C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492500" y="640873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600" b="1" smtClean="0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defRPr>
            </a:lvl1pPr>
          </a:lstStyle>
          <a:p>
            <a:pPr>
              <a:defRPr/>
            </a:pPr>
            <a:r>
              <a:rPr lang="en-US" altLang="ko-KR"/>
              <a:t>Page : </a:t>
            </a:r>
            <a:fld id="{463F450E-2DD7-4E28-8A4D-11E62BB6A76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7" name="Line 7">
            <a:extLst>
              <a:ext uri="{FF2B5EF4-FFF2-40B4-BE49-F238E27FC236}">
                <a16:creationId xmlns:a16="http://schemas.microsoft.com/office/drawing/2014/main" id="{4C63FF84-C781-4E39-94BD-95B8D407746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525" y="508000"/>
            <a:ext cx="9132888" cy="1588"/>
          </a:xfrm>
          <a:prstGeom prst="line">
            <a:avLst/>
          </a:prstGeom>
          <a:noFill/>
          <a:ln w="38100" cmpd="thinThick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28" name="Rectangle 8">
            <a:extLst>
              <a:ext uri="{FF2B5EF4-FFF2-40B4-BE49-F238E27FC236}">
                <a16:creationId xmlns:a16="http://schemas.microsoft.com/office/drawing/2014/main" id="{B52CA4EA-CFB5-4698-B275-3ADE7DC7305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C3C3C3"/>
          </a:solidFill>
          <a:ln w="9525">
            <a:solidFill>
              <a:srgbClr val="808080"/>
            </a:solidFill>
            <a:miter lim="800000"/>
            <a:headEnd/>
            <a:tailEnd/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29" name="Line 9">
            <a:extLst>
              <a:ext uri="{FF2B5EF4-FFF2-40B4-BE49-F238E27FC236}">
                <a16:creationId xmlns:a16="http://schemas.microsoft.com/office/drawing/2014/main" id="{49F47DF0-F14E-41F2-AAC0-96F33C0B105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381750"/>
            <a:ext cx="9144000" cy="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030" name="AutoShape 11">
            <a:extLst>
              <a:ext uri="{FF2B5EF4-FFF2-40B4-BE49-F238E27FC236}">
                <a16:creationId xmlns:a16="http://schemas.microsoft.com/office/drawing/2014/main" id="{43FA10D5-63E8-4AB3-9FAF-51A94195BD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0838" y="73025"/>
            <a:ext cx="4365625" cy="381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endParaRPr lang="ko-KR" altLang="en-US"/>
          </a:p>
        </p:txBody>
      </p:sp>
      <p:sp>
        <p:nvSpPr>
          <p:cNvPr id="1031" name="Text Box 12">
            <a:extLst>
              <a:ext uri="{FF2B5EF4-FFF2-40B4-BE49-F238E27FC236}">
                <a16:creationId xmlns:a16="http://schemas.microsoft.com/office/drawing/2014/main" id="{F03286E7-82FD-421E-8C11-14277AA3F28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57188" y="55563"/>
            <a:ext cx="314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ko-KR" altLang="en-US" sz="2000" b="1"/>
              <a:t>제 </a:t>
            </a:r>
            <a:r>
              <a:rPr lang="en-US" altLang="ko-KR" sz="2000" b="1"/>
              <a:t>2</a:t>
            </a:r>
            <a:r>
              <a:rPr lang="ko-KR" altLang="en-US" sz="2000" b="1"/>
              <a:t>절 자료의 내부적 표현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번호 개체 틀 1">
            <a:extLst>
              <a:ext uri="{FF2B5EF4-FFF2-40B4-BE49-F238E27FC236}">
                <a16:creationId xmlns:a16="http://schemas.microsoft.com/office/drawing/2014/main" id="{412ED80C-895B-43FA-9AE5-4FEF98BA5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2375B213-C65C-47C7-9FA2-DC16234267F7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4099" name="Text Box 4">
            <a:extLst>
              <a:ext uri="{FF2B5EF4-FFF2-40B4-BE49-F238E27FC236}">
                <a16:creationId xmlns:a16="http://schemas.microsoft.com/office/drawing/2014/main" id="{FDC9502D-FF83-4B64-9C76-AC5D64C0C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196975"/>
            <a:ext cx="8482013" cy="491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ko-KR" b="1"/>
              <a:t>(1) </a:t>
            </a:r>
            <a:r>
              <a:rPr lang="ko-KR" altLang="ko-KR" b="1"/>
              <a:t>비트 </a:t>
            </a:r>
            <a:r>
              <a:rPr lang="en-US" altLang="ko-KR" b="1"/>
              <a:t>&lt; </a:t>
            </a:r>
            <a:r>
              <a:rPr lang="ko-KR" altLang="ko-KR" b="1"/>
              <a:t>니블 </a:t>
            </a:r>
            <a:r>
              <a:rPr lang="en-US" altLang="ko-KR" b="1"/>
              <a:t>&lt; </a:t>
            </a:r>
            <a:r>
              <a:rPr lang="ko-KR" altLang="ko-KR" b="1"/>
              <a:t>바이트 </a:t>
            </a:r>
            <a:r>
              <a:rPr lang="en-US" altLang="ko-KR" b="1"/>
              <a:t>&lt; </a:t>
            </a:r>
            <a:r>
              <a:rPr lang="ko-KR" altLang="ko-KR" b="1"/>
              <a:t>워드 </a:t>
            </a:r>
            <a:r>
              <a:rPr lang="en-US" altLang="ko-KR" b="1"/>
              <a:t>&lt; </a:t>
            </a:r>
            <a:r>
              <a:rPr lang="ko-KR" altLang="ko-KR" b="1"/>
              <a:t>필드 </a:t>
            </a:r>
            <a:r>
              <a:rPr lang="en-US" altLang="ko-KR" b="1"/>
              <a:t>&lt; </a:t>
            </a:r>
            <a:r>
              <a:rPr lang="ko-KR" altLang="ko-KR" b="1"/>
              <a:t>레코드 </a:t>
            </a:r>
            <a:r>
              <a:rPr lang="en-US" altLang="ko-KR" b="1"/>
              <a:t>&lt; </a:t>
            </a:r>
            <a:r>
              <a:rPr lang="ko-KR" altLang="ko-KR" b="1"/>
              <a:t>블록 </a:t>
            </a:r>
            <a:r>
              <a:rPr lang="en-US" altLang="ko-KR" b="1"/>
              <a:t>&lt; </a:t>
            </a:r>
            <a:r>
              <a:rPr lang="ko-KR" altLang="ko-KR" b="1"/>
              <a:t>파일 &lt;</a:t>
            </a:r>
            <a:r>
              <a:rPr lang="en-US" altLang="ko-KR" b="1"/>
              <a:t> </a:t>
            </a:r>
            <a:r>
              <a:rPr lang="ko-KR" altLang="ko-KR" b="1"/>
              <a:t>데이터베이스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(2) </a:t>
            </a:r>
            <a:r>
              <a:rPr lang="ko-KR" altLang="ko-KR" b="1"/>
              <a:t>비트 (Bit, Binary Digit)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 - </a:t>
            </a:r>
            <a:r>
              <a:rPr lang="ko-KR" altLang="ko-KR" b="1"/>
              <a:t>정보의 최소 단위</a:t>
            </a:r>
            <a:r>
              <a:rPr lang="ko-KR" altLang="en-US" b="1"/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 </a:t>
            </a:r>
            <a:r>
              <a:rPr lang="en-US" altLang="ko-KR" b="1"/>
              <a:t>- bit</a:t>
            </a:r>
            <a:r>
              <a:rPr lang="ko-KR" altLang="en-US" b="1"/>
              <a:t>는 </a:t>
            </a:r>
            <a:r>
              <a:rPr lang="ko-KR" altLang="ko-KR" b="1"/>
              <a:t>binary digit 는 의</a:t>
            </a:r>
            <a:r>
              <a:rPr lang="ko-KR" altLang="en-US" b="1"/>
              <a:t> </a:t>
            </a:r>
            <a:r>
              <a:rPr lang="ko-KR" altLang="ko-KR" b="1"/>
              <a:t>약자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(3) </a:t>
            </a:r>
            <a:r>
              <a:rPr lang="ko-KR" altLang="ko-KR" b="1"/>
              <a:t>니블 (Nibble)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- 4</a:t>
            </a:r>
            <a:r>
              <a:rPr lang="ko-KR" altLang="ko-KR" b="1"/>
              <a:t>비트로 나타낼 수 있는 정보단위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</a:t>
            </a:r>
            <a:r>
              <a:rPr lang="en-US" altLang="ko-KR" b="1"/>
              <a:t>- 4</a:t>
            </a:r>
            <a:r>
              <a:rPr lang="ko-KR" altLang="ko-KR" b="1"/>
              <a:t>개의 비트가 모여 </a:t>
            </a:r>
            <a:r>
              <a:rPr lang="en-US" altLang="ko-KR" b="1"/>
              <a:t>1</a:t>
            </a:r>
            <a:r>
              <a:rPr lang="ko-KR" altLang="ko-KR" b="1"/>
              <a:t>개의 니블을 구성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(4) </a:t>
            </a:r>
            <a:r>
              <a:rPr lang="ko-KR" altLang="ko-KR" b="1"/>
              <a:t>바이트 (Byte)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- 1</a:t>
            </a:r>
            <a:r>
              <a:rPr lang="ko-KR" altLang="ko-KR" b="1"/>
              <a:t>문자를 표현하는 최소 단위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</a:t>
            </a:r>
            <a:r>
              <a:rPr lang="en-US" altLang="ko-KR" b="1"/>
              <a:t>- 8</a:t>
            </a:r>
            <a:r>
              <a:rPr lang="ko-KR" altLang="ko-KR" b="1"/>
              <a:t>개의 비트가 모여 </a:t>
            </a:r>
            <a:r>
              <a:rPr lang="en-US" altLang="ko-KR" b="1"/>
              <a:t>1</a:t>
            </a:r>
            <a:r>
              <a:rPr lang="ko-KR" altLang="ko-KR" b="1"/>
              <a:t>바이트를 구성함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ko-KR" b="1"/>
              <a:t>주소 지정의 단위로 사용됨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(5) </a:t>
            </a:r>
            <a:r>
              <a:rPr lang="ko-KR" altLang="ko-KR" b="1"/>
              <a:t>워드 (Word)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- </a:t>
            </a:r>
            <a:r>
              <a:rPr lang="ko-KR" altLang="en-US" b="1"/>
              <a:t>컴</a:t>
            </a:r>
            <a:r>
              <a:rPr lang="ko-KR" altLang="ko-KR" b="1"/>
              <a:t>퓨터가 한 번에 처리할 수 있는 명령 단위 </a:t>
            </a:r>
          </a:p>
          <a:p>
            <a:pPr eaLnBrk="1" hangingPunct="1">
              <a:lnSpc>
                <a:spcPct val="110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ko-KR" b="1"/>
              <a:t>반워드 (Half-Word, )</a:t>
            </a:r>
            <a:r>
              <a:rPr lang="en-US" altLang="ko-KR" b="1"/>
              <a:t>       </a:t>
            </a:r>
            <a:r>
              <a:rPr lang="ko-KR" altLang="ko-KR" b="1"/>
              <a:t>: 2 Byte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- </a:t>
            </a:r>
            <a:r>
              <a:rPr lang="ko-KR" altLang="ko-KR" b="1"/>
              <a:t>전워드 (Full-Word)</a:t>
            </a:r>
            <a:r>
              <a:rPr lang="en-US" altLang="ko-KR" b="1"/>
              <a:t>         </a:t>
            </a:r>
            <a:r>
              <a:rPr lang="ko-KR" altLang="ko-KR" b="1"/>
              <a:t>: 4 Byte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ko-KR" b="1"/>
              <a:t>    - </a:t>
            </a:r>
            <a:r>
              <a:rPr lang="ko-KR" altLang="ko-KR" b="1"/>
              <a:t>더블워드 (Double-Word)</a:t>
            </a:r>
            <a:r>
              <a:rPr lang="en-US" altLang="ko-KR" b="1"/>
              <a:t> </a:t>
            </a:r>
            <a:r>
              <a:rPr lang="ko-KR" altLang="ko-KR" b="1"/>
              <a:t>: 8 Byte</a:t>
            </a:r>
          </a:p>
        </p:txBody>
      </p:sp>
      <p:sp>
        <p:nvSpPr>
          <p:cNvPr id="4100" name="Text Box 5">
            <a:extLst>
              <a:ext uri="{FF2B5EF4-FFF2-40B4-BE49-F238E27FC236}">
                <a16:creationId xmlns:a16="http://schemas.microsoft.com/office/drawing/2014/main" id="{AD75EA12-4DFD-44C0-91B2-717170689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188" y="700088"/>
            <a:ext cx="19907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ko-KR" sz="2200" b="1"/>
              <a:t>1. </a:t>
            </a:r>
            <a:r>
              <a:rPr lang="ko-KR" altLang="en-US" sz="2200" b="1"/>
              <a:t>정보의 단위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번호 개체 틀 1">
            <a:extLst>
              <a:ext uri="{FF2B5EF4-FFF2-40B4-BE49-F238E27FC236}">
                <a16:creationId xmlns:a16="http://schemas.microsoft.com/office/drawing/2014/main" id="{FD2AA811-7EB1-4157-919C-3A9D8D34D2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A11AFC80-0D51-41F0-B1A4-B0662A93C7F1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5123" name="Rectangle 4">
            <a:extLst>
              <a:ext uri="{FF2B5EF4-FFF2-40B4-BE49-F238E27FC236}">
                <a16:creationId xmlns:a16="http://schemas.microsoft.com/office/drawing/2014/main" id="{EE4D7BA5-0631-4129-91E4-314B3D9D60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908050"/>
            <a:ext cx="7056438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(6) </a:t>
            </a:r>
            <a:r>
              <a:rPr lang="ko-KR" altLang="en-US" b="1"/>
              <a:t>필드 </a:t>
            </a:r>
            <a:r>
              <a:rPr lang="en-US" altLang="ko-KR" b="1"/>
              <a:t>(Field)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</a:t>
            </a:r>
            <a:r>
              <a:rPr lang="ko-KR" altLang="en-US" b="1"/>
              <a:t>파일 구성의 최소 단위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항목 아이템이라고도 함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(7) </a:t>
            </a:r>
            <a:r>
              <a:rPr lang="ko-KR" altLang="en-US" b="1"/>
              <a:t>레코드 </a:t>
            </a:r>
            <a:r>
              <a:rPr lang="en-US" altLang="ko-KR" b="1"/>
              <a:t>(Record)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</a:t>
            </a:r>
            <a:r>
              <a:rPr lang="ko-KR" altLang="en-US" b="1"/>
              <a:t>하나 이상의 관련된 필드가 모여서 구성됨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일반적으로 레코드는 논리 레코드</a:t>
            </a:r>
            <a:r>
              <a:rPr lang="en-US" altLang="ko-KR" b="1"/>
              <a:t>(Logical Record) </a:t>
            </a:r>
            <a:r>
              <a:rPr lang="ko-KR" altLang="en-US" b="1"/>
              <a:t>를 의미함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(8) </a:t>
            </a:r>
            <a:r>
              <a:rPr lang="ko-KR" altLang="en-US" b="1"/>
              <a:t>블록 </a:t>
            </a:r>
            <a:r>
              <a:rPr lang="en-US" altLang="ko-KR" b="1"/>
              <a:t>(Block)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</a:t>
            </a:r>
            <a:r>
              <a:rPr lang="ko-KR" altLang="en-US" b="1"/>
              <a:t>하나 이상의 논리 레코드가 모여서 구성됨 </a:t>
            </a:r>
            <a:r>
              <a:rPr lang="en-US" altLang="ko-KR" b="1"/>
              <a:t>1)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</a:t>
            </a:r>
            <a:r>
              <a:rPr lang="ko-KR" altLang="en-US" b="1"/>
              <a:t>일반적으로 물리 레코드 라고 함 </a:t>
            </a:r>
            <a:r>
              <a:rPr lang="en-US" altLang="ko-KR" b="1"/>
              <a:t>2) (Physical Record)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(9) </a:t>
            </a:r>
            <a:r>
              <a:rPr lang="ko-KR" altLang="en-US" b="1"/>
              <a:t>파일 </a:t>
            </a:r>
            <a:r>
              <a:rPr lang="en-US" altLang="ko-KR" b="1"/>
              <a:t>(File)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</a:t>
            </a:r>
            <a:r>
              <a:rPr lang="ko-KR" altLang="en-US" b="1"/>
              <a:t>프로그램 구성의 기본 단위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같은 종류의 여러 레코드가 모여서 구성됨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(10) </a:t>
            </a:r>
            <a:r>
              <a:rPr lang="ko-KR" altLang="en-US" b="1"/>
              <a:t>데이터베이스 </a:t>
            </a:r>
            <a:r>
              <a:rPr lang="en-US" altLang="ko-KR" b="1"/>
              <a:t>(Database)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- </a:t>
            </a:r>
            <a:r>
              <a:rPr lang="ko-KR" altLang="en-US" b="1"/>
              <a:t>여러 개의 관련된 파일의 집합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번호 개체 틀 1">
            <a:extLst>
              <a:ext uri="{FF2B5EF4-FFF2-40B4-BE49-F238E27FC236}">
                <a16:creationId xmlns:a16="http://schemas.microsoft.com/office/drawing/2014/main" id="{9B8FE81B-8154-408E-B32F-9FB6239F28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C6748E62-B476-4A50-816B-B56110A4F89A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6147" name="Rectangle 4">
            <a:extLst>
              <a:ext uri="{FF2B5EF4-FFF2-40B4-BE49-F238E27FC236}">
                <a16:creationId xmlns:a16="http://schemas.microsoft.com/office/drawing/2014/main" id="{0E0AF693-9831-4FD7-8010-D965E5152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765175"/>
            <a:ext cx="7993062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sz="2000" b="1"/>
              <a:t>2. </a:t>
            </a:r>
            <a:r>
              <a:rPr lang="ko-KR" altLang="en-US" sz="2000" b="1"/>
              <a:t>진법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</a:t>
            </a:r>
            <a:r>
              <a:rPr lang="en-US" altLang="ko-KR" b="1"/>
              <a:t>(1) </a:t>
            </a:r>
            <a:r>
              <a:rPr lang="ko-KR" altLang="en-US" b="1"/>
              <a:t>진법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en-US" altLang="ko-KR" b="1"/>
              <a:t>1)</a:t>
            </a:r>
            <a:r>
              <a:rPr lang="ko-KR" altLang="en-US" b="1"/>
              <a:t>컴퓨터 내부에서는 </a:t>
            </a:r>
            <a:r>
              <a:rPr lang="en-US" altLang="ko-KR" b="1"/>
              <a:t>2</a:t>
            </a:r>
            <a:r>
              <a:rPr lang="ko-KR" altLang="en-US" b="1"/>
              <a:t>진법을 사용하여 모든 연산을 수행함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en-US" altLang="ko-KR" b="1"/>
              <a:t>2) </a:t>
            </a:r>
            <a:r>
              <a:rPr lang="ko-KR" altLang="en-US" b="1"/>
              <a:t>진법의 종류</a:t>
            </a:r>
          </a:p>
        </p:txBody>
      </p:sp>
      <p:graphicFrame>
        <p:nvGraphicFramePr>
          <p:cNvPr id="113730" name="Group 66">
            <a:extLst>
              <a:ext uri="{FF2B5EF4-FFF2-40B4-BE49-F238E27FC236}">
                <a16:creationId xmlns:a16="http://schemas.microsoft.com/office/drawing/2014/main" id="{85DE7C5D-A8E5-4FC4-AA3C-57B3DE2C4E4C}"/>
              </a:ext>
            </a:extLst>
          </p:cNvPr>
          <p:cNvGraphicFramePr>
            <a:graphicFrameLocks noGrp="1"/>
          </p:cNvGraphicFramePr>
          <p:nvPr/>
        </p:nvGraphicFramePr>
        <p:xfrm>
          <a:off x="1258888" y="2708275"/>
          <a:ext cx="7056437" cy="2592388"/>
        </p:xfrm>
        <a:graphic>
          <a:graphicData uri="http://schemas.openxmlformats.org/drawingml/2006/table">
            <a:tbl>
              <a:tblPr/>
              <a:tblGrid>
                <a:gridCol w="180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6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진법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(Binary)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과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두 개의 숫자로 표현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8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진법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(Octal)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0~7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까지의 숫자로 표현하며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진수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리를 묶어서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하나의 수로 표현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진법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(Decimal)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0~9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까지의 숫자로 표현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8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16 </a:t>
                      </a: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진법 </a:t>
                      </a:r>
                      <a:r>
                        <a:rPr kumimoji="1" lang="en-US" altLang="ko-K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(Hexadecimal)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0~9 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까지의 숫자와 </a:t>
                      </a:r>
                      <a:r>
                        <a:rPr kumimoji="1" lang="ko-KR" alt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까지의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 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A~F 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까지의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문자</a:t>
                      </a:r>
                      <a:r>
                        <a:rPr kumimoji="1" lang="en-US" altLang="ko-KR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(10~15)</a:t>
                      </a:r>
                      <a:r>
                        <a:rPr kumimoji="1" lang="ko-KR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까지를 의미 로 표현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1">
            <a:extLst>
              <a:ext uri="{FF2B5EF4-FFF2-40B4-BE49-F238E27FC236}">
                <a16:creationId xmlns:a16="http://schemas.microsoft.com/office/drawing/2014/main" id="{D4F2D6A2-D34E-4C2F-8FD3-DF7D9D858E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328841AF-82B0-43CA-8CB8-B1EC820D9537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graphicFrame>
        <p:nvGraphicFramePr>
          <p:cNvPr id="115179" name="Group 491">
            <a:extLst>
              <a:ext uri="{FF2B5EF4-FFF2-40B4-BE49-F238E27FC236}">
                <a16:creationId xmlns:a16="http://schemas.microsoft.com/office/drawing/2014/main" id="{AC62576C-0D6C-402F-AA0C-D114432DEB1F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1268413"/>
          <a:ext cx="5761037" cy="4938708"/>
        </p:xfrm>
        <a:graphic>
          <a:graphicData uri="http://schemas.openxmlformats.org/drawingml/2006/table">
            <a:tbl>
              <a:tblPr/>
              <a:tblGrid>
                <a:gridCol w="1439862">
                  <a:extLst>
                    <a:ext uri="{9D8B030D-6E8A-4147-A177-3AD203B41FA5}">
                      <a16:colId xmlns:a16="http://schemas.microsoft.com/office/drawing/2014/main" val="1523213408"/>
                    </a:ext>
                  </a:extLst>
                </a:gridCol>
                <a:gridCol w="1439863">
                  <a:extLst>
                    <a:ext uri="{9D8B030D-6E8A-4147-A177-3AD203B41FA5}">
                      <a16:colId xmlns:a16="http://schemas.microsoft.com/office/drawing/2014/main" val="2534538523"/>
                    </a:ext>
                  </a:extLst>
                </a:gridCol>
                <a:gridCol w="1439862">
                  <a:extLst>
                    <a:ext uri="{9D8B030D-6E8A-4147-A177-3AD203B41FA5}">
                      <a16:colId xmlns:a16="http://schemas.microsoft.com/office/drawing/2014/main" val="1526588344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val="2329590139"/>
                    </a:ext>
                  </a:extLst>
                </a:gridCol>
              </a:tblGrid>
              <a:tr h="27435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진법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진법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8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진법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16</a:t>
                      </a:r>
                      <a:r>
                        <a:rPr kumimoji="1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진법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927361"/>
                  </a:ext>
                </a:extLst>
              </a:tr>
              <a:tr h="27435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1131808"/>
                  </a:ext>
                </a:extLst>
              </a:tr>
              <a:tr h="27435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2147"/>
                  </a:ext>
                </a:extLst>
              </a:tr>
              <a:tr h="27435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6225399"/>
                  </a:ext>
                </a:extLst>
              </a:tr>
              <a:tr h="27467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3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352340"/>
                  </a:ext>
                </a:extLst>
              </a:tr>
              <a:tr h="27435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4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100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4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4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515127"/>
                  </a:ext>
                </a:extLst>
              </a:tr>
              <a:tr h="27435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5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101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5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5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419290"/>
                  </a:ext>
                </a:extLst>
              </a:tr>
              <a:tr h="27435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6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110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6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6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259518"/>
                  </a:ext>
                </a:extLst>
              </a:tr>
              <a:tr h="27435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7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111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7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7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22442"/>
                  </a:ext>
                </a:extLst>
              </a:tr>
              <a:tr h="27435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8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1000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8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7804179"/>
                  </a:ext>
                </a:extLst>
              </a:tr>
              <a:tr h="27435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9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1001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9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937314"/>
                  </a:ext>
                </a:extLst>
              </a:tr>
              <a:tr h="27435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1010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12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A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99728"/>
                  </a:ext>
                </a:extLst>
              </a:tr>
              <a:tr h="27435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1011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13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B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5659778"/>
                  </a:ext>
                </a:extLst>
              </a:tr>
              <a:tr h="27435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12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1100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14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C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320284"/>
                  </a:ext>
                </a:extLst>
              </a:tr>
              <a:tr h="27435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13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1101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15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D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0412103"/>
                  </a:ext>
                </a:extLst>
              </a:tr>
              <a:tr h="27435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14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1110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16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E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864463"/>
                  </a:ext>
                </a:extLst>
              </a:tr>
              <a:tr h="27435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15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1111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17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F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2666474"/>
                  </a:ext>
                </a:extLst>
              </a:tr>
              <a:tr h="27435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16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10000 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20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panose="020B0600000101010101" pitchFamily="50" charset="-127"/>
                          <a:ea typeface="굴림" panose="020B0600000101010101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anose="020B0600000101010101" pitchFamily="50" charset="-127"/>
                          <a:ea typeface="굴림" panose="020B0600000101010101" pitchFamily="50" charset="-127"/>
                        </a:rPr>
                        <a:t>10</a:t>
                      </a:r>
                    </a:p>
                  </a:txBody>
                  <a:tcPr marT="45726" marB="45726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29097"/>
                  </a:ext>
                </a:extLst>
              </a:tr>
            </a:tbl>
          </a:graphicData>
        </a:graphic>
      </p:graphicFrame>
      <p:sp>
        <p:nvSpPr>
          <p:cNvPr id="7268" name="Rectangle 473">
            <a:extLst>
              <a:ext uri="{FF2B5EF4-FFF2-40B4-BE49-F238E27FC236}">
                <a16:creationId xmlns:a16="http://schemas.microsoft.com/office/drawing/2014/main" id="{D913AD9A-9697-4E52-8845-0AB8A04C6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765175"/>
            <a:ext cx="27924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3) 10/2/8/16 </a:t>
            </a:r>
            <a:r>
              <a:rPr lang="ko-KR" altLang="en-US" b="1"/>
              <a:t>진법 비교표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번호 개체 틀 1">
            <a:extLst>
              <a:ext uri="{FF2B5EF4-FFF2-40B4-BE49-F238E27FC236}">
                <a16:creationId xmlns:a16="http://schemas.microsoft.com/office/drawing/2014/main" id="{C9148DAA-F7E1-400E-B63E-45E679715B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E215A151-F7F3-494B-BFF7-D870AAEE102D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8195" name="Text Box 4">
            <a:extLst>
              <a:ext uri="{FF2B5EF4-FFF2-40B4-BE49-F238E27FC236}">
                <a16:creationId xmlns:a16="http://schemas.microsoft.com/office/drawing/2014/main" id="{51DC49B2-1051-44D7-9BDE-434221737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8" y="69215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000" b="1"/>
              <a:t>(2) </a:t>
            </a:r>
            <a:r>
              <a:rPr lang="ko-KR" altLang="en-US" sz="2000" b="1"/>
              <a:t>진법 변환</a:t>
            </a:r>
          </a:p>
        </p:txBody>
      </p:sp>
      <p:sp>
        <p:nvSpPr>
          <p:cNvPr id="8196" name="Rectangle 5">
            <a:extLst>
              <a:ext uri="{FF2B5EF4-FFF2-40B4-BE49-F238E27FC236}">
                <a16:creationId xmlns:a16="http://schemas.microsoft.com/office/drawing/2014/main" id="{B4644F24-9A72-402A-BCA3-C6E624B69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125538"/>
            <a:ext cx="7920038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AutoNum type="arabicParenR"/>
            </a:pPr>
            <a:r>
              <a:rPr lang="en-US" altLang="ko-KR" b="1"/>
              <a:t>10</a:t>
            </a:r>
            <a:r>
              <a:rPr lang="ko-KR" altLang="en-US" b="1"/>
              <a:t>진수 ⇨ </a:t>
            </a:r>
            <a:r>
              <a:rPr lang="en-US" altLang="ko-KR" b="1"/>
              <a:t>2</a:t>
            </a:r>
            <a:r>
              <a:rPr lang="ko-KR" altLang="en-US" b="1"/>
              <a:t>진수 </a:t>
            </a:r>
            <a:r>
              <a:rPr lang="en-US" altLang="ko-KR" b="1"/>
              <a:t>/8</a:t>
            </a:r>
            <a:r>
              <a:rPr lang="ko-KR" altLang="en-US" b="1"/>
              <a:t>진수 </a:t>
            </a:r>
            <a:r>
              <a:rPr lang="en-US" altLang="ko-KR" b="1"/>
              <a:t>/16</a:t>
            </a:r>
            <a:r>
              <a:rPr lang="ko-KR" altLang="en-US" b="1"/>
              <a:t>진수</a:t>
            </a:r>
          </a:p>
          <a:p>
            <a:pPr eaLnBrk="1" hangingPunct="1">
              <a:lnSpc>
                <a:spcPct val="120000"/>
              </a:lnSpc>
              <a:buFontTx/>
              <a:buAutoNum type="arabicParenR"/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① 정수 부분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en-US" altLang="ko-KR" b="1"/>
              <a:t>: 10</a:t>
            </a:r>
            <a:r>
              <a:rPr lang="ko-KR" altLang="en-US" b="1"/>
              <a:t>진수의 값을 변환할 진수로 나누어 더 이상 나눠지지 않을 때 까지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나누고 나머지를 역순으로 표시 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② 소수 부분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</a:t>
            </a:r>
            <a:r>
              <a:rPr lang="en-US" altLang="ko-KR" b="1"/>
              <a:t>: 10</a:t>
            </a:r>
            <a:r>
              <a:rPr lang="ko-KR" altLang="en-US" b="1"/>
              <a:t>진수의 값에 변환할 진수를 곱한 후 결과의 정수 부분만을 차례대로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표기하되 소수 부분이 </a:t>
            </a:r>
            <a:r>
              <a:rPr lang="en-US" altLang="ko-KR" b="1"/>
              <a:t>0 </a:t>
            </a:r>
            <a:r>
              <a:rPr lang="ko-KR" altLang="en-US" b="1"/>
              <a:t>또는 반복되는 수가 나올 때까지 곱하기를                     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반복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번호 개체 틀 1">
            <a:extLst>
              <a:ext uri="{FF2B5EF4-FFF2-40B4-BE49-F238E27FC236}">
                <a16:creationId xmlns:a16="http://schemas.microsoft.com/office/drawing/2014/main" id="{D44218F6-A082-4B1D-AA11-AEB0F3BE0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7C967D17-1CC2-4BD6-A19A-6A3711BAF30F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pic>
        <p:nvPicPr>
          <p:cNvPr id="9219" name="Picture 4">
            <a:extLst>
              <a:ext uri="{FF2B5EF4-FFF2-40B4-BE49-F238E27FC236}">
                <a16:creationId xmlns:a16="http://schemas.microsoft.com/office/drawing/2014/main" id="{BF6B75D0-C0B8-45AF-AE2E-E55C067A6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458913"/>
            <a:ext cx="7345362" cy="251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Text Box 5">
            <a:extLst>
              <a:ext uri="{FF2B5EF4-FFF2-40B4-BE49-F238E27FC236}">
                <a16:creationId xmlns:a16="http://schemas.microsoft.com/office/drawing/2014/main" id="{EDD960BE-8E27-43A0-B2FE-A796C0D3D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692150"/>
            <a:ext cx="166687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③ </a:t>
            </a:r>
            <a:r>
              <a:rPr lang="ko-KR" altLang="en-US" b="1"/>
              <a:t>예제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- </a:t>
            </a:r>
            <a:r>
              <a:rPr lang="ko-KR" altLang="en-US" b="1"/>
              <a:t>정수 부분</a:t>
            </a:r>
          </a:p>
        </p:txBody>
      </p:sp>
      <p:sp>
        <p:nvSpPr>
          <p:cNvPr id="9221" name="Text Box 6">
            <a:extLst>
              <a:ext uri="{FF2B5EF4-FFF2-40B4-BE49-F238E27FC236}">
                <a16:creationId xmlns:a16="http://schemas.microsoft.com/office/drawing/2014/main" id="{A294BA48-EC2B-4264-8BE6-CCA5010F56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4016375"/>
            <a:ext cx="1368425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소수 부분</a:t>
            </a:r>
          </a:p>
        </p:txBody>
      </p:sp>
      <p:pic>
        <p:nvPicPr>
          <p:cNvPr id="9222" name="Picture 7">
            <a:extLst>
              <a:ext uri="{FF2B5EF4-FFF2-40B4-BE49-F238E27FC236}">
                <a16:creationId xmlns:a16="http://schemas.microsoft.com/office/drawing/2014/main" id="{BC0CC34D-E261-4704-BF62-F1B3924BE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0963" y="4449763"/>
            <a:ext cx="7351712" cy="165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번호 개체 틀 1">
            <a:extLst>
              <a:ext uri="{FF2B5EF4-FFF2-40B4-BE49-F238E27FC236}">
                <a16:creationId xmlns:a16="http://schemas.microsoft.com/office/drawing/2014/main" id="{9F2739D1-2FED-4F15-A7D7-43FC6CF6DC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4FF99FED-3B04-4961-8C67-19E410ED6687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0243" name="Rectangle 4">
            <a:extLst>
              <a:ext uri="{FF2B5EF4-FFF2-40B4-BE49-F238E27FC236}">
                <a16:creationId xmlns:a16="http://schemas.microsoft.com/office/drawing/2014/main" id="{885D1B03-CED4-4A33-BDD3-AAF88B0128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36613"/>
            <a:ext cx="5832475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- (30.25)</a:t>
            </a:r>
            <a:r>
              <a:rPr lang="en-US" altLang="ko-KR" b="1" baseline="-25000"/>
              <a:t>10</a:t>
            </a:r>
            <a:r>
              <a:rPr lang="en-US" altLang="ko-KR" b="1"/>
              <a:t> = (11110.01)</a:t>
            </a:r>
            <a:r>
              <a:rPr lang="en-US" altLang="ko-KR" b="1" baseline="-25000"/>
              <a:t>2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   = (36.2)</a:t>
            </a:r>
            <a:r>
              <a:rPr lang="en-US" altLang="ko-KR" b="1" baseline="-25000"/>
              <a:t>8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   = (1E.4)</a:t>
            </a:r>
            <a:r>
              <a:rPr lang="en-US" altLang="ko-KR" b="1" baseline="-25000"/>
              <a:t>16</a:t>
            </a:r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슬라이드 번호 개체 틀 1">
            <a:extLst>
              <a:ext uri="{FF2B5EF4-FFF2-40B4-BE49-F238E27FC236}">
                <a16:creationId xmlns:a16="http://schemas.microsoft.com/office/drawing/2014/main" id="{A0CCEFB0-2720-465A-8A5A-CE1F7D6C23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52726A26-DCB3-4719-8F93-90DF427D3752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9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1267" name="Rectangle 4">
            <a:extLst>
              <a:ext uri="{FF2B5EF4-FFF2-40B4-BE49-F238E27FC236}">
                <a16:creationId xmlns:a16="http://schemas.microsoft.com/office/drawing/2014/main" id="{FBE7BF93-E71E-4F28-A790-1A4D086A7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92150"/>
            <a:ext cx="8604250" cy="558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2) 2</a:t>
            </a:r>
            <a:r>
              <a:rPr lang="ko-KR" altLang="en-US" b="1"/>
              <a:t>진수 </a:t>
            </a:r>
            <a:r>
              <a:rPr lang="en-US" altLang="ko-KR" b="1"/>
              <a:t>/ 8</a:t>
            </a:r>
            <a:r>
              <a:rPr lang="ko-KR" altLang="en-US" b="1"/>
              <a:t>진수</a:t>
            </a:r>
            <a:r>
              <a:rPr lang="en-US" altLang="ko-KR" b="1"/>
              <a:t>/ 16</a:t>
            </a:r>
            <a:r>
              <a:rPr lang="ko-KR" altLang="en-US" b="1"/>
              <a:t>진수  ⇨ </a:t>
            </a:r>
            <a:r>
              <a:rPr lang="en-US" altLang="ko-KR" b="1"/>
              <a:t>10</a:t>
            </a:r>
            <a:r>
              <a:rPr lang="ko-KR" altLang="en-US" b="1"/>
              <a:t>진수 </a:t>
            </a:r>
          </a:p>
          <a:p>
            <a:pPr eaLnBrk="1" hangingPunct="1"/>
            <a:endParaRPr lang="ko-KR" altLang="en-US" b="1"/>
          </a:p>
          <a:p>
            <a:pPr eaLnBrk="1" hangingPunct="1"/>
            <a:r>
              <a:rPr lang="ko-KR" altLang="en-US" b="1"/>
              <a:t> ① 정수 부분과 소수 부분을 나누어서 변환하려는 각 진수의 자리 값과 자리의</a:t>
            </a:r>
          </a:p>
          <a:p>
            <a:pPr eaLnBrk="1" hangingPunct="1"/>
            <a:r>
              <a:rPr lang="ko-KR" altLang="en-US" b="1"/>
              <a:t>     지수 승을 곱한 결과 값을 모두 더함</a:t>
            </a:r>
          </a:p>
          <a:p>
            <a:pPr eaLnBrk="1" hangingPunct="1"/>
            <a:endParaRPr lang="ko-KR" altLang="en-US" b="1"/>
          </a:p>
          <a:p>
            <a:pPr eaLnBrk="1" hangingPunct="1"/>
            <a:r>
              <a:rPr lang="ko-KR" altLang="en-US" b="1"/>
              <a:t> ② 예제</a:t>
            </a:r>
          </a:p>
          <a:p>
            <a:pPr eaLnBrk="1" hangingPunct="1"/>
            <a:r>
              <a:rPr lang="ko-KR" altLang="en-US" b="1"/>
              <a:t>     </a:t>
            </a:r>
            <a:r>
              <a:rPr lang="en-US" altLang="ko-KR" b="1"/>
              <a:t>•  (1101.11)</a:t>
            </a:r>
            <a:r>
              <a:rPr lang="en-US" altLang="ko-KR" b="1" baseline="-25000"/>
              <a:t>2</a:t>
            </a:r>
            <a:endParaRPr lang="en-US" altLang="ko-KR" b="1"/>
          </a:p>
          <a:p>
            <a:pPr eaLnBrk="1" hangingPunct="1"/>
            <a:r>
              <a:rPr lang="en-US" altLang="ko-KR" b="1"/>
              <a:t>        = 1×2</a:t>
            </a:r>
            <a:r>
              <a:rPr lang="en-US" altLang="ko-KR" b="1" baseline="30000"/>
              <a:t>3</a:t>
            </a:r>
            <a:r>
              <a:rPr lang="en-US" altLang="ko-KR" b="1"/>
              <a:t>+ 1×2</a:t>
            </a:r>
            <a:r>
              <a:rPr lang="en-US" altLang="ko-KR" b="1" baseline="30000"/>
              <a:t>2</a:t>
            </a:r>
            <a:r>
              <a:rPr lang="en-US" altLang="ko-KR" b="1"/>
              <a:t> + 0×2</a:t>
            </a:r>
            <a:r>
              <a:rPr lang="en-US" altLang="ko-KR" b="1" baseline="30000"/>
              <a:t>1</a:t>
            </a:r>
            <a:r>
              <a:rPr lang="en-US" altLang="ko-KR" b="1"/>
              <a:t> + 1×2</a:t>
            </a:r>
            <a:r>
              <a:rPr lang="en-US" altLang="ko-KR" b="1" baseline="30000"/>
              <a:t>0</a:t>
            </a:r>
            <a:r>
              <a:rPr lang="en-US" altLang="ko-KR" b="1"/>
              <a:t> + 1×2</a:t>
            </a:r>
            <a:r>
              <a:rPr lang="en-US" altLang="ko-KR" b="1" baseline="30000"/>
              <a:t>-1</a:t>
            </a:r>
            <a:r>
              <a:rPr lang="en-US" altLang="ko-KR" b="1"/>
              <a:t> + 1×2</a:t>
            </a:r>
            <a:r>
              <a:rPr lang="en-US" altLang="ko-KR" b="1" baseline="30000"/>
              <a:t>-2</a:t>
            </a:r>
          </a:p>
          <a:p>
            <a:pPr eaLnBrk="1" hangingPunct="1"/>
            <a:r>
              <a:rPr lang="en-US" altLang="ko-KR" b="1"/>
              <a:t>        = 8 + 4 + 0 + 1 + 0.5 + 0.25</a:t>
            </a:r>
          </a:p>
          <a:p>
            <a:pPr eaLnBrk="1" hangingPunct="1"/>
            <a:r>
              <a:rPr lang="en-US" altLang="ko-KR" b="1"/>
              <a:t>        = 13.75</a:t>
            </a:r>
          </a:p>
          <a:p>
            <a:pPr eaLnBrk="1" hangingPunct="1"/>
            <a:endParaRPr lang="en-US" altLang="ko-KR" b="1"/>
          </a:p>
          <a:p>
            <a:pPr eaLnBrk="1" hangingPunct="1"/>
            <a:r>
              <a:rPr lang="en-US" altLang="ko-KR" b="1"/>
              <a:t>     • (23.32)</a:t>
            </a:r>
            <a:r>
              <a:rPr lang="en-US" altLang="ko-KR" b="1" baseline="-25000"/>
              <a:t>8</a:t>
            </a:r>
            <a:endParaRPr lang="en-US" altLang="ko-KR" b="1"/>
          </a:p>
          <a:p>
            <a:pPr eaLnBrk="1" hangingPunct="1"/>
            <a:r>
              <a:rPr lang="en-US" altLang="ko-KR" b="1"/>
              <a:t>        = 2×8</a:t>
            </a:r>
            <a:r>
              <a:rPr lang="en-US" altLang="ko-KR" b="1" baseline="30000"/>
              <a:t>1</a:t>
            </a:r>
            <a:r>
              <a:rPr lang="en-US" altLang="ko-KR" b="1"/>
              <a:t> + 3×8</a:t>
            </a:r>
            <a:r>
              <a:rPr lang="en-US" altLang="ko-KR" b="1" baseline="30000"/>
              <a:t>0</a:t>
            </a:r>
            <a:r>
              <a:rPr lang="en-US" altLang="ko-KR" b="1"/>
              <a:t> + 3×8</a:t>
            </a:r>
            <a:r>
              <a:rPr lang="en-US" altLang="ko-KR" b="1" baseline="30000"/>
              <a:t>-1</a:t>
            </a:r>
            <a:r>
              <a:rPr lang="en-US" altLang="ko-KR" b="1"/>
              <a:t> + 2×8</a:t>
            </a:r>
            <a:r>
              <a:rPr lang="en-US" altLang="ko-KR" b="1" baseline="30000"/>
              <a:t>-2</a:t>
            </a:r>
          </a:p>
          <a:p>
            <a:pPr eaLnBrk="1" hangingPunct="1"/>
            <a:r>
              <a:rPr lang="en-US" altLang="ko-KR" b="1"/>
              <a:t>        = 16 + 3 + 0.375 + 0.03125</a:t>
            </a:r>
          </a:p>
          <a:p>
            <a:pPr eaLnBrk="1" hangingPunct="1"/>
            <a:r>
              <a:rPr lang="en-US" altLang="ko-KR" b="1"/>
              <a:t>        = 19.40625</a:t>
            </a:r>
          </a:p>
          <a:p>
            <a:pPr eaLnBrk="1" hangingPunct="1"/>
            <a:endParaRPr lang="en-US" altLang="ko-KR" b="1"/>
          </a:p>
          <a:p>
            <a:pPr eaLnBrk="1" hangingPunct="1"/>
            <a:r>
              <a:rPr lang="en-US" altLang="ko-KR" b="1"/>
              <a:t>     • (4F.2)</a:t>
            </a:r>
            <a:r>
              <a:rPr lang="en-US" altLang="ko-KR" b="1" baseline="-25000"/>
              <a:t>16</a:t>
            </a:r>
          </a:p>
          <a:p>
            <a:pPr eaLnBrk="1" hangingPunct="1"/>
            <a:r>
              <a:rPr lang="en-US" altLang="ko-KR" b="1"/>
              <a:t>        = 4×16</a:t>
            </a:r>
            <a:r>
              <a:rPr lang="en-US" altLang="ko-KR" b="1" baseline="30000"/>
              <a:t>1</a:t>
            </a:r>
            <a:r>
              <a:rPr lang="en-US" altLang="ko-KR" b="1"/>
              <a:t> + F×16</a:t>
            </a:r>
            <a:r>
              <a:rPr lang="en-US" altLang="ko-KR" b="1" baseline="30000"/>
              <a:t>0</a:t>
            </a:r>
            <a:r>
              <a:rPr lang="en-US" altLang="ko-KR" b="1"/>
              <a:t> + 2×16</a:t>
            </a:r>
            <a:r>
              <a:rPr lang="en-US" altLang="ko-KR" b="1" baseline="30000"/>
              <a:t>-1</a:t>
            </a:r>
          </a:p>
          <a:p>
            <a:pPr eaLnBrk="1" hangingPunct="1"/>
            <a:r>
              <a:rPr lang="en-US" altLang="ko-KR" b="1"/>
              <a:t>        = 64 + 15 + 0.125</a:t>
            </a:r>
          </a:p>
          <a:p>
            <a:pPr eaLnBrk="1" hangingPunct="1"/>
            <a:r>
              <a:rPr lang="en-US" altLang="ko-KR" b="1"/>
              <a:t>        = 79.125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번호 개체 틀 1">
            <a:extLst>
              <a:ext uri="{FF2B5EF4-FFF2-40B4-BE49-F238E27FC236}">
                <a16:creationId xmlns:a16="http://schemas.microsoft.com/office/drawing/2014/main" id="{FFAC06AB-AAFF-41C7-B909-0CAE76AFD3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4DAE6000-F6F3-486A-ACDD-F04F7736AD4A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10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2291" name="Rectangle 4">
            <a:extLst>
              <a:ext uri="{FF2B5EF4-FFF2-40B4-BE49-F238E27FC236}">
                <a16:creationId xmlns:a16="http://schemas.microsoft.com/office/drawing/2014/main" id="{58F79BD3-AAC8-4DC2-A9F1-E7210F56C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836613"/>
            <a:ext cx="38592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3) 2</a:t>
            </a:r>
            <a:r>
              <a:rPr lang="ko-KR" altLang="en-US" b="1"/>
              <a:t>진수 </a:t>
            </a:r>
            <a:r>
              <a:rPr lang="en-US" altLang="ko-KR" b="1"/>
              <a:t>/ 8</a:t>
            </a:r>
            <a:r>
              <a:rPr lang="ko-KR" altLang="en-US" b="1"/>
              <a:t>진수 </a:t>
            </a:r>
            <a:r>
              <a:rPr lang="en-US" altLang="ko-KR" b="1"/>
              <a:t>/ 16</a:t>
            </a:r>
            <a:r>
              <a:rPr lang="ko-KR" altLang="en-US" b="1"/>
              <a:t>진수 상호 변환</a:t>
            </a:r>
          </a:p>
        </p:txBody>
      </p:sp>
      <p:sp>
        <p:nvSpPr>
          <p:cNvPr id="12292" name="Text Box 7">
            <a:extLst>
              <a:ext uri="{FF2B5EF4-FFF2-40B4-BE49-F238E27FC236}">
                <a16:creationId xmlns:a16="http://schemas.microsoft.com/office/drawing/2014/main" id="{BF656DB5-5317-4CDF-ABB2-CFAE37CB7E7E}"/>
              </a:ext>
            </a:extLst>
          </p:cNvPr>
          <p:cNvSpPr txBox="1">
            <a:spLocks noChangeArrowheads="1"/>
          </p:cNvSpPr>
          <p:nvPr/>
        </p:nvSpPr>
        <p:spPr bwMode="auto">
          <a:xfrm rot="3016798">
            <a:off x="4719638" y="2768600"/>
            <a:ext cx="25304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/>
              <a:t>2</a:t>
            </a:r>
            <a:r>
              <a:rPr lang="ko-KR" altLang="en-US" sz="1400" b="1"/>
              <a:t>진수 </a:t>
            </a:r>
            <a:r>
              <a:rPr lang="en-US" altLang="ko-KR" sz="1400" b="1"/>
              <a:t>4</a:t>
            </a:r>
            <a:r>
              <a:rPr lang="ko-KR" altLang="en-US" sz="1400" b="1"/>
              <a:t>자리를</a:t>
            </a:r>
          </a:p>
          <a:p>
            <a:pPr algn="ctr" eaLnBrk="1" hangingPunct="1"/>
            <a:r>
              <a:rPr lang="en-US" altLang="ko-KR" sz="1400" b="1"/>
              <a:t>16</a:t>
            </a:r>
            <a:r>
              <a:rPr lang="ko-KR" altLang="en-US" sz="1400" b="1"/>
              <a:t>진수 </a:t>
            </a:r>
            <a:r>
              <a:rPr lang="en-US" altLang="ko-KR" sz="1400" b="1"/>
              <a:t>1</a:t>
            </a:r>
            <a:r>
              <a:rPr lang="ko-KR" altLang="en-US" sz="1400" b="1"/>
              <a:t>자리로 표현</a:t>
            </a:r>
          </a:p>
        </p:txBody>
      </p:sp>
      <p:sp>
        <p:nvSpPr>
          <p:cNvPr id="12293" name="Oval 8">
            <a:extLst>
              <a:ext uri="{FF2B5EF4-FFF2-40B4-BE49-F238E27FC236}">
                <a16:creationId xmlns:a16="http://schemas.microsoft.com/office/drawing/2014/main" id="{9D00AC42-75EE-41E9-AD37-1E9D5EF6F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1412875"/>
            <a:ext cx="863600" cy="863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b="1"/>
              <a:t>2</a:t>
            </a:r>
            <a:r>
              <a:rPr lang="ko-KR" altLang="en-US" b="1"/>
              <a:t>진수</a:t>
            </a:r>
          </a:p>
        </p:txBody>
      </p:sp>
      <p:sp>
        <p:nvSpPr>
          <p:cNvPr id="12294" name="Oval 10">
            <a:extLst>
              <a:ext uri="{FF2B5EF4-FFF2-40B4-BE49-F238E27FC236}">
                <a16:creationId xmlns:a16="http://schemas.microsoft.com/office/drawing/2014/main" id="{9A420C24-0C59-4B49-A4A0-DC43D785EE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4508500"/>
            <a:ext cx="863600" cy="863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b="1"/>
              <a:t>8</a:t>
            </a:r>
            <a:r>
              <a:rPr lang="ko-KR" altLang="en-US" b="1"/>
              <a:t>진수</a:t>
            </a:r>
          </a:p>
        </p:txBody>
      </p:sp>
      <p:sp>
        <p:nvSpPr>
          <p:cNvPr id="12295" name="Oval 11">
            <a:extLst>
              <a:ext uri="{FF2B5EF4-FFF2-40B4-BE49-F238E27FC236}">
                <a16:creationId xmlns:a16="http://schemas.microsoft.com/office/drawing/2014/main" id="{58139161-D5D4-4E83-BA53-705C73827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4437063"/>
            <a:ext cx="863600" cy="863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b="1"/>
              <a:t>16</a:t>
            </a:r>
            <a:r>
              <a:rPr lang="ko-KR" altLang="en-US" b="1"/>
              <a:t>진수</a:t>
            </a:r>
          </a:p>
        </p:txBody>
      </p:sp>
      <p:sp>
        <p:nvSpPr>
          <p:cNvPr id="12296" name="Line 12">
            <a:extLst>
              <a:ext uri="{FF2B5EF4-FFF2-40B4-BE49-F238E27FC236}">
                <a16:creationId xmlns:a16="http://schemas.microsoft.com/office/drawing/2014/main" id="{EACBA267-80C3-40C7-BD6B-46084A54D1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39975" y="2276475"/>
            <a:ext cx="1584325" cy="2305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7" name="Line 13">
            <a:extLst>
              <a:ext uri="{FF2B5EF4-FFF2-40B4-BE49-F238E27FC236}">
                <a16:creationId xmlns:a16="http://schemas.microsoft.com/office/drawing/2014/main" id="{78C77B41-0F8B-4675-B89D-F6C8C50504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8538" y="2132013"/>
            <a:ext cx="1584325" cy="2305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8" name="Line 16">
            <a:extLst>
              <a:ext uri="{FF2B5EF4-FFF2-40B4-BE49-F238E27FC236}">
                <a16:creationId xmlns:a16="http://schemas.microsoft.com/office/drawing/2014/main" id="{886FDA34-2A7A-4941-B84D-1AAC610883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1388" y="2060575"/>
            <a:ext cx="1871662" cy="2305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299" name="Line 17">
            <a:extLst>
              <a:ext uri="{FF2B5EF4-FFF2-40B4-BE49-F238E27FC236}">
                <a16:creationId xmlns:a16="http://schemas.microsoft.com/office/drawing/2014/main" id="{DBEF9494-218E-44B5-A35D-55441A2644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2133600"/>
            <a:ext cx="1871662" cy="2305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300" name="Line 18">
            <a:extLst>
              <a:ext uri="{FF2B5EF4-FFF2-40B4-BE49-F238E27FC236}">
                <a16:creationId xmlns:a16="http://schemas.microsoft.com/office/drawing/2014/main" id="{1FA53BBB-1BC6-459E-8AD7-DDB8F79565A3}"/>
              </a:ext>
            </a:extLst>
          </p:cNvPr>
          <p:cNvSpPr>
            <a:spLocks noChangeShapeType="1"/>
          </p:cNvSpPr>
          <p:nvPr/>
        </p:nvSpPr>
        <p:spPr bwMode="auto">
          <a:xfrm>
            <a:off x="2463800" y="4924425"/>
            <a:ext cx="3889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301" name="Line 19">
            <a:extLst>
              <a:ext uri="{FF2B5EF4-FFF2-40B4-BE49-F238E27FC236}">
                <a16:creationId xmlns:a16="http://schemas.microsoft.com/office/drawing/2014/main" id="{3A4A1740-CDAD-4BF5-B7B8-AF7F8529D6D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8875" y="5067300"/>
            <a:ext cx="3889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12302" name="Text Box 20">
            <a:extLst>
              <a:ext uri="{FF2B5EF4-FFF2-40B4-BE49-F238E27FC236}">
                <a16:creationId xmlns:a16="http://schemas.microsoft.com/office/drawing/2014/main" id="{31CCB3BF-1AC4-4897-BC8E-E2793D9E0A5E}"/>
              </a:ext>
            </a:extLst>
          </p:cNvPr>
          <p:cNvSpPr txBox="1">
            <a:spLocks noChangeArrowheads="1"/>
          </p:cNvSpPr>
          <p:nvPr/>
        </p:nvSpPr>
        <p:spPr bwMode="auto">
          <a:xfrm rot="3016798">
            <a:off x="4068763" y="3275012"/>
            <a:ext cx="26035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/>
              <a:t>16</a:t>
            </a:r>
            <a:r>
              <a:rPr lang="ko-KR" altLang="en-US" sz="1400" b="1"/>
              <a:t>진수 </a:t>
            </a:r>
            <a:r>
              <a:rPr lang="en-US" altLang="ko-KR" sz="1400" b="1"/>
              <a:t>1</a:t>
            </a:r>
            <a:r>
              <a:rPr lang="ko-KR" altLang="en-US" sz="1400" b="1"/>
              <a:t>자리를</a:t>
            </a:r>
          </a:p>
          <a:p>
            <a:pPr algn="ctr" eaLnBrk="1" hangingPunct="1"/>
            <a:r>
              <a:rPr lang="en-US" altLang="ko-KR" sz="1400" b="1"/>
              <a:t>2</a:t>
            </a:r>
            <a:r>
              <a:rPr lang="ko-KR" altLang="en-US" sz="1400" b="1"/>
              <a:t>진수 </a:t>
            </a:r>
            <a:r>
              <a:rPr lang="en-US" altLang="ko-KR" sz="1400" b="1"/>
              <a:t>4</a:t>
            </a:r>
            <a:r>
              <a:rPr lang="ko-KR" altLang="en-US" sz="1400" b="1"/>
              <a:t>자리로 표현</a:t>
            </a:r>
          </a:p>
        </p:txBody>
      </p:sp>
      <p:sp>
        <p:nvSpPr>
          <p:cNvPr id="12303" name="Text Box 21">
            <a:extLst>
              <a:ext uri="{FF2B5EF4-FFF2-40B4-BE49-F238E27FC236}">
                <a16:creationId xmlns:a16="http://schemas.microsoft.com/office/drawing/2014/main" id="{C01829B4-4F2E-41BC-95C0-1E4CF368E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4292600"/>
            <a:ext cx="2306637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/>
              <a:t>8</a:t>
            </a:r>
            <a:r>
              <a:rPr lang="ko-KR" altLang="en-US" sz="1400" b="1"/>
              <a:t>진수를 </a:t>
            </a:r>
            <a:r>
              <a:rPr lang="en-US" altLang="ko-KR" sz="1400" b="1"/>
              <a:t>2</a:t>
            </a:r>
            <a:r>
              <a:rPr lang="ko-KR" altLang="en-US" sz="1400" b="1"/>
              <a:t>진수로 표현한 후</a:t>
            </a:r>
          </a:p>
          <a:p>
            <a:pPr algn="ctr" eaLnBrk="1" hangingPunct="1"/>
            <a:r>
              <a:rPr lang="en-US" altLang="ko-KR" sz="1400" b="1"/>
              <a:t>2</a:t>
            </a:r>
            <a:r>
              <a:rPr lang="ko-KR" altLang="en-US" sz="1400" b="1"/>
              <a:t>진수를 </a:t>
            </a:r>
            <a:r>
              <a:rPr lang="en-US" altLang="ko-KR" sz="1400" b="1"/>
              <a:t>16</a:t>
            </a:r>
            <a:r>
              <a:rPr lang="ko-KR" altLang="en-US" sz="1400" b="1"/>
              <a:t>진수로 표현</a:t>
            </a:r>
          </a:p>
        </p:txBody>
      </p:sp>
      <p:sp>
        <p:nvSpPr>
          <p:cNvPr id="12304" name="Text Box 22">
            <a:extLst>
              <a:ext uri="{FF2B5EF4-FFF2-40B4-BE49-F238E27FC236}">
                <a16:creationId xmlns:a16="http://schemas.microsoft.com/office/drawing/2014/main" id="{0B084AD2-2766-469F-9068-A06C26733A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5157788"/>
            <a:ext cx="240665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/>
              <a:t>16</a:t>
            </a:r>
            <a:r>
              <a:rPr lang="ko-KR" altLang="en-US" sz="1400" b="1"/>
              <a:t>진수를 </a:t>
            </a:r>
            <a:r>
              <a:rPr lang="en-US" altLang="ko-KR" sz="1400" b="1"/>
              <a:t>2</a:t>
            </a:r>
            <a:r>
              <a:rPr lang="ko-KR" altLang="en-US" sz="1400" b="1"/>
              <a:t>진수로 표현한 후</a:t>
            </a:r>
          </a:p>
          <a:p>
            <a:pPr algn="ctr" eaLnBrk="1" hangingPunct="1"/>
            <a:r>
              <a:rPr lang="en-US" altLang="ko-KR" sz="1400" b="1"/>
              <a:t>2</a:t>
            </a:r>
            <a:r>
              <a:rPr lang="ko-KR" altLang="en-US" sz="1400" b="1"/>
              <a:t>진수를 </a:t>
            </a:r>
            <a:r>
              <a:rPr lang="en-US" altLang="ko-KR" sz="1400" b="1"/>
              <a:t>8</a:t>
            </a:r>
            <a:r>
              <a:rPr lang="ko-KR" altLang="en-US" sz="1400" b="1"/>
              <a:t>진수로 표현</a:t>
            </a:r>
          </a:p>
        </p:txBody>
      </p:sp>
      <p:sp>
        <p:nvSpPr>
          <p:cNvPr id="12305" name="Text Box 23">
            <a:extLst>
              <a:ext uri="{FF2B5EF4-FFF2-40B4-BE49-F238E27FC236}">
                <a16:creationId xmlns:a16="http://schemas.microsoft.com/office/drawing/2014/main" id="{863A78F9-84AE-4CED-B4CF-DCDC529710B7}"/>
              </a:ext>
            </a:extLst>
          </p:cNvPr>
          <p:cNvSpPr txBox="1">
            <a:spLocks noChangeArrowheads="1"/>
          </p:cNvSpPr>
          <p:nvPr/>
        </p:nvSpPr>
        <p:spPr bwMode="auto">
          <a:xfrm rot="-3316893">
            <a:off x="1492250" y="2841625"/>
            <a:ext cx="25304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/>
              <a:t>8</a:t>
            </a:r>
            <a:r>
              <a:rPr lang="ko-KR" altLang="en-US" sz="1400" b="1"/>
              <a:t>진수 </a:t>
            </a:r>
            <a:r>
              <a:rPr lang="en-US" altLang="ko-KR" sz="1400" b="1"/>
              <a:t>1</a:t>
            </a:r>
            <a:r>
              <a:rPr lang="ko-KR" altLang="en-US" sz="1400" b="1"/>
              <a:t>자리를</a:t>
            </a:r>
          </a:p>
          <a:p>
            <a:pPr algn="ctr" eaLnBrk="1" hangingPunct="1"/>
            <a:r>
              <a:rPr lang="en-US" altLang="ko-KR" sz="1400" b="1"/>
              <a:t>2</a:t>
            </a:r>
            <a:r>
              <a:rPr lang="ko-KR" altLang="en-US" sz="1400" b="1"/>
              <a:t>진수 </a:t>
            </a:r>
            <a:r>
              <a:rPr lang="en-US" altLang="ko-KR" sz="1400" b="1"/>
              <a:t>3</a:t>
            </a:r>
            <a:r>
              <a:rPr lang="ko-KR" altLang="en-US" sz="1400" b="1"/>
              <a:t>자리로 표현</a:t>
            </a:r>
          </a:p>
        </p:txBody>
      </p:sp>
      <p:sp>
        <p:nvSpPr>
          <p:cNvPr id="12306" name="Text Box 24">
            <a:extLst>
              <a:ext uri="{FF2B5EF4-FFF2-40B4-BE49-F238E27FC236}">
                <a16:creationId xmlns:a16="http://schemas.microsoft.com/office/drawing/2014/main" id="{23AF784D-0BF7-4C70-B93A-513C55105545}"/>
              </a:ext>
            </a:extLst>
          </p:cNvPr>
          <p:cNvSpPr txBox="1">
            <a:spLocks noChangeArrowheads="1"/>
          </p:cNvSpPr>
          <p:nvPr/>
        </p:nvSpPr>
        <p:spPr bwMode="auto">
          <a:xfrm rot="-3317706">
            <a:off x="2125663" y="3273425"/>
            <a:ext cx="253047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en-US" altLang="ko-KR" sz="1400" b="1"/>
              <a:t>2</a:t>
            </a:r>
            <a:r>
              <a:rPr lang="ko-KR" altLang="en-US" sz="1400" b="1"/>
              <a:t>진수 </a:t>
            </a:r>
            <a:r>
              <a:rPr lang="en-US" altLang="ko-KR" sz="1400" b="1"/>
              <a:t>3</a:t>
            </a:r>
            <a:r>
              <a:rPr lang="ko-KR" altLang="en-US" sz="1400" b="1"/>
              <a:t>자리를</a:t>
            </a:r>
          </a:p>
          <a:p>
            <a:pPr algn="ctr" eaLnBrk="1" hangingPunct="1"/>
            <a:r>
              <a:rPr lang="en-US" altLang="ko-KR" sz="1400" b="1"/>
              <a:t>8</a:t>
            </a:r>
            <a:r>
              <a:rPr lang="ko-KR" altLang="en-US" sz="1400" b="1"/>
              <a:t>진수 </a:t>
            </a:r>
            <a:r>
              <a:rPr lang="en-US" altLang="ko-KR" sz="1400" b="1"/>
              <a:t>1</a:t>
            </a:r>
            <a:r>
              <a:rPr lang="ko-KR" altLang="en-US" sz="1400" b="1"/>
              <a:t>자리로 표현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슬라이드 번호 개체 틀 1">
            <a:extLst>
              <a:ext uri="{FF2B5EF4-FFF2-40B4-BE49-F238E27FC236}">
                <a16:creationId xmlns:a16="http://schemas.microsoft.com/office/drawing/2014/main" id="{3BDCFD1F-3B0F-4C97-9279-BB387EAE0A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59D360C5-E917-48DF-BA7E-6B5B924EE405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11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3315" name="Rectangle 4">
            <a:extLst>
              <a:ext uri="{FF2B5EF4-FFF2-40B4-BE49-F238E27FC236}">
                <a16:creationId xmlns:a16="http://schemas.microsoft.com/office/drawing/2014/main" id="{373D90EE-017E-4DF5-B46C-B9DA847E4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796925"/>
            <a:ext cx="8064500" cy="306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① 2</a:t>
            </a:r>
            <a:r>
              <a:rPr lang="ko-KR" altLang="en-US" b="1"/>
              <a:t>진수 ⇨ </a:t>
            </a:r>
            <a:r>
              <a:rPr lang="en-US" altLang="ko-KR" b="1"/>
              <a:t>8</a:t>
            </a:r>
            <a:r>
              <a:rPr lang="ko-KR" altLang="en-US" b="1"/>
              <a:t>진수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정수 부분은 소수점을 기준으로 왼쪽 방향으로 </a:t>
            </a:r>
            <a:r>
              <a:rPr lang="en-US" altLang="ko-KR" b="1"/>
              <a:t>3</a:t>
            </a:r>
            <a:r>
              <a:rPr lang="ko-KR" altLang="en-US" b="1"/>
              <a:t>자리씩 </a:t>
            </a:r>
            <a:r>
              <a:rPr lang="en-US" altLang="ko-KR" b="1"/>
              <a:t>,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</a:t>
            </a:r>
            <a:r>
              <a:rPr lang="ko-KR" altLang="en-US" b="1"/>
              <a:t>소수 부분은 소수점을 기준으로 오른쪽 방향으로 </a:t>
            </a:r>
            <a:r>
              <a:rPr lang="en-US" altLang="ko-KR" b="1"/>
              <a:t>3</a:t>
            </a:r>
            <a:r>
              <a:rPr lang="ko-KR" altLang="en-US" b="1"/>
              <a:t>자리씩 묶어서 변환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※ </a:t>
            </a:r>
            <a:r>
              <a:rPr lang="ko-KR" altLang="en-US" b="1"/>
              <a:t>소수 부분의 자릿수가 부족할 경우 </a:t>
            </a:r>
            <a:r>
              <a:rPr lang="en-US" altLang="ko-KR" b="1"/>
              <a:t>0</a:t>
            </a:r>
            <a:r>
              <a:rPr lang="ko-KR" altLang="en-US" b="1"/>
              <a:t>으로 채워서 자리 수를 맞춤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(111010011.10111)</a:t>
            </a:r>
            <a:r>
              <a:rPr lang="en-US" altLang="ko-KR" b="1" baseline="-25000"/>
              <a:t>2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111  010  011 . 101 11</a:t>
            </a:r>
            <a:r>
              <a:rPr lang="en-US" altLang="ko-KR" b="1">
                <a:solidFill>
                  <a:srgbClr val="FF0000"/>
                </a:solidFill>
              </a:rPr>
              <a:t>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7     2      3  .   5     6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(111010011.10110)</a:t>
            </a:r>
            <a:r>
              <a:rPr lang="en-US" altLang="ko-KR" b="1" baseline="-25000"/>
              <a:t>2</a:t>
            </a:r>
            <a:r>
              <a:rPr lang="en-US" altLang="ko-KR" b="1"/>
              <a:t> = (723.56)</a:t>
            </a:r>
            <a:r>
              <a:rPr lang="en-US" altLang="ko-KR" b="1" baseline="-25000"/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번호 개체 틀 1">
            <a:extLst>
              <a:ext uri="{FF2B5EF4-FFF2-40B4-BE49-F238E27FC236}">
                <a16:creationId xmlns:a16="http://schemas.microsoft.com/office/drawing/2014/main" id="{DD2FDF3C-8CE8-4745-9E49-DE8D55C0FC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3BDE6ED0-DA7F-41A1-990E-B6520B120DC9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4339" name="Rectangle 4">
            <a:extLst>
              <a:ext uri="{FF2B5EF4-FFF2-40B4-BE49-F238E27FC236}">
                <a16:creationId xmlns:a16="http://schemas.microsoft.com/office/drawing/2014/main" id="{32EF67D0-9B20-4B2E-9F55-FE880926E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692150"/>
            <a:ext cx="8064500" cy="537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② 2</a:t>
            </a:r>
            <a:r>
              <a:rPr lang="ko-KR" altLang="en-US" b="1"/>
              <a:t>진수 ⇨ </a:t>
            </a:r>
            <a:r>
              <a:rPr lang="en-US" altLang="ko-KR" b="1"/>
              <a:t>16</a:t>
            </a:r>
            <a:r>
              <a:rPr lang="ko-KR" altLang="en-US" b="1"/>
              <a:t>진수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>
                <a:latin typeface="Arial" panose="020B0604020202020204" pitchFamily="34" charset="0"/>
              </a:rPr>
              <a:t>•</a:t>
            </a:r>
            <a:r>
              <a:rPr lang="en-US" altLang="ko-KR" b="1"/>
              <a:t> </a:t>
            </a:r>
            <a:r>
              <a:rPr lang="ko-KR" altLang="en-US" b="1"/>
              <a:t>정수 부분은 소수점을 기준으로 왼쪽 방향으로 </a:t>
            </a:r>
            <a:r>
              <a:rPr lang="en-US" altLang="ko-KR" b="1"/>
              <a:t>4</a:t>
            </a:r>
            <a:r>
              <a:rPr lang="ko-KR" altLang="en-US" b="1"/>
              <a:t>자리씩</a:t>
            </a:r>
            <a:r>
              <a:rPr lang="en-US" altLang="ko-KR" b="1"/>
              <a:t>,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</a:t>
            </a:r>
            <a:r>
              <a:rPr lang="ko-KR" altLang="en-US" b="1"/>
              <a:t>소수 부분은 소수점을 기준으로 오른쪽 방향으로 </a:t>
            </a:r>
            <a:r>
              <a:rPr lang="en-US" altLang="ko-KR" b="1"/>
              <a:t>4</a:t>
            </a:r>
            <a:r>
              <a:rPr lang="ko-KR" altLang="en-US" b="1"/>
              <a:t>자리씩 묶어서 변환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</a:t>
            </a:r>
            <a:r>
              <a:rPr lang="en-US" altLang="ko-KR" b="1"/>
              <a:t>※ </a:t>
            </a:r>
            <a:r>
              <a:rPr lang="ko-KR" altLang="en-US" b="1"/>
              <a:t>소수 부분의 자릿수가 부족할 경우 </a:t>
            </a:r>
            <a:r>
              <a:rPr lang="en-US" altLang="ko-KR" b="1"/>
              <a:t>0</a:t>
            </a:r>
            <a:r>
              <a:rPr lang="ko-KR" altLang="en-US" b="1"/>
              <a:t>으로 채워서 자리 수를 맞춤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>
                <a:latin typeface="Arial" panose="020B0604020202020204" pitchFamily="34" charset="0"/>
              </a:rPr>
              <a:t>•</a:t>
            </a:r>
            <a:r>
              <a:rPr lang="en-US" altLang="ko-KR" b="1"/>
              <a:t> (111010011.10111)</a:t>
            </a:r>
            <a:r>
              <a:rPr lang="en-US" altLang="ko-KR" b="1" baseline="-25000"/>
              <a:t>2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1  1101  0011 . 1011  1</a:t>
            </a:r>
            <a:r>
              <a:rPr lang="en-US" altLang="ko-KR" b="1">
                <a:solidFill>
                  <a:srgbClr val="FF0000"/>
                </a:solidFill>
              </a:rPr>
              <a:t>000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1    13      3    .   11      8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(D)              (B)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(111010011.10111)2 = (1D3.B8)</a:t>
            </a:r>
            <a:r>
              <a:rPr lang="en-US" altLang="ko-KR" b="1" baseline="-25000"/>
              <a:t>16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③ 8</a:t>
            </a:r>
            <a:r>
              <a:rPr lang="ko-KR" altLang="en-US" b="1"/>
              <a:t>진수 ⇨  </a:t>
            </a:r>
            <a:r>
              <a:rPr lang="en-US" altLang="ko-KR" b="1"/>
              <a:t>2</a:t>
            </a:r>
            <a:r>
              <a:rPr lang="ko-KR" altLang="en-US" b="1"/>
              <a:t>진수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>
                <a:latin typeface="Arial" panose="020B0604020202020204" pitchFamily="34" charset="0"/>
              </a:rPr>
              <a:t>•</a:t>
            </a:r>
            <a:r>
              <a:rPr lang="en-US" altLang="ko-KR" b="1"/>
              <a:t> 8</a:t>
            </a:r>
            <a:r>
              <a:rPr lang="ko-KR" altLang="en-US" b="1"/>
              <a:t>진수 </a:t>
            </a:r>
            <a:r>
              <a:rPr lang="en-US" altLang="ko-KR" b="1"/>
              <a:t>1</a:t>
            </a:r>
            <a:r>
              <a:rPr lang="ko-KR" altLang="en-US" b="1"/>
              <a:t>자리는 </a:t>
            </a:r>
            <a:r>
              <a:rPr lang="en-US" altLang="ko-KR" b="1"/>
              <a:t>2</a:t>
            </a:r>
            <a:r>
              <a:rPr lang="ko-KR" altLang="en-US" b="1"/>
              <a:t>진수 </a:t>
            </a:r>
            <a:r>
              <a:rPr lang="en-US" altLang="ko-KR" b="1"/>
              <a:t>3</a:t>
            </a:r>
            <a:r>
              <a:rPr lang="ko-KR" altLang="en-US" b="1"/>
              <a:t>비트로 풀어서 변환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※ </a:t>
            </a:r>
            <a:r>
              <a:rPr lang="ko-KR" altLang="en-US" b="1"/>
              <a:t>무효의 </a:t>
            </a:r>
            <a:r>
              <a:rPr lang="en-US" altLang="ko-KR" b="1"/>
              <a:t>0</a:t>
            </a:r>
            <a:r>
              <a:rPr lang="ko-KR" altLang="en-US" b="1"/>
              <a:t>은 무시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>
                <a:latin typeface="Arial" panose="020B0604020202020204" pitchFamily="34" charset="0"/>
              </a:rPr>
              <a:t>•</a:t>
            </a:r>
            <a:r>
              <a:rPr lang="en-US" altLang="ko-KR" b="1"/>
              <a:t> (723.56)</a:t>
            </a:r>
            <a:r>
              <a:rPr lang="en-US" altLang="ko-KR" b="1" baseline="-25000"/>
              <a:t>8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7      2     3   .    5      6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111  010  011  .  101  11</a:t>
            </a:r>
            <a:r>
              <a:rPr lang="en-US" altLang="ko-KR" b="1">
                <a:solidFill>
                  <a:srgbClr val="FF0000"/>
                </a:solidFill>
              </a:rPr>
              <a:t>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(723.56)</a:t>
            </a:r>
            <a:r>
              <a:rPr lang="en-US" altLang="ko-KR" b="1" baseline="-25000"/>
              <a:t>8</a:t>
            </a:r>
            <a:r>
              <a:rPr lang="en-US" altLang="ko-KR" b="1"/>
              <a:t> = (111010011.10111)</a:t>
            </a:r>
            <a:r>
              <a:rPr lang="en-US" altLang="ko-KR" b="1" baseline="-25000"/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번호 개체 틀 1">
            <a:extLst>
              <a:ext uri="{FF2B5EF4-FFF2-40B4-BE49-F238E27FC236}">
                <a16:creationId xmlns:a16="http://schemas.microsoft.com/office/drawing/2014/main" id="{AF5945CB-2962-42DD-ABB6-D8290D23C6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E00F513D-F927-49E0-8F29-FD2A24C52833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5363" name="Rectangle 4">
            <a:extLst>
              <a:ext uri="{FF2B5EF4-FFF2-40B4-BE49-F238E27FC236}">
                <a16:creationId xmlns:a16="http://schemas.microsoft.com/office/drawing/2014/main" id="{F077C873-6047-4A3C-ACD6-0272A3FB4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620713"/>
            <a:ext cx="6462712" cy="559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④ 16</a:t>
            </a:r>
            <a:r>
              <a:rPr lang="ko-KR" altLang="en-US" b="1"/>
              <a:t>진수 ⇨ </a:t>
            </a:r>
            <a:r>
              <a:rPr lang="en-US" altLang="ko-KR" b="1"/>
              <a:t>2</a:t>
            </a:r>
            <a:r>
              <a:rPr lang="ko-KR" altLang="en-US" b="1"/>
              <a:t>진수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16</a:t>
            </a:r>
            <a:r>
              <a:rPr lang="ko-KR" altLang="en-US" b="1"/>
              <a:t>진수 </a:t>
            </a:r>
            <a:r>
              <a:rPr lang="en-US" altLang="ko-KR" b="1"/>
              <a:t>1</a:t>
            </a:r>
            <a:r>
              <a:rPr lang="ko-KR" altLang="en-US" b="1"/>
              <a:t>자리는 </a:t>
            </a:r>
            <a:r>
              <a:rPr lang="en-US" altLang="ko-KR" b="1"/>
              <a:t>2</a:t>
            </a:r>
            <a:r>
              <a:rPr lang="ko-KR" altLang="en-US" b="1"/>
              <a:t>진수 </a:t>
            </a:r>
            <a:r>
              <a:rPr lang="en-US" altLang="ko-KR" b="1"/>
              <a:t>4</a:t>
            </a:r>
            <a:r>
              <a:rPr lang="ko-KR" altLang="en-US" b="1"/>
              <a:t>비트로 풀어서 변환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</a:t>
            </a:r>
            <a:r>
              <a:rPr lang="en-US" altLang="ko-KR" b="1"/>
              <a:t>※ </a:t>
            </a:r>
            <a:r>
              <a:rPr lang="ko-KR" altLang="en-US" b="1"/>
              <a:t>무효의 </a:t>
            </a:r>
            <a:r>
              <a:rPr lang="en-US" altLang="ko-KR" b="1"/>
              <a:t>0 </a:t>
            </a:r>
            <a:r>
              <a:rPr lang="ko-KR" altLang="en-US" b="1"/>
              <a:t>은 무시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(1D3.B8)</a:t>
            </a:r>
            <a:r>
              <a:rPr lang="en-US" altLang="ko-KR" b="1" baseline="-25000"/>
              <a:t>16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1       D     3    .    B     8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</a:t>
            </a:r>
            <a:r>
              <a:rPr lang="en-US" altLang="ko-KR" b="1">
                <a:solidFill>
                  <a:srgbClr val="FF0000"/>
                </a:solidFill>
              </a:rPr>
              <a:t> 000</a:t>
            </a:r>
            <a:r>
              <a:rPr lang="en-US" altLang="ko-KR" b="1"/>
              <a:t>1 1101 0011 . 1011 1</a:t>
            </a:r>
            <a:r>
              <a:rPr lang="en-US" altLang="ko-KR" b="1">
                <a:solidFill>
                  <a:srgbClr val="FF0000"/>
                </a:solidFill>
              </a:rPr>
              <a:t>000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(1D3.B8)</a:t>
            </a:r>
            <a:r>
              <a:rPr lang="en-US" altLang="ko-KR" b="1" baseline="-25000"/>
              <a:t>16</a:t>
            </a:r>
            <a:r>
              <a:rPr lang="en-US" altLang="ko-KR" b="1"/>
              <a:t> = (111010011.10111)</a:t>
            </a:r>
            <a:r>
              <a:rPr lang="en-US" altLang="ko-KR" b="1" baseline="-25000"/>
              <a:t>2</a:t>
            </a:r>
          </a:p>
          <a:p>
            <a:pPr eaLnBrk="1" hangingPunct="1">
              <a:lnSpc>
                <a:spcPct val="120000"/>
              </a:lnSpc>
            </a:pPr>
            <a:endParaRPr lang="en-US" altLang="ko-KR" b="1" baseline="-25000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⑤ 8</a:t>
            </a:r>
            <a:r>
              <a:rPr lang="ko-KR" altLang="en-US" b="1"/>
              <a:t>진수 ⇨ </a:t>
            </a:r>
            <a:r>
              <a:rPr lang="en-US" altLang="ko-KR" b="1"/>
              <a:t>16</a:t>
            </a:r>
            <a:r>
              <a:rPr lang="ko-KR" altLang="en-US" b="1"/>
              <a:t>진수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8</a:t>
            </a:r>
            <a:r>
              <a:rPr lang="ko-KR" altLang="en-US" b="1"/>
              <a:t>진수를 </a:t>
            </a:r>
            <a:r>
              <a:rPr lang="en-US" altLang="ko-KR" b="1"/>
              <a:t>2</a:t>
            </a:r>
            <a:r>
              <a:rPr lang="ko-KR" altLang="en-US" b="1"/>
              <a:t>진수로 변환한 뒤 </a:t>
            </a:r>
            <a:r>
              <a:rPr lang="en-US" altLang="ko-KR" b="1"/>
              <a:t>2</a:t>
            </a:r>
            <a:r>
              <a:rPr lang="ko-KR" altLang="en-US" b="1"/>
              <a:t>진수를 </a:t>
            </a:r>
            <a:r>
              <a:rPr lang="en-US" altLang="ko-KR" b="1"/>
              <a:t>16</a:t>
            </a:r>
            <a:r>
              <a:rPr lang="ko-KR" altLang="en-US" b="1"/>
              <a:t>진수로 변환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(274.64)</a:t>
            </a:r>
            <a:r>
              <a:rPr lang="en-US" altLang="ko-KR" b="1" baseline="-25000"/>
              <a:t>8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2        7        4   .   6       4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</a:t>
            </a:r>
            <a:r>
              <a:rPr lang="en-US" altLang="ko-KR" b="1">
                <a:solidFill>
                  <a:srgbClr val="FF0000"/>
                </a:solidFill>
              </a:rPr>
              <a:t>0</a:t>
            </a:r>
            <a:r>
              <a:rPr lang="en-US" altLang="ko-KR" b="1"/>
              <a:t>10     111    100  . 110   1</a:t>
            </a:r>
            <a:r>
              <a:rPr lang="en-US" altLang="ko-KR" b="1">
                <a:solidFill>
                  <a:srgbClr val="FF0000"/>
                </a:solidFill>
              </a:rPr>
              <a:t>00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            ⇩</a:t>
            </a:r>
            <a:endParaRPr lang="en-US" altLang="ko-KR" b="1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 1011 1100 . 1101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    B       C   .   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(274.64)8 = (BC.D)</a:t>
            </a:r>
            <a:r>
              <a:rPr lang="en-US" altLang="ko-KR" b="1" baseline="-25000"/>
              <a:t>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1">
            <a:extLst>
              <a:ext uri="{FF2B5EF4-FFF2-40B4-BE49-F238E27FC236}">
                <a16:creationId xmlns:a16="http://schemas.microsoft.com/office/drawing/2014/main" id="{FDD1D214-082C-4A98-866C-867C225682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B20526F4-2543-4073-A4D0-AF6179C68DBC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6387" name="Rectangle 4">
            <a:extLst>
              <a:ext uri="{FF2B5EF4-FFF2-40B4-BE49-F238E27FC236}">
                <a16:creationId xmlns:a16="http://schemas.microsoft.com/office/drawing/2014/main" id="{6A579065-5589-4D1E-AFDC-CDB6EFB4C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908050"/>
            <a:ext cx="8137525" cy="3306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  <a:buFontTx/>
              <a:buAutoNum type="circleNumDbPlain" startAt="6"/>
            </a:pPr>
            <a:r>
              <a:rPr lang="en-US" altLang="ko-KR" b="1"/>
              <a:t>16</a:t>
            </a:r>
            <a:r>
              <a:rPr lang="ko-KR" altLang="en-US" b="1"/>
              <a:t>진수  ⇨ </a:t>
            </a:r>
            <a:r>
              <a:rPr lang="en-US" altLang="ko-KR" b="1"/>
              <a:t>8</a:t>
            </a:r>
            <a:r>
              <a:rPr lang="ko-KR" altLang="en-US" b="1"/>
              <a:t>진수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• 16</a:t>
            </a:r>
            <a:r>
              <a:rPr lang="ko-KR" altLang="en-US" b="1"/>
              <a:t>진수를 </a:t>
            </a:r>
            <a:r>
              <a:rPr lang="en-US" altLang="ko-KR" b="1"/>
              <a:t>2</a:t>
            </a:r>
            <a:r>
              <a:rPr lang="ko-KR" altLang="en-US" b="1"/>
              <a:t>진수로 변환한 뒤  </a:t>
            </a:r>
            <a:r>
              <a:rPr lang="en-US" altLang="ko-KR" b="1"/>
              <a:t>2</a:t>
            </a:r>
            <a:r>
              <a:rPr lang="ko-KR" altLang="en-US" b="1"/>
              <a:t>진수를 </a:t>
            </a:r>
            <a:r>
              <a:rPr lang="en-US" altLang="ko-KR" b="1"/>
              <a:t>8</a:t>
            </a:r>
            <a:r>
              <a:rPr lang="ko-KR" altLang="en-US" b="1"/>
              <a:t>진수로 변환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</a:t>
            </a:r>
            <a:r>
              <a:rPr lang="en-US" altLang="ko-KR" b="1"/>
              <a:t>• (BC.D)</a:t>
            </a:r>
            <a:r>
              <a:rPr lang="en-US" altLang="ko-KR" b="1" baseline="-25000"/>
              <a:t>16</a:t>
            </a:r>
            <a:r>
              <a:rPr lang="en-US" altLang="ko-KR" b="1"/>
              <a:t>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 B      C    .    D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1011  1100  . 1101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              ⇩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</a:t>
            </a:r>
            <a:r>
              <a:rPr lang="en-US" altLang="ko-KR" b="1">
                <a:solidFill>
                  <a:srgbClr val="FF0000"/>
                </a:solidFill>
              </a:rPr>
              <a:t>0</a:t>
            </a:r>
            <a:r>
              <a:rPr lang="en-US" altLang="ko-KR" b="1"/>
              <a:t>10  111  100  . 110  1</a:t>
            </a:r>
            <a:r>
              <a:rPr lang="en-US" altLang="ko-KR" b="1">
                <a:solidFill>
                  <a:srgbClr val="FF0000"/>
                </a:solidFill>
              </a:rPr>
              <a:t>00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2     7      4   .   6      4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(BC.D)</a:t>
            </a:r>
            <a:r>
              <a:rPr lang="en-US" altLang="ko-KR" b="1" baseline="-25000"/>
              <a:t>16</a:t>
            </a:r>
            <a:r>
              <a:rPr lang="en-US" altLang="ko-KR" b="1"/>
              <a:t> = (274.64)</a:t>
            </a:r>
            <a:r>
              <a:rPr lang="en-US" altLang="ko-KR" b="1" baseline="-25000"/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번호 개체 틀 1">
            <a:extLst>
              <a:ext uri="{FF2B5EF4-FFF2-40B4-BE49-F238E27FC236}">
                <a16:creationId xmlns:a16="http://schemas.microsoft.com/office/drawing/2014/main" id="{3E24CE95-2C1D-459C-88DB-17A19CBCCF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2E0EE05C-4B76-480B-A461-D5022D1D01B4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7411" name="Text Box 4">
            <a:extLst>
              <a:ext uri="{FF2B5EF4-FFF2-40B4-BE49-F238E27FC236}">
                <a16:creationId xmlns:a16="http://schemas.microsoft.com/office/drawing/2014/main" id="{06A3B13E-49A7-4500-849A-44E120C3B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620713"/>
            <a:ext cx="107473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3. </a:t>
            </a:r>
            <a:r>
              <a:rPr lang="ko-KR" altLang="en-US" sz="2200" b="1"/>
              <a:t>보수</a:t>
            </a:r>
          </a:p>
        </p:txBody>
      </p:sp>
      <p:sp>
        <p:nvSpPr>
          <p:cNvPr id="17412" name="Text Box 5">
            <a:extLst>
              <a:ext uri="{FF2B5EF4-FFF2-40B4-BE49-F238E27FC236}">
                <a16:creationId xmlns:a16="http://schemas.microsoft.com/office/drawing/2014/main" id="{4AB0A799-9E96-40E5-B843-D9EA0DFBB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3" y="1031875"/>
            <a:ext cx="46672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(1) </a:t>
            </a:r>
            <a:r>
              <a:rPr lang="ko-KR" altLang="en-US" sz="2200" b="1"/>
              <a:t>보수</a:t>
            </a:r>
            <a:r>
              <a:rPr lang="en-US" altLang="ko-KR" sz="2200" b="1"/>
              <a:t>(Complement, </a:t>
            </a:r>
            <a:r>
              <a:rPr lang="ko-KR" altLang="en-US" sz="2200" b="1"/>
              <a:t>補數</a:t>
            </a:r>
            <a:r>
              <a:rPr lang="en-US" altLang="ko-KR" sz="2200" b="1"/>
              <a:t>)</a:t>
            </a:r>
            <a:r>
              <a:rPr lang="ko-KR" altLang="en-US" sz="2200" b="1"/>
              <a:t>의 개념</a:t>
            </a:r>
          </a:p>
        </p:txBody>
      </p:sp>
      <p:grpSp>
        <p:nvGrpSpPr>
          <p:cNvPr id="17413" name="Group 8">
            <a:extLst>
              <a:ext uri="{FF2B5EF4-FFF2-40B4-BE49-F238E27FC236}">
                <a16:creationId xmlns:a16="http://schemas.microsoft.com/office/drawing/2014/main" id="{7E5DE83A-CD5A-463B-ABCD-0A2C24C7ABC1}"/>
              </a:ext>
            </a:extLst>
          </p:cNvPr>
          <p:cNvGrpSpPr>
            <a:grpSpLocks/>
          </p:cNvGrpSpPr>
          <p:nvPr/>
        </p:nvGrpSpPr>
        <p:grpSpPr bwMode="auto">
          <a:xfrm>
            <a:off x="1258888" y="1412875"/>
            <a:ext cx="7561262" cy="4714875"/>
            <a:chOff x="793" y="890"/>
            <a:chExt cx="4967" cy="2970"/>
          </a:xfrm>
        </p:grpSpPr>
        <p:sp>
          <p:nvSpPr>
            <p:cNvPr id="17414" name="Rectangle 6">
              <a:extLst>
                <a:ext uri="{FF2B5EF4-FFF2-40B4-BE49-F238E27FC236}">
                  <a16:creationId xmlns:a16="http://schemas.microsoft.com/office/drawing/2014/main" id="{330EA257-D691-4AC1-89C0-E74A4E958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890"/>
              <a:ext cx="4967" cy="2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lnSpc>
                  <a:spcPct val="120000"/>
                </a:lnSpc>
              </a:pPr>
              <a:r>
                <a:rPr lang="en-US" altLang="ko-KR" b="1"/>
                <a:t>1) </a:t>
              </a:r>
              <a:r>
                <a:rPr lang="ko-KR" altLang="en-US" b="1"/>
                <a:t>각 자리 숫자에 대해 </a:t>
              </a:r>
              <a:r>
                <a:rPr lang="en-US" altLang="ko-KR" b="1"/>
                <a:t>N + N' = r </a:t>
              </a:r>
              <a:r>
                <a:rPr lang="ko-KR" altLang="en-US" b="1"/>
                <a:t>일 때</a:t>
              </a:r>
              <a:r>
                <a:rPr lang="en-US" altLang="ko-KR" b="1"/>
                <a:t>,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ko-KR" b="1"/>
                <a:t>    N'</a:t>
              </a:r>
              <a:r>
                <a:rPr lang="ko-KR" altLang="en-US" b="1"/>
                <a:t>를 </a:t>
              </a:r>
              <a:r>
                <a:rPr lang="en-US" altLang="ko-KR" b="1"/>
                <a:t>N </a:t>
              </a:r>
              <a:r>
                <a:rPr lang="ko-KR" altLang="en-US" b="1"/>
                <a:t>에 대한 </a:t>
              </a:r>
              <a:r>
                <a:rPr lang="en-US" altLang="ko-KR" b="1"/>
                <a:t>r</a:t>
              </a:r>
              <a:r>
                <a:rPr lang="ko-KR" altLang="en-US" b="1"/>
                <a:t>의 보수</a:t>
              </a:r>
              <a:r>
                <a:rPr lang="en-US" altLang="ko-KR" b="1"/>
                <a:t>(Complement) </a:t>
              </a:r>
              <a:r>
                <a:rPr lang="ko-KR" altLang="en-US" b="1"/>
                <a:t>라고 한다 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ko-KR" altLang="en-US" b="1"/>
                <a:t>    예</a:t>
              </a:r>
              <a:r>
                <a:rPr lang="en-US" altLang="ko-KR" b="1"/>
                <a:t>) 4</a:t>
              </a:r>
              <a:r>
                <a:rPr lang="ko-KR" altLang="en-US" b="1"/>
                <a:t>의 </a:t>
              </a:r>
              <a:r>
                <a:rPr lang="en-US" altLang="ko-KR" b="1"/>
                <a:t>9</a:t>
              </a:r>
              <a:r>
                <a:rPr lang="ko-KR" altLang="en-US" b="1"/>
                <a:t>의 보수란 </a:t>
              </a:r>
              <a:r>
                <a:rPr lang="en-US" altLang="ko-KR" b="1"/>
                <a:t>4</a:t>
              </a:r>
              <a:r>
                <a:rPr lang="ko-KR" altLang="en-US" b="1"/>
                <a:t>에 얼마를 더해야 </a:t>
              </a:r>
              <a:r>
                <a:rPr lang="en-US" altLang="ko-KR" b="1"/>
                <a:t>9</a:t>
              </a:r>
              <a:r>
                <a:rPr lang="ko-KR" altLang="en-US" b="1"/>
                <a:t>가 되는가를 의미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ko-KR" altLang="en-US" b="1"/>
                <a:t>          ⇨ </a:t>
              </a:r>
              <a:r>
                <a:rPr lang="en-US" altLang="ko-KR" b="1"/>
                <a:t>4</a:t>
              </a:r>
              <a:r>
                <a:rPr lang="ko-KR" altLang="en-US" b="1"/>
                <a:t>에 </a:t>
              </a:r>
              <a:r>
                <a:rPr lang="en-US" altLang="ko-KR" b="1"/>
                <a:t>5 </a:t>
              </a:r>
              <a:r>
                <a:rPr lang="ko-KR" altLang="en-US" b="1"/>
                <a:t>를 더하면 </a:t>
              </a:r>
              <a:r>
                <a:rPr lang="en-US" altLang="ko-KR" b="1"/>
                <a:t>9</a:t>
              </a:r>
              <a:r>
                <a:rPr lang="ko-KR" altLang="en-US" b="1"/>
                <a:t>가 되므로 </a:t>
              </a:r>
              <a:r>
                <a:rPr lang="en-US" altLang="ko-KR" b="1"/>
                <a:t>4</a:t>
              </a:r>
              <a:r>
                <a:rPr lang="ko-KR" altLang="en-US" b="1"/>
                <a:t>의 </a:t>
              </a:r>
              <a:r>
                <a:rPr lang="en-US" altLang="ko-KR" b="1"/>
                <a:t>9</a:t>
              </a:r>
              <a:r>
                <a:rPr lang="ko-KR" altLang="en-US" b="1"/>
                <a:t>의 보수는 </a:t>
              </a:r>
              <a:r>
                <a:rPr lang="en-US" altLang="ko-KR" b="1"/>
                <a:t>5</a:t>
              </a:r>
              <a:r>
                <a:rPr lang="ko-KR" altLang="en-US" b="1"/>
                <a:t>가 됨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ko-KR" altLang="en-US" b="1"/>
                <a:t>         ① </a:t>
              </a:r>
              <a:r>
                <a:rPr lang="en-US" altLang="ko-KR" b="1"/>
                <a:t>456</a:t>
              </a:r>
              <a:r>
                <a:rPr lang="ko-KR" altLang="en-US" b="1"/>
                <a:t>의 </a:t>
              </a:r>
              <a:r>
                <a:rPr lang="en-US" altLang="ko-KR" b="1"/>
                <a:t>9</a:t>
              </a:r>
              <a:r>
                <a:rPr lang="ko-KR" altLang="en-US" b="1"/>
                <a:t>의 보수는 각 자리에 얼마를 더해야 </a:t>
              </a:r>
              <a:r>
                <a:rPr lang="en-US" altLang="ko-KR" b="1"/>
                <a:t>9</a:t>
              </a:r>
              <a:r>
                <a:rPr lang="ko-KR" altLang="en-US" b="1"/>
                <a:t>가 되는가를 의미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ko-KR" altLang="en-US" b="1"/>
                <a:t>                    </a:t>
              </a:r>
              <a:r>
                <a:rPr lang="en-US" altLang="ko-KR" b="1"/>
                <a:t>4 5 6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ko-KR" b="1"/>
                <a:t>                  + ? ? ?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ko-KR" b="1"/>
                <a:t>                     9 9 9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ko-KR" b="1"/>
                <a:t>             ⇨ 456</a:t>
              </a:r>
              <a:r>
                <a:rPr lang="ko-KR" altLang="en-US" b="1"/>
                <a:t>의 </a:t>
              </a:r>
              <a:r>
                <a:rPr lang="en-US" altLang="ko-KR" b="1"/>
                <a:t>9</a:t>
              </a:r>
              <a:r>
                <a:rPr lang="ko-KR" altLang="en-US" b="1"/>
                <a:t>의 보수 </a:t>
              </a:r>
              <a:r>
                <a:rPr lang="en-US" altLang="ko-KR" b="1"/>
                <a:t>: 543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ko-KR" b="1"/>
                <a:t>         ② 10</a:t>
              </a:r>
              <a:r>
                <a:rPr lang="ko-KR" altLang="en-US" b="1"/>
                <a:t>진법의 수 </a:t>
              </a:r>
              <a:r>
                <a:rPr lang="en-US" altLang="ko-KR" b="1"/>
                <a:t>274</a:t>
              </a:r>
              <a:r>
                <a:rPr lang="ko-KR" altLang="en-US" b="1"/>
                <a:t>의 </a:t>
              </a:r>
              <a:r>
                <a:rPr lang="en-US" altLang="ko-KR" b="1"/>
                <a:t>9</a:t>
              </a:r>
              <a:r>
                <a:rPr lang="ko-KR" altLang="en-US" b="1"/>
                <a:t>의 보수는</a:t>
              </a:r>
              <a:r>
                <a:rPr lang="en-US" altLang="ko-KR" b="1"/>
                <a:t>? 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ko-KR" b="1"/>
                <a:t>                    274 + ??? = 999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ko-KR" b="1"/>
                <a:t>             ⇨ 274</a:t>
              </a:r>
              <a:r>
                <a:rPr lang="ko-KR" altLang="en-US" b="1"/>
                <a:t>의 </a:t>
              </a:r>
              <a:r>
                <a:rPr lang="en-US" altLang="ko-KR" b="1"/>
                <a:t>9</a:t>
              </a:r>
              <a:r>
                <a:rPr lang="ko-KR" altLang="en-US" b="1"/>
                <a:t>의 보수는 </a:t>
              </a:r>
              <a:r>
                <a:rPr lang="en-US" altLang="ko-KR" b="1"/>
                <a:t>725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en-US" altLang="ko-KR" b="1"/>
                <a:t>2) </a:t>
              </a:r>
              <a:r>
                <a:rPr lang="ko-KR" altLang="en-US" b="1"/>
                <a:t>보수의 사용 용도</a:t>
              </a:r>
            </a:p>
            <a:p>
              <a:pPr eaLnBrk="1" hangingPunct="1">
                <a:lnSpc>
                  <a:spcPct val="120000"/>
                </a:lnSpc>
              </a:pPr>
              <a:r>
                <a:rPr lang="ko-KR" altLang="en-US" b="1"/>
                <a:t>   덧셈과 뺄셈을 덧셈 회로로 처리 가능</a:t>
              </a:r>
            </a:p>
          </p:txBody>
        </p:sp>
        <p:sp>
          <p:nvSpPr>
            <p:cNvPr id="17415" name="Line 7">
              <a:extLst>
                <a:ext uri="{FF2B5EF4-FFF2-40B4-BE49-F238E27FC236}">
                  <a16:creationId xmlns:a16="http://schemas.microsoft.com/office/drawing/2014/main" id="{52C08561-9BF6-4917-9809-A607E87234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3" y="2398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번호 개체 틀 1">
            <a:extLst>
              <a:ext uri="{FF2B5EF4-FFF2-40B4-BE49-F238E27FC236}">
                <a16:creationId xmlns:a16="http://schemas.microsoft.com/office/drawing/2014/main" id="{E109E8F4-FAD7-4B23-B02C-0A2F7CBFE9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8E4B60FA-D77E-4C53-99AB-3BB594317B84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8435" name="Rectangle 4">
            <a:extLst>
              <a:ext uri="{FF2B5EF4-FFF2-40B4-BE49-F238E27FC236}">
                <a16:creationId xmlns:a16="http://schemas.microsoft.com/office/drawing/2014/main" id="{C8AC784B-7088-4003-9F65-C40F37463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3" y="836613"/>
            <a:ext cx="8497887" cy="504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3) </a:t>
            </a:r>
            <a:r>
              <a:rPr lang="ko-KR" altLang="en-US" b="1"/>
              <a:t>보수의 종류 </a:t>
            </a:r>
            <a:r>
              <a:rPr lang="en-US" altLang="ko-KR" b="1"/>
              <a:t>:  n</a:t>
            </a:r>
            <a:r>
              <a:rPr lang="ko-KR" altLang="en-US" b="1"/>
              <a:t>진법에는 </a:t>
            </a:r>
            <a:r>
              <a:rPr lang="en-US" altLang="ko-KR" b="1"/>
              <a:t>(n-1)</a:t>
            </a:r>
            <a:r>
              <a:rPr lang="ko-KR" altLang="en-US" b="1"/>
              <a:t>의 보수와 </a:t>
            </a:r>
            <a:r>
              <a:rPr lang="en-US" altLang="ko-KR" b="1"/>
              <a:t>n</a:t>
            </a:r>
            <a:r>
              <a:rPr lang="ko-KR" altLang="en-US" b="1"/>
              <a:t>의 보수가 존재함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/>
              <a:t>    </a:t>
            </a:r>
            <a:r>
              <a:rPr lang="ko-KR" altLang="en-US" b="1"/>
              <a:t>① </a:t>
            </a:r>
            <a:r>
              <a:rPr lang="en-US" altLang="ko-KR" b="1"/>
              <a:t>(n-1)</a:t>
            </a:r>
            <a:r>
              <a:rPr lang="ko-KR" altLang="en-US" b="1"/>
              <a:t>의 보수 </a:t>
            </a:r>
            <a:r>
              <a:rPr lang="en-US" altLang="ko-KR" b="1"/>
              <a:t>: </a:t>
            </a:r>
            <a:r>
              <a:rPr lang="ko-KR" altLang="en-US" b="1"/>
              <a:t>같은 자릿수에서 가장 큰 값이 되기 위해 필요한 수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ko-KR" altLang="en-US"/>
              <a:t>    </a:t>
            </a:r>
            <a:r>
              <a:rPr lang="en-US" altLang="ko-KR" b="1"/>
              <a:t>• 10</a:t>
            </a:r>
            <a:r>
              <a:rPr lang="ko-KR" altLang="en-US" b="1"/>
              <a:t>진법의 수 </a:t>
            </a:r>
            <a:r>
              <a:rPr lang="en-US" altLang="ko-KR" b="1"/>
              <a:t>274</a:t>
            </a:r>
            <a:r>
              <a:rPr lang="ko-KR" altLang="en-US" b="1"/>
              <a:t>의 </a:t>
            </a:r>
            <a:r>
              <a:rPr lang="en-US" altLang="ko-KR" b="1"/>
              <a:t>9</a:t>
            </a:r>
            <a:r>
              <a:rPr lang="ko-KR" altLang="en-US" b="1"/>
              <a:t>의 보수 </a:t>
            </a:r>
            <a:r>
              <a:rPr lang="en-US" altLang="ko-KR" b="1"/>
              <a:t>: 725 (274+725=999)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</a:t>
            </a:r>
            <a:r>
              <a:rPr lang="en-US" altLang="ko-KR"/>
              <a:t>    </a:t>
            </a:r>
            <a:r>
              <a:rPr lang="en-US" altLang="ko-KR" b="1"/>
              <a:t>• (1001011)</a:t>
            </a:r>
            <a:r>
              <a:rPr lang="en-US" altLang="ko-KR" b="1" baseline="-25000"/>
              <a:t>2</a:t>
            </a:r>
            <a:r>
              <a:rPr lang="ko-KR" altLang="en-US" b="1"/>
              <a:t>의 </a:t>
            </a:r>
            <a:r>
              <a:rPr lang="en-US" altLang="ko-KR" b="1"/>
              <a:t>1</a:t>
            </a:r>
            <a:r>
              <a:rPr lang="ko-KR" altLang="en-US" b="1"/>
              <a:t>의 보수 </a:t>
            </a:r>
            <a:r>
              <a:rPr lang="en-US" altLang="ko-KR" b="1"/>
              <a:t>: (0110100)</a:t>
            </a:r>
            <a:r>
              <a:rPr lang="en-US" altLang="ko-KR" b="1" baseline="-25000"/>
              <a:t>2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                               1001011 + 0110100 = 1111111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</a:t>
            </a:r>
            <a:r>
              <a:rPr lang="en-US" altLang="ko-KR"/>
              <a:t>   </a:t>
            </a:r>
            <a:r>
              <a:rPr lang="en-US" altLang="ko-KR" b="1"/>
              <a:t>※ 1</a:t>
            </a:r>
            <a:r>
              <a:rPr lang="ko-KR" altLang="en-US" b="1"/>
              <a:t>의 보수는 주어진 각 자리 값을  </a:t>
            </a:r>
            <a:r>
              <a:rPr lang="en-US" altLang="ko-KR" b="1"/>
              <a:t>0→1, 1→0 </a:t>
            </a:r>
            <a:r>
              <a:rPr lang="ko-KR" altLang="en-US" b="1"/>
              <a:t>으로 변환해도 됨 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/>
              <a:t>    </a:t>
            </a:r>
            <a:r>
              <a:rPr lang="ko-KR" altLang="en-US" b="1"/>
              <a:t>② </a:t>
            </a:r>
            <a:r>
              <a:rPr lang="en-US" altLang="ko-KR" b="1"/>
              <a:t>n</a:t>
            </a:r>
            <a:r>
              <a:rPr lang="ko-KR" altLang="en-US" b="1"/>
              <a:t>의 보수 </a:t>
            </a:r>
            <a:r>
              <a:rPr lang="en-US" altLang="ko-KR" b="1"/>
              <a:t>: </a:t>
            </a:r>
            <a:r>
              <a:rPr lang="ko-KR" altLang="en-US" b="1"/>
              <a:t>자릿수를 한 자리 늘리기 위해 필요한 수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/>
              <a:t>        </a:t>
            </a:r>
            <a:r>
              <a:rPr lang="en-US" altLang="ko-KR" b="1"/>
              <a:t>• 10</a:t>
            </a:r>
            <a:r>
              <a:rPr lang="ko-KR" altLang="en-US" b="1"/>
              <a:t>진법의 수 </a:t>
            </a:r>
            <a:r>
              <a:rPr lang="en-US" altLang="ko-KR" b="1"/>
              <a:t>274</a:t>
            </a:r>
            <a:r>
              <a:rPr lang="ko-KR" altLang="en-US" b="1"/>
              <a:t>의 </a:t>
            </a:r>
            <a:r>
              <a:rPr lang="en-US" altLang="ko-KR" b="1"/>
              <a:t>10</a:t>
            </a:r>
            <a:r>
              <a:rPr lang="ko-KR" altLang="en-US" b="1"/>
              <a:t>의 보수 </a:t>
            </a:r>
            <a:r>
              <a:rPr lang="en-US" altLang="ko-KR" b="1"/>
              <a:t>: 726 (274+726=1000)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/>
              <a:t>        </a:t>
            </a:r>
            <a:r>
              <a:rPr lang="en-US" altLang="ko-KR" b="1"/>
              <a:t>• 2</a:t>
            </a:r>
            <a:r>
              <a:rPr lang="ko-KR" altLang="en-US" b="1"/>
              <a:t>진수 에서 </a:t>
            </a:r>
            <a:r>
              <a:rPr lang="en-US" altLang="ko-KR" b="1"/>
              <a:t>0011</a:t>
            </a:r>
            <a:r>
              <a:rPr lang="ko-KR" altLang="en-US" b="1"/>
              <a:t>의 </a:t>
            </a:r>
            <a:r>
              <a:rPr lang="en-US" altLang="ko-KR" b="1"/>
              <a:t>2</a:t>
            </a:r>
            <a:r>
              <a:rPr lang="ko-KR" altLang="en-US" b="1"/>
              <a:t>보수 </a:t>
            </a:r>
            <a:r>
              <a:rPr lang="en-US" altLang="ko-KR" b="1"/>
              <a:t>: 1101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</a:t>
            </a:r>
            <a:r>
              <a:rPr lang="en-US" altLang="ko-KR" b="1">
                <a:latin typeface="Arial" panose="020B0604020202020204" pitchFamily="34" charset="0"/>
              </a:rPr>
              <a:t>•</a:t>
            </a:r>
            <a:r>
              <a:rPr lang="en-US" altLang="ko-KR" b="1"/>
              <a:t> (1001011)</a:t>
            </a:r>
            <a:r>
              <a:rPr lang="en-US" altLang="ko-KR" b="1" baseline="-25000"/>
              <a:t>2 </a:t>
            </a:r>
            <a:r>
              <a:rPr lang="ko-KR" altLang="en-US" b="1"/>
              <a:t>의 </a:t>
            </a:r>
            <a:r>
              <a:rPr lang="en-US" altLang="ko-KR" b="1"/>
              <a:t>2</a:t>
            </a:r>
            <a:r>
              <a:rPr lang="ko-KR" altLang="en-US" b="1"/>
              <a:t>의 보수 </a:t>
            </a:r>
            <a:r>
              <a:rPr lang="en-US" altLang="ko-KR" b="1"/>
              <a:t>: (0110101)</a:t>
            </a:r>
            <a:r>
              <a:rPr lang="en-US" altLang="ko-KR" b="1" baseline="-25000"/>
              <a:t>2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                                1001011 + 0110101 = 10000000</a:t>
            </a:r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※ n</a:t>
            </a:r>
            <a:r>
              <a:rPr lang="ko-KR" altLang="en-US" b="1"/>
              <a:t>의 보수는 </a:t>
            </a:r>
            <a:r>
              <a:rPr lang="en-US" altLang="ko-KR" b="1"/>
              <a:t>(n-1)</a:t>
            </a:r>
            <a:r>
              <a:rPr lang="ko-KR" altLang="en-US" b="1"/>
              <a:t>의 보수에 </a:t>
            </a:r>
            <a:r>
              <a:rPr lang="en-US" altLang="ko-KR" b="1"/>
              <a:t>1</a:t>
            </a:r>
            <a:r>
              <a:rPr lang="ko-KR" altLang="en-US" b="1"/>
              <a:t>을 더해도 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번호 개체 틀 1">
            <a:extLst>
              <a:ext uri="{FF2B5EF4-FFF2-40B4-BE49-F238E27FC236}">
                <a16:creationId xmlns:a16="http://schemas.microsoft.com/office/drawing/2014/main" id="{A84F3E33-64B1-4B98-B0C5-628E167815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C4A9A3B4-47A8-4BB7-8887-66713193AA9B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19459" name="Rectangle 4">
            <a:extLst>
              <a:ext uri="{FF2B5EF4-FFF2-40B4-BE49-F238E27FC236}">
                <a16:creationId xmlns:a16="http://schemas.microsoft.com/office/drawing/2014/main" id="{44AB63A8-066C-496C-A4D6-568BF3CC2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908050"/>
            <a:ext cx="8497887" cy="473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ko-KR" b="1"/>
              <a:t>(2) </a:t>
            </a:r>
            <a:r>
              <a:rPr lang="ko-KR" altLang="en-US" b="1"/>
              <a:t>보수를 이용한 뺄셈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1) A-B </a:t>
            </a:r>
            <a:r>
              <a:rPr lang="ko-KR" altLang="en-US" b="1"/>
              <a:t>는 </a:t>
            </a:r>
            <a:r>
              <a:rPr lang="en-US" altLang="ko-KR" b="1"/>
              <a:t>A+(-B) </a:t>
            </a:r>
            <a:r>
              <a:rPr lang="ko-KR" altLang="en-US" b="1"/>
              <a:t>이므로  </a:t>
            </a:r>
            <a:r>
              <a:rPr lang="en-US" altLang="ko-KR" b="1"/>
              <a:t>B</a:t>
            </a:r>
            <a:r>
              <a:rPr lang="ko-KR" altLang="en-US" b="1"/>
              <a:t>에 대한 보수를 구하여 덧셈 연산으로 뺄셈을 수행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</a:t>
            </a:r>
            <a:r>
              <a:rPr lang="en-US" altLang="ko-KR" b="1"/>
              <a:t>2) </a:t>
            </a:r>
            <a:r>
              <a:rPr lang="ko-KR" altLang="en-US" b="1"/>
              <a:t>보수를 이용한 계산 예 </a:t>
            </a:r>
            <a:r>
              <a:rPr lang="en-US" altLang="ko-KR" b="1"/>
              <a:t>: (-17) + (-4) </a:t>
            </a:r>
            <a:r>
              <a:rPr lang="ko-KR" altLang="en-US" b="1"/>
              <a:t>를 </a:t>
            </a:r>
            <a:r>
              <a:rPr lang="en-US" altLang="ko-KR" b="1"/>
              <a:t>2</a:t>
            </a:r>
            <a:r>
              <a:rPr lang="ko-KR" altLang="en-US" b="1"/>
              <a:t>의 보수로 계산하는 과정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① 먼저 </a:t>
            </a:r>
            <a:r>
              <a:rPr lang="en-US" altLang="ko-KR" b="1"/>
              <a:t>10 </a:t>
            </a:r>
            <a:r>
              <a:rPr lang="ko-KR" altLang="en-US" b="1"/>
              <a:t>진법으로 계산 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</a:t>
            </a:r>
            <a:r>
              <a:rPr lang="en-US" altLang="ko-KR" b="1"/>
              <a:t>(-17) + (-4) = -21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② 21</a:t>
            </a:r>
            <a:r>
              <a:rPr lang="ko-KR" altLang="en-US" b="1"/>
              <a:t>을 </a:t>
            </a:r>
            <a:r>
              <a:rPr lang="en-US" altLang="ko-KR" b="1"/>
              <a:t>2 </a:t>
            </a:r>
            <a:r>
              <a:rPr lang="ko-KR" altLang="en-US" b="1"/>
              <a:t>진수로 변환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</a:t>
            </a:r>
            <a:r>
              <a:rPr lang="en-US" altLang="ko-KR" b="1"/>
              <a:t>21 → 10101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③ </a:t>
            </a:r>
            <a:r>
              <a:rPr lang="ko-KR" altLang="en-US" b="1"/>
              <a:t>주어진 보기의 길이에 맞게 비트 수를 채움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</a:t>
            </a:r>
            <a:r>
              <a:rPr lang="en-US" altLang="ko-KR" b="1">
                <a:solidFill>
                  <a:srgbClr val="FF0000"/>
                </a:solidFill>
              </a:rPr>
              <a:t>000</a:t>
            </a:r>
            <a:r>
              <a:rPr lang="en-US" altLang="ko-KR" b="1"/>
              <a:t>10101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④ 2</a:t>
            </a:r>
            <a:r>
              <a:rPr lang="ko-KR" altLang="en-US" b="1"/>
              <a:t>의 보수를 구함</a:t>
            </a:r>
          </a:p>
          <a:p>
            <a:pPr eaLnBrk="1" hangingPunct="1">
              <a:lnSpc>
                <a:spcPct val="130000"/>
              </a:lnSpc>
            </a:pPr>
            <a:r>
              <a:rPr lang="ko-KR" altLang="en-US" b="1"/>
              <a:t>           </a:t>
            </a:r>
            <a:r>
              <a:rPr lang="en-US" altLang="ko-KR" b="1"/>
              <a:t>0 0 0 1 0 1 0 1 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            ⇩</a:t>
            </a:r>
          </a:p>
          <a:p>
            <a:pPr eaLnBrk="1" hangingPunct="1">
              <a:lnSpc>
                <a:spcPct val="130000"/>
              </a:lnSpc>
            </a:pPr>
            <a:r>
              <a:rPr lang="en-US" altLang="ko-KR" b="1"/>
              <a:t>           1 1 1 0 1 0 1 1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번호 개체 틀 1">
            <a:extLst>
              <a:ext uri="{FF2B5EF4-FFF2-40B4-BE49-F238E27FC236}">
                <a16:creationId xmlns:a16="http://schemas.microsoft.com/office/drawing/2014/main" id="{9CF3964B-E7D6-4007-B1CA-4E4BDB840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51F63A43-4260-41C0-A483-862D4A34C093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6BC8AED4-AD6D-4BD3-AA06-C75CE24A39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836613"/>
            <a:ext cx="30638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sz="2200" b="1"/>
              <a:t>2.4 </a:t>
            </a:r>
            <a:r>
              <a:rPr lang="ko-KR" altLang="en-US" sz="2200" b="1"/>
              <a:t>자료의 내부적 표현</a:t>
            </a:r>
          </a:p>
        </p:txBody>
      </p:sp>
      <p:pic>
        <p:nvPicPr>
          <p:cNvPr id="20484" name="Picture 8">
            <a:extLst>
              <a:ext uri="{FF2B5EF4-FFF2-40B4-BE49-F238E27FC236}">
                <a16:creationId xmlns:a16="http://schemas.microsoft.com/office/drawing/2014/main" id="{12716150-2273-45B0-827F-E90774318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88" y="1484313"/>
            <a:ext cx="7561262" cy="453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슬라이드 번호 개체 틀 1">
            <a:extLst>
              <a:ext uri="{FF2B5EF4-FFF2-40B4-BE49-F238E27FC236}">
                <a16:creationId xmlns:a16="http://schemas.microsoft.com/office/drawing/2014/main" id="{4282A24F-1ABD-402D-90BC-C69CBA3603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83BE8605-2BEA-4156-9C1A-4183C738E168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19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1507" name="Rectangle 4">
            <a:extLst>
              <a:ext uri="{FF2B5EF4-FFF2-40B4-BE49-F238E27FC236}">
                <a16:creationId xmlns:a16="http://schemas.microsoft.com/office/drawing/2014/main" id="{6DF6E297-B51A-47F3-B755-9C9AF3781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620713"/>
            <a:ext cx="7848600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(1) </a:t>
            </a:r>
            <a:r>
              <a:rPr lang="ko-KR" altLang="en-US" b="1"/>
              <a:t>고정 소수점</a:t>
            </a:r>
            <a:r>
              <a:rPr lang="en-US" altLang="ko-KR" b="1"/>
              <a:t>(Fixed Point) </a:t>
            </a:r>
            <a:r>
              <a:rPr lang="ko-KR" altLang="en-US" b="1"/>
              <a:t>표현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1) 10</a:t>
            </a:r>
            <a:r>
              <a:rPr lang="ko-KR" altLang="en-US" b="1"/>
              <a:t>진 연산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① </a:t>
            </a:r>
            <a:r>
              <a:rPr lang="en-US" altLang="ko-KR" b="1"/>
              <a:t>10</a:t>
            </a:r>
            <a:r>
              <a:rPr lang="ko-KR" altLang="en-US" b="1"/>
              <a:t>진수 </a:t>
            </a:r>
            <a:r>
              <a:rPr lang="en-US" altLang="ko-KR" b="1"/>
              <a:t>1</a:t>
            </a:r>
            <a:r>
              <a:rPr lang="ko-KR" altLang="en-US" b="1"/>
              <a:t>자리를 </a:t>
            </a:r>
            <a:r>
              <a:rPr lang="en-US" altLang="ko-KR" b="1"/>
              <a:t>2</a:t>
            </a:r>
            <a:r>
              <a:rPr lang="ko-KR" altLang="en-US" b="1"/>
              <a:t>진수 </a:t>
            </a:r>
            <a:r>
              <a:rPr lang="en-US" altLang="ko-KR" b="1"/>
              <a:t>4</a:t>
            </a:r>
            <a:r>
              <a:rPr lang="ko-KR" altLang="en-US" b="1"/>
              <a:t>자리로 표현하는 방식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  예</a:t>
            </a:r>
            <a:r>
              <a:rPr lang="en-US" altLang="ko-KR" b="1"/>
              <a:t>) 10</a:t>
            </a:r>
            <a:r>
              <a:rPr lang="ko-KR" altLang="en-US" b="1"/>
              <a:t>진수</a:t>
            </a:r>
            <a:r>
              <a:rPr lang="en-US" altLang="ko-KR" b="1"/>
              <a:t>46 </a:t>
            </a:r>
            <a:r>
              <a:rPr lang="ko-KR" altLang="en-US" b="1"/>
              <a:t>을 </a:t>
            </a:r>
            <a:r>
              <a:rPr lang="en-US" altLang="ko-KR" b="1"/>
              <a:t>2</a:t>
            </a:r>
            <a:r>
              <a:rPr lang="ko-KR" altLang="en-US" b="1"/>
              <a:t>진화 </a:t>
            </a:r>
            <a:r>
              <a:rPr lang="en-US" altLang="ko-KR" b="1"/>
              <a:t>10</a:t>
            </a:r>
            <a:r>
              <a:rPr lang="ko-KR" altLang="en-US" b="1"/>
              <a:t>진수로 표현하면</a:t>
            </a:r>
            <a:r>
              <a:rPr lang="en-US" altLang="ko-KR" b="1"/>
              <a:t>? 01000110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② </a:t>
            </a:r>
            <a:r>
              <a:rPr lang="ko-KR" altLang="en-US" b="1"/>
              <a:t>레지스터를 사용하지 않고 연산 수행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③ 종류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   </a:t>
            </a:r>
            <a:r>
              <a:rPr lang="en-US" altLang="ko-KR" b="1"/>
              <a:t>• Unpacked format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   - </a:t>
            </a:r>
            <a:r>
              <a:rPr lang="ko-KR" altLang="en-US" b="1"/>
              <a:t>표현 방법</a:t>
            </a:r>
          </a:p>
        </p:txBody>
      </p:sp>
      <p:pic>
        <p:nvPicPr>
          <p:cNvPr id="21508" name="Picture 5">
            <a:extLst>
              <a:ext uri="{FF2B5EF4-FFF2-40B4-BE49-F238E27FC236}">
                <a16:creationId xmlns:a16="http://schemas.microsoft.com/office/drawing/2014/main" id="{B6E08304-DA04-4E7B-B4D5-558347AD7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3284538"/>
            <a:ext cx="6408737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Rectangle 6">
            <a:extLst>
              <a:ext uri="{FF2B5EF4-FFF2-40B4-BE49-F238E27FC236}">
                <a16:creationId xmlns:a16="http://schemas.microsoft.com/office/drawing/2014/main" id="{07DFD61F-2B71-4474-972B-3F3F87967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149725"/>
            <a:ext cx="7000875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최하위 </a:t>
            </a:r>
            <a:r>
              <a:rPr lang="en-US" altLang="ko-KR" b="1"/>
              <a:t>(</a:t>
            </a:r>
            <a:r>
              <a:rPr lang="ko-KR" altLang="en-US" b="1"/>
              <a:t>맨 우측</a:t>
            </a:r>
            <a:r>
              <a:rPr lang="en-US" altLang="ko-KR" b="1"/>
              <a:t>) </a:t>
            </a:r>
            <a:r>
              <a:rPr lang="ko-KR" altLang="en-US" b="1"/>
              <a:t>바이트의 </a:t>
            </a:r>
            <a:r>
              <a:rPr lang="en-US" altLang="ko-KR" b="1"/>
              <a:t>Zone </a:t>
            </a:r>
            <a:r>
              <a:rPr lang="ko-KR" altLang="en-US" b="1"/>
              <a:t>부분을 부호로 사용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- 1 Byte</a:t>
            </a:r>
            <a:r>
              <a:rPr lang="ko-KR" altLang="en-US" b="1"/>
              <a:t>로 </a:t>
            </a:r>
            <a:r>
              <a:rPr lang="en-US" altLang="ko-KR" b="1"/>
              <a:t>10</a:t>
            </a:r>
            <a:r>
              <a:rPr lang="ko-KR" altLang="en-US" b="1"/>
              <a:t>진수 </a:t>
            </a:r>
            <a:r>
              <a:rPr lang="en-US" altLang="ko-KR" b="1"/>
              <a:t>1</a:t>
            </a:r>
            <a:r>
              <a:rPr lang="ko-KR" altLang="en-US" b="1"/>
              <a:t>자리 표현</a:t>
            </a:r>
          </a:p>
          <a:p>
            <a:pPr eaLnBrk="1" hangingPunct="1">
              <a:lnSpc>
                <a:spcPct val="120000"/>
              </a:lnSpc>
              <a:buFontTx/>
              <a:buChar char="-"/>
            </a:pPr>
            <a:r>
              <a:rPr lang="ko-KR" altLang="en-US" b="1"/>
              <a:t> </a:t>
            </a:r>
            <a:r>
              <a:rPr lang="en-US" altLang="ko-KR" b="1"/>
              <a:t>Zone : </a:t>
            </a:r>
            <a:r>
              <a:rPr lang="ko-KR" altLang="en-US" b="1"/>
              <a:t>무조건 </a:t>
            </a:r>
            <a:r>
              <a:rPr lang="en-US" altLang="ko-KR" b="1"/>
              <a:t>1111(=F) </a:t>
            </a:r>
            <a:r>
              <a:rPr lang="ko-KR" altLang="en-US" b="1"/>
              <a:t>을 넣음 </a:t>
            </a:r>
          </a:p>
          <a:p>
            <a:pPr eaLnBrk="1" hangingPunct="1">
              <a:lnSpc>
                <a:spcPct val="120000"/>
              </a:lnSpc>
              <a:buFontTx/>
              <a:buChar char="-"/>
            </a:pPr>
            <a:r>
              <a:rPr lang="ko-KR" altLang="en-US" b="1"/>
              <a:t> </a:t>
            </a:r>
            <a:r>
              <a:rPr lang="en-US" altLang="ko-KR" b="1"/>
              <a:t>Digit : 10</a:t>
            </a:r>
            <a:r>
              <a:rPr lang="ko-KR" altLang="en-US" b="1"/>
              <a:t>진수 </a:t>
            </a:r>
            <a:r>
              <a:rPr lang="en-US" altLang="ko-KR" b="1"/>
              <a:t>1</a:t>
            </a:r>
            <a:r>
              <a:rPr lang="ko-KR" altLang="en-US" b="1"/>
              <a:t>자리를 </a:t>
            </a:r>
            <a:r>
              <a:rPr lang="en-US" altLang="ko-KR" b="1"/>
              <a:t>4</a:t>
            </a:r>
            <a:r>
              <a:rPr lang="ko-KR" altLang="en-US" b="1"/>
              <a:t>비트 </a:t>
            </a:r>
            <a:r>
              <a:rPr lang="en-US" altLang="ko-KR" b="1"/>
              <a:t>2</a:t>
            </a:r>
            <a:r>
              <a:rPr lang="ko-KR" altLang="en-US" b="1"/>
              <a:t>진수로 표현 </a:t>
            </a:r>
          </a:p>
          <a:p>
            <a:pPr eaLnBrk="1" hangingPunct="1">
              <a:lnSpc>
                <a:spcPct val="120000"/>
              </a:lnSpc>
              <a:buFontTx/>
              <a:buChar char="-"/>
            </a:pPr>
            <a:r>
              <a:rPr lang="ko-KR" altLang="en-US" b="1"/>
              <a:t> </a:t>
            </a:r>
            <a:r>
              <a:rPr lang="en-US" altLang="ko-KR" b="1"/>
              <a:t>Sign : C(</a:t>
            </a:r>
            <a:r>
              <a:rPr lang="ko-KR" altLang="en-US" b="1"/>
              <a:t>양수</a:t>
            </a:r>
            <a:r>
              <a:rPr lang="en-US" altLang="ko-KR" b="1"/>
              <a:t>), D(</a:t>
            </a:r>
            <a:r>
              <a:rPr lang="ko-KR" altLang="en-US" b="1"/>
              <a:t>음수</a:t>
            </a:r>
            <a:r>
              <a:rPr lang="en-US" altLang="ko-KR" b="1"/>
              <a:t>), F(</a:t>
            </a:r>
            <a:r>
              <a:rPr lang="ko-KR" altLang="en-US" b="1"/>
              <a:t>부호 없는 양수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용도 </a:t>
            </a:r>
            <a:r>
              <a:rPr lang="en-US" altLang="ko-KR" b="1"/>
              <a:t>: 10</a:t>
            </a:r>
            <a:r>
              <a:rPr lang="ko-KR" altLang="en-US" b="1"/>
              <a:t>진수 입</a:t>
            </a:r>
            <a:r>
              <a:rPr lang="en-US" altLang="ko-KR" b="1"/>
              <a:t>․</a:t>
            </a:r>
            <a:r>
              <a:rPr lang="ko-KR" altLang="en-US" b="1"/>
              <a:t>출력 형식 </a:t>
            </a:r>
            <a:r>
              <a:rPr lang="en-US" altLang="ko-KR" b="1"/>
              <a:t>(</a:t>
            </a:r>
            <a:r>
              <a:rPr lang="ko-KR" altLang="en-US" b="1"/>
              <a:t>연산은 불가능</a:t>
            </a:r>
            <a:r>
              <a:rPr lang="en-US" altLang="ko-KR" b="1"/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슬라이드 번호 개체 틀 1">
            <a:extLst>
              <a:ext uri="{FF2B5EF4-FFF2-40B4-BE49-F238E27FC236}">
                <a16:creationId xmlns:a16="http://schemas.microsoft.com/office/drawing/2014/main" id="{8962E4FB-FB52-4093-8491-71325171A7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E137794D-0BD3-4A4D-9226-3245EABDD963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20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2531" name="Rectangle 4">
            <a:extLst>
              <a:ext uri="{FF2B5EF4-FFF2-40B4-BE49-F238E27FC236}">
                <a16:creationId xmlns:a16="http://schemas.microsoft.com/office/drawing/2014/main" id="{3757145C-BA5D-43C2-91B1-E51D55B7A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765175"/>
            <a:ext cx="45720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- +1234, -1234</a:t>
            </a:r>
            <a:r>
              <a:rPr lang="ko-KR" altLang="en-US" b="1"/>
              <a:t>를 언팩 형식으로 표현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</a:t>
            </a:r>
            <a:r>
              <a:rPr lang="en-US" altLang="ko-KR" b="1"/>
              <a:t>+1234</a:t>
            </a:r>
          </a:p>
        </p:txBody>
      </p:sp>
      <p:pic>
        <p:nvPicPr>
          <p:cNvPr id="22532" name="Picture 5">
            <a:extLst>
              <a:ext uri="{FF2B5EF4-FFF2-40B4-BE49-F238E27FC236}">
                <a16:creationId xmlns:a16="http://schemas.microsoft.com/office/drawing/2014/main" id="{5FCDBBCB-CA96-4F58-B642-9DD9AC3AF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628775"/>
            <a:ext cx="525462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Rectangle 6">
            <a:extLst>
              <a:ext uri="{FF2B5EF4-FFF2-40B4-BE49-F238E27FC236}">
                <a16:creationId xmlns:a16="http://schemas.microsoft.com/office/drawing/2014/main" id="{7C3137C0-A837-44AD-90E1-D7B3F9B3F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27813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-1234</a:t>
            </a:r>
          </a:p>
        </p:txBody>
      </p:sp>
      <p:pic>
        <p:nvPicPr>
          <p:cNvPr id="22534" name="Picture 8">
            <a:extLst>
              <a:ext uri="{FF2B5EF4-FFF2-40B4-BE49-F238E27FC236}">
                <a16:creationId xmlns:a16="http://schemas.microsoft.com/office/drawing/2014/main" id="{81317C73-3C7D-4C4C-B4EB-4BC1FEE99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3213100"/>
            <a:ext cx="5254625" cy="887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슬라이드 번호 개체 틀 1">
            <a:extLst>
              <a:ext uri="{FF2B5EF4-FFF2-40B4-BE49-F238E27FC236}">
                <a16:creationId xmlns:a16="http://schemas.microsoft.com/office/drawing/2014/main" id="{298F244E-B74D-4A01-8116-65569EBB98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5FD7A967-F07D-4426-9AF7-1EA6927BC64D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21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3555" name="Rectangle 4">
            <a:extLst>
              <a:ext uri="{FF2B5EF4-FFF2-40B4-BE49-F238E27FC236}">
                <a16:creationId xmlns:a16="http://schemas.microsoft.com/office/drawing/2014/main" id="{34AA3B3E-64F8-479A-9481-DDDFFE72D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765175"/>
            <a:ext cx="457200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• Packed format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- </a:t>
            </a:r>
            <a:r>
              <a:rPr lang="ko-KR" altLang="en-US" b="1"/>
              <a:t>표현 방법</a:t>
            </a:r>
          </a:p>
        </p:txBody>
      </p:sp>
      <p:pic>
        <p:nvPicPr>
          <p:cNvPr id="23556" name="Picture 5">
            <a:extLst>
              <a:ext uri="{FF2B5EF4-FFF2-40B4-BE49-F238E27FC236}">
                <a16:creationId xmlns:a16="http://schemas.microsoft.com/office/drawing/2014/main" id="{D1204694-131E-409A-B5B8-6DBB246D1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628775"/>
            <a:ext cx="6840538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Rectangle 6">
            <a:extLst>
              <a:ext uri="{FF2B5EF4-FFF2-40B4-BE49-F238E27FC236}">
                <a16:creationId xmlns:a16="http://schemas.microsoft.com/office/drawing/2014/main" id="{4978888B-4CEC-49CE-9CAE-5D992570E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406650"/>
            <a:ext cx="7848600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최하위 </a:t>
            </a:r>
            <a:r>
              <a:rPr lang="en-US" altLang="ko-KR" b="1"/>
              <a:t>(</a:t>
            </a:r>
            <a:r>
              <a:rPr lang="ko-KR" altLang="en-US" b="1"/>
              <a:t>맨 우측</a:t>
            </a:r>
            <a:r>
              <a:rPr lang="en-US" altLang="ko-KR" b="1"/>
              <a:t>) </a:t>
            </a:r>
            <a:r>
              <a:rPr lang="ko-KR" altLang="en-US" b="1"/>
              <a:t>바이트의 </a:t>
            </a:r>
            <a:r>
              <a:rPr lang="en-US" altLang="ko-KR" b="1"/>
              <a:t>4Bit </a:t>
            </a:r>
            <a:r>
              <a:rPr lang="ko-KR" altLang="en-US" b="1"/>
              <a:t>부분을 부호로 사용함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</a:t>
            </a:r>
            <a:r>
              <a:rPr lang="ko-KR" altLang="en-US" b="1"/>
              <a:t>용도 </a:t>
            </a:r>
            <a:r>
              <a:rPr lang="en-US" altLang="ko-KR" b="1"/>
              <a:t>: 10</a:t>
            </a:r>
            <a:r>
              <a:rPr lang="ko-KR" altLang="en-US" b="1"/>
              <a:t>진수 연산형식 </a:t>
            </a:r>
            <a:r>
              <a:rPr lang="en-US" altLang="ko-KR" b="1"/>
              <a:t>(</a:t>
            </a:r>
            <a:r>
              <a:rPr lang="ko-KR" altLang="en-US" b="1"/>
              <a:t>데이터의 입</a:t>
            </a:r>
            <a:r>
              <a:rPr lang="en-US" altLang="ko-KR" b="1"/>
              <a:t>․</a:t>
            </a:r>
            <a:r>
              <a:rPr lang="ko-KR" altLang="en-US" b="1"/>
              <a:t>출력은 불가능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- 1 Byte</a:t>
            </a:r>
            <a:r>
              <a:rPr lang="ko-KR" altLang="en-US" b="1"/>
              <a:t>로 </a:t>
            </a:r>
            <a:r>
              <a:rPr lang="en-US" altLang="ko-KR" b="1"/>
              <a:t>10</a:t>
            </a:r>
            <a:r>
              <a:rPr lang="ko-KR" altLang="en-US" b="1"/>
              <a:t>진수 </a:t>
            </a:r>
            <a:r>
              <a:rPr lang="en-US" altLang="ko-KR" b="1"/>
              <a:t>2</a:t>
            </a:r>
            <a:r>
              <a:rPr lang="ko-KR" altLang="en-US" b="1"/>
              <a:t>자리 표현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Digit : 10</a:t>
            </a:r>
            <a:r>
              <a:rPr lang="ko-KR" altLang="en-US" b="1"/>
              <a:t>진수 </a:t>
            </a:r>
            <a:r>
              <a:rPr lang="en-US" altLang="ko-KR" b="1"/>
              <a:t>1</a:t>
            </a:r>
            <a:r>
              <a:rPr lang="ko-KR" altLang="en-US" b="1"/>
              <a:t>자리를 </a:t>
            </a:r>
            <a:r>
              <a:rPr lang="en-US" altLang="ko-KR" b="1"/>
              <a:t>4</a:t>
            </a:r>
            <a:r>
              <a:rPr lang="ko-KR" altLang="en-US" b="1"/>
              <a:t>비트 </a:t>
            </a:r>
            <a:r>
              <a:rPr lang="en-US" altLang="ko-KR" b="1"/>
              <a:t>2</a:t>
            </a:r>
            <a:r>
              <a:rPr lang="ko-KR" altLang="en-US" b="1"/>
              <a:t>진수로 표현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- Sign : C( </a:t>
            </a:r>
            <a:r>
              <a:rPr lang="ko-KR" altLang="en-US" b="1"/>
              <a:t>양수</a:t>
            </a:r>
            <a:r>
              <a:rPr lang="en-US" altLang="ko-KR" b="1"/>
              <a:t>), D(</a:t>
            </a:r>
            <a:r>
              <a:rPr lang="ko-KR" altLang="en-US" b="1"/>
              <a:t>음수 </a:t>
            </a:r>
            <a:r>
              <a:rPr lang="en-US" altLang="ko-KR" b="1"/>
              <a:t>), F(</a:t>
            </a:r>
            <a:r>
              <a:rPr lang="ko-KR" altLang="en-US" b="1"/>
              <a:t>부호 없는 양수</a:t>
            </a:r>
            <a:r>
              <a:rPr lang="en-US" altLang="ko-KR" b="1"/>
              <a:t>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번호 개체 틀 1">
            <a:extLst>
              <a:ext uri="{FF2B5EF4-FFF2-40B4-BE49-F238E27FC236}">
                <a16:creationId xmlns:a16="http://schemas.microsoft.com/office/drawing/2014/main" id="{65768AFC-A731-46AA-9DB5-29B6E97C61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DA9F42F0-2670-4A80-B0CC-93ECF9F4F9D4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22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4579" name="Text Box 4">
            <a:extLst>
              <a:ext uri="{FF2B5EF4-FFF2-40B4-BE49-F238E27FC236}">
                <a16:creationId xmlns:a16="http://schemas.microsoft.com/office/drawing/2014/main" id="{7D09F3FB-877F-49D0-8FAA-3D8D670CB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985838"/>
            <a:ext cx="38735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buFontTx/>
              <a:buChar char="-"/>
            </a:pPr>
            <a:r>
              <a:rPr lang="en-US" altLang="ko-KR" b="1"/>
              <a:t> +1234, -1234</a:t>
            </a:r>
            <a:r>
              <a:rPr lang="ko-KR" altLang="en-US" b="1"/>
              <a:t>를 팩 형식으로 표현</a:t>
            </a:r>
          </a:p>
          <a:p>
            <a:pPr eaLnBrk="1" hangingPunct="1"/>
            <a:r>
              <a:rPr lang="ko-KR" altLang="en-US" b="1"/>
              <a:t>   </a:t>
            </a:r>
            <a:r>
              <a:rPr lang="en-US" altLang="ko-KR" b="1"/>
              <a:t>+1234</a:t>
            </a:r>
          </a:p>
        </p:txBody>
      </p:sp>
      <p:pic>
        <p:nvPicPr>
          <p:cNvPr id="24580" name="Picture 5">
            <a:extLst>
              <a:ext uri="{FF2B5EF4-FFF2-40B4-BE49-F238E27FC236}">
                <a16:creationId xmlns:a16="http://schemas.microsoft.com/office/drawing/2014/main" id="{5D867A66-18D9-40FC-8DE4-CFE17113B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628775"/>
            <a:ext cx="4956175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 Box 6">
            <a:extLst>
              <a:ext uri="{FF2B5EF4-FFF2-40B4-BE49-F238E27FC236}">
                <a16:creationId xmlns:a16="http://schemas.microsoft.com/office/drawing/2014/main" id="{1F261BB8-C02B-41AE-9C7A-564981EC0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338" y="2636838"/>
            <a:ext cx="8413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buFontTx/>
              <a:buChar char="-"/>
            </a:pPr>
            <a:r>
              <a:rPr lang="en-US" altLang="ko-KR" b="1"/>
              <a:t>1234</a:t>
            </a:r>
          </a:p>
        </p:txBody>
      </p:sp>
      <p:pic>
        <p:nvPicPr>
          <p:cNvPr id="24582" name="Picture 7">
            <a:extLst>
              <a:ext uri="{FF2B5EF4-FFF2-40B4-BE49-F238E27FC236}">
                <a16:creationId xmlns:a16="http://schemas.microsoft.com/office/drawing/2014/main" id="{3A5D932C-E021-4069-B4C5-B3773CB11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-18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2997200"/>
            <a:ext cx="4918075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3" name="Text Box 8">
            <a:extLst>
              <a:ext uri="{FF2B5EF4-FFF2-40B4-BE49-F238E27FC236}">
                <a16:creationId xmlns:a16="http://schemas.microsoft.com/office/drawing/2014/main" id="{A0CD56D8-E1D5-41AD-8B8F-7CD3F6567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149725"/>
            <a:ext cx="60594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buFontTx/>
              <a:buChar char="-"/>
            </a:pPr>
            <a:r>
              <a:rPr lang="en-US" altLang="ko-KR" b="1"/>
              <a:t>EBCDIC  </a:t>
            </a:r>
            <a:r>
              <a:rPr lang="ko-KR" altLang="en-US" b="1"/>
              <a:t>코드에 의한 </a:t>
            </a:r>
            <a:r>
              <a:rPr lang="en-US" altLang="ko-KR" b="1"/>
              <a:t>(-123)</a:t>
            </a:r>
            <a:r>
              <a:rPr lang="en-US" altLang="ko-KR" b="1" baseline="-25000"/>
              <a:t>10</a:t>
            </a:r>
            <a:r>
              <a:rPr lang="en-US" altLang="ko-KR" b="1"/>
              <a:t> </a:t>
            </a:r>
            <a:r>
              <a:rPr lang="ko-KR" altLang="en-US" b="1"/>
              <a:t>의 팩 형식 십진수의 형택</a:t>
            </a:r>
          </a:p>
        </p:txBody>
      </p:sp>
      <p:pic>
        <p:nvPicPr>
          <p:cNvPr id="24584" name="Picture 9">
            <a:extLst>
              <a:ext uri="{FF2B5EF4-FFF2-40B4-BE49-F238E27FC236}">
                <a16:creationId xmlns:a16="http://schemas.microsoft.com/office/drawing/2014/main" id="{60B915C4-4FAA-4564-BBF1-4914D59EE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-18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4581525"/>
            <a:ext cx="2808288" cy="71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슬라이드 번호 개체 틀 1">
            <a:extLst>
              <a:ext uri="{FF2B5EF4-FFF2-40B4-BE49-F238E27FC236}">
                <a16:creationId xmlns:a16="http://schemas.microsoft.com/office/drawing/2014/main" id="{E3D0258E-6860-46FB-9E7B-C030BC71F5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3EC515E9-D25C-4234-A987-4C5C5E14ADF3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23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5603" name="Rectangle 4">
            <a:extLst>
              <a:ext uri="{FF2B5EF4-FFF2-40B4-BE49-F238E27FC236}">
                <a16:creationId xmlns:a16="http://schemas.microsoft.com/office/drawing/2014/main" id="{628324A0-519A-4D91-ADAC-CE3CBF1813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836613"/>
            <a:ext cx="8424862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2) 2</a:t>
            </a:r>
            <a:r>
              <a:rPr lang="ko-KR" altLang="en-US" b="1"/>
              <a:t>진 연산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① </a:t>
            </a:r>
            <a:r>
              <a:rPr lang="en-US" altLang="ko-KR" b="1"/>
              <a:t>10</a:t>
            </a:r>
            <a:r>
              <a:rPr lang="ko-KR" altLang="en-US" b="1"/>
              <a:t>진수 전체 값을 </a:t>
            </a:r>
            <a:r>
              <a:rPr lang="en-US" altLang="ko-KR" b="1"/>
              <a:t>2</a:t>
            </a:r>
            <a:r>
              <a:rPr lang="ko-KR" altLang="en-US" b="1"/>
              <a:t>진수로 변환하여 표현하는 방식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② 표현 방법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</a:t>
            </a:r>
            <a:r>
              <a:rPr lang="en-US" altLang="ko-KR" b="1"/>
              <a:t>n Bit </a:t>
            </a:r>
            <a:r>
              <a:rPr lang="ko-KR" altLang="en-US" b="1"/>
              <a:t>크기의 워드가 있을 때 맨 처음</a:t>
            </a:r>
            <a:r>
              <a:rPr lang="en-US" altLang="ko-KR" b="1"/>
              <a:t>1 Bit </a:t>
            </a:r>
            <a:r>
              <a:rPr lang="ko-KR" altLang="en-US" b="1"/>
              <a:t>는 부호 비트</a:t>
            </a:r>
            <a:r>
              <a:rPr lang="en-US" altLang="ko-KR" b="1"/>
              <a:t>(Sign Bit) </a:t>
            </a:r>
            <a:r>
              <a:rPr lang="ko-KR" altLang="en-US" b="1"/>
              <a:t>로 사용되고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나머지 </a:t>
            </a:r>
            <a:r>
              <a:rPr lang="en-US" altLang="ko-KR" b="1"/>
              <a:t>n-1</a:t>
            </a:r>
            <a:r>
              <a:rPr lang="ko-KR" altLang="en-US" b="1"/>
              <a:t>에 </a:t>
            </a:r>
            <a:r>
              <a:rPr lang="en-US" altLang="ko-KR" b="1"/>
              <a:t>2</a:t>
            </a:r>
            <a:r>
              <a:rPr lang="ko-KR" altLang="en-US" b="1"/>
              <a:t>진수로 표현된 정수 값</a:t>
            </a:r>
            <a:r>
              <a:rPr lang="en-US" altLang="ko-KR" b="1"/>
              <a:t>(Data Bit) </a:t>
            </a:r>
            <a:r>
              <a:rPr lang="ko-KR" altLang="en-US" b="1"/>
              <a:t>이 저장됨</a:t>
            </a:r>
          </a:p>
        </p:txBody>
      </p:sp>
      <p:pic>
        <p:nvPicPr>
          <p:cNvPr id="25604" name="Picture 5">
            <a:extLst>
              <a:ext uri="{FF2B5EF4-FFF2-40B4-BE49-F238E27FC236}">
                <a16:creationId xmlns:a16="http://schemas.microsoft.com/office/drawing/2014/main" id="{E2950251-52B8-4669-B98E-21083279D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2708275"/>
            <a:ext cx="56165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Rectangle 6">
            <a:extLst>
              <a:ext uri="{FF2B5EF4-FFF2-40B4-BE49-F238E27FC236}">
                <a16:creationId xmlns:a16="http://schemas.microsoft.com/office/drawing/2014/main" id="{EBEA55A9-EF1F-49B9-8805-6A54B2FF0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8" y="3789363"/>
            <a:ext cx="7904162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※ Sign Bit : 0(</a:t>
            </a:r>
            <a:r>
              <a:rPr lang="ko-KR" altLang="en-US" b="1"/>
              <a:t>양수</a:t>
            </a:r>
            <a:r>
              <a:rPr lang="en-US" altLang="ko-KR" b="1"/>
              <a:t>), 1(</a:t>
            </a:r>
            <a:r>
              <a:rPr lang="ko-KR" altLang="en-US" b="1"/>
              <a:t>음수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endParaRPr lang="en-US" altLang="ko-KR" b="1"/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③ </a:t>
            </a:r>
            <a:r>
              <a:rPr lang="ko-KR" altLang="en-US" b="1"/>
              <a:t>양수 </a:t>
            </a:r>
            <a:r>
              <a:rPr lang="en-US" altLang="ko-KR" b="1"/>
              <a:t>: </a:t>
            </a:r>
            <a:r>
              <a:rPr lang="ko-KR" altLang="en-US" b="1"/>
              <a:t>부호 비트에 </a:t>
            </a:r>
            <a:r>
              <a:rPr lang="en-US" altLang="ko-KR" b="1"/>
              <a:t>0</a:t>
            </a:r>
            <a:r>
              <a:rPr lang="ko-KR" altLang="en-US" b="1"/>
              <a:t>을 넣고</a:t>
            </a:r>
            <a:r>
              <a:rPr lang="en-US" altLang="ko-KR" b="1"/>
              <a:t>, </a:t>
            </a:r>
            <a:r>
              <a:rPr lang="ko-KR" altLang="en-US" b="1"/>
              <a:t>변환된 </a:t>
            </a:r>
            <a:r>
              <a:rPr lang="en-US" altLang="ko-KR" b="1"/>
              <a:t>2</a:t>
            </a:r>
            <a:r>
              <a:rPr lang="ko-KR" altLang="en-US" b="1"/>
              <a:t>진수 값을 </a:t>
            </a:r>
            <a:r>
              <a:rPr lang="en-US" altLang="ko-KR" b="1"/>
              <a:t>Data Bit</a:t>
            </a:r>
            <a:r>
              <a:rPr lang="ko-KR" altLang="en-US" b="1"/>
              <a:t>의 오른쪽에서 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  왼쪽 순으로 차례로 채우고 남는 자리에 </a:t>
            </a:r>
            <a:r>
              <a:rPr lang="en-US" altLang="ko-KR" b="1"/>
              <a:t>0</a:t>
            </a:r>
            <a:r>
              <a:rPr lang="ko-KR" altLang="en-US" b="1"/>
              <a:t>을 채움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번호 개체 틀 1">
            <a:extLst>
              <a:ext uri="{FF2B5EF4-FFF2-40B4-BE49-F238E27FC236}">
                <a16:creationId xmlns:a16="http://schemas.microsoft.com/office/drawing/2014/main" id="{F45F6752-0678-43E3-96FA-9577F26609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2813D6E0-80AB-4768-ABA0-46CEF386E59B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24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6627" name="Rectangle 4">
            <a:extLst>
              <a:ext uri="{FF2B5EF4-FFF2-40B4-BE49-F238E27FC236}">
                <a16:creationId xmlns:a16="http://schemas.microsoft.com/office/drawing/2014/main" id="{7E96E41A-4116-4198-BDCB-DF4D5BA16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836613"/>
            <a:ext cx="9302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r>
              <a:rPr lang="en-US" altLang="ko-KR" b="1"/>
              <a:t>④ </a:t>
            </a:r>
            <a:r>
              <a:rPr lang="ko-KR" altLang="en-US" b="1"/>
              <a:t>음수</a:t>
            </a:r>
          </a:p>
        </p:txBody>
      </p:sp>
      <p:sp>
        <p:nvSpPr>
          <p:cNvPr id="26628" name="Rectangle 7">
            <a:extLst>
              <a:ext uri="{FF2B5EF4-FFF2-40B4-BE49-F238E27FC236}">
                <a16:creationId xmlns:a16="http://schemas.microsoft.com/office/drawing/2014/main" id="{25988C9B-3D22-40A3-A218-5325E8A6F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113" y="5373688"/>
            <a:ext cx="8497887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※ 2</a:t>
            </a:r>
            <a:r>
              <a:rPr lang="ko-KR" altLang="en-US" b="1"/>
              <a:t>의 보수 표현 방식으로 </a:t>
            </a:r>
            <a:r>
              <a:rPr lang="en-US" altLang="ko-KR" b="1"/>
              <a:t>8</a:t>
            </a:r>
            <a:r>
              <a:rPr lang="ko-KR" altLang="en-US" b="1"/>
              <a:t>비트의 기억 공간에 정수를 표현할 때 표현 가능 범위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⇨ </a:t>
            </a:r>
            <a:r>
              <a:rPr lang="en-US" altLang="ko-KR" b="1"/>
              <a:t>-2</a:t>
            </a:r>
            <a:r>
              <a:rPr lang="en-US" altLang="ko-KR" b="1" baseline="30000"/>
              <a:t>7</a:t>
            </a:r>
            <a:r>
              <a:rPr lang="en-US" altLang="ko-KR" b="1" baseline="-25000"/>
              <a:t> </a:t>
            </a:r>
            <a:r>
              <a:rPr lang="en-US" altLang="ko-KR" b="1"/>
              <a:t>~ +(2</a:t>
            </a:r>
            <a:r>
              <a:rPr lang="en-US" altLang="ko-KR" b="1" baseline="30000"/>
              <a:t>7</a:t>
            </a:r>
            <a:r>
              <a:rPr lang="en-US" altLang="ko-KR" b="1"/>
              <a:t> - 1)</a:t>
            </a:r>
          </a:p>
        </p:txBody>
      </p:sp>
      <p:pic>
        <p:nvPicPr>
          <p:cNvPr id="26629" name="Picture 8">
            <a:extLst>
              <a:ext uri="{FF2B5EF4-FFF2-40B4-BE49-F238E27FC236}">
                <a16:creationId xmlns:a16="http://schemas.microsoft.com/office/drawing/2014/main" id="{1FF5AA08-BD3C-44B3-AAA3-864494A28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484313"/>
            <a:ext cx="7705725" cy="3506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슬라이드 번호 개체 틀 1">
            <a:extLst>
              <a:ext uri="{FF2B5EF4-FFF2-40B4-BE49-F238E27FC236}">
                <a16:creationId xmlns:a16="http://schemas.microsoft.com/office/drawing/2014/main" id="{4F589002-6603-4F40-BCDC-D8F953E4F5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0D75A091-E878-4C3C-9F01-12FD0CE79989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25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7651" name="Rectangle 5">
            <a:extLst>
              <a:ext uri="{FF2B5EF4-FFF2-40B4-BE49-F238E27FC236}">
                <a16:creationId xmlns:a16="http://schemas.microsoft.com/office/drawing/2014/main" id="{BAE9A7F1-1BFC-4A8D-87DE-7BBA5FD9F1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908050"/>
            <a:ext cx="8243887" cy="207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⑤ 2</a:t>
            </a:r>
            <a:r>
              <a:rPr lang="ko-KR" altLang="en-US" b="1"/>
              <a:t>의 보수 표현법의 특징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1 </a:t>
            </a:r>
            <a:r>
              <a:rPr lang="ko-KR" altLang="en-US" b="1"/>
              <a:t>의 보수 표현보다 표현할 수 있는 수의 개수가 하나 더 많아서 더 널리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사용되고 있음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</a:t>
            </a:r>
            <a:r>
              <a:rPr lang="ko-KR" altLang="en-US" b="1"/>
              <a:t>정수 표현에서 음수를 나타내는 데 부호화된 </a:t>
            </a:r>
            <a:r>
              <a:rPr lang="en-US" altLang="ko-KR" b="1"/>
              <a:t>2</a:t>
            </a:r>
            <a:r>
              <a:rPr lang="ko-KR" altLang="en-US" b="1"/>
              <a:t>의 보수법이 </a:t>
            </a:r>
            <a:r>
              <a:rPr lang="en-US" altLang="ko-KR" b="1"/>
              <a:t>1</a:t>
            </a:r>
            <a:r>
              <a:rPr lang="ko-KR" altLang="en-US" b="1"/>
              <a:t>의 보수법에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비해 장점 </a:t>
            </a:r>
            <a:r>
              <a:rPr lang="en-US" altLang="ko-KR" b="1"/>
              <a:t>: Carry</a:t>
            </a:r>
            <a:r>
              <a:rPr lang="ko-KR" altLang="en-US" b="1"/>
              <a:t>가 발생하면 무시함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</a:t>
            </a:r>
            <a:r>
              <a:rPr lang="en-US" altLang="ko-KR"/>
              <a:t> </a:t>
            </a:r>
            <a:r>
              <a:rPr lang="ko-KR" altLang="en-US" b="1"/>
              <a:t>수치를 표현하는 데 있어서 의 판단이 가장 쉬운 방법임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번호 개체 틀 1">
            <a:extLst>
              <a:ext uri="{FF2B5EF4-FFF2-40B4-BE49-F238E27FC236}">
                <a16:creationId xmlns:a16="http://schemas.microsoft.com/office/drawing/2014/main" id="{991C6B67-794B-485A-9219-4C8CEA0456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04F408CB-F792-4A9A-926D-FF25EFD16D89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26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id="{3E78B67B-C873-49C1-AE9B-F7B83D8A6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836613"/>
            <a:ext cx="8424862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(2) </a:t>
            </a:r>
            <a:r>
              <a:rPr lang="ko-KR" altLang="en-US" b="1"/>
              <a:t>부동 소수점 </a:t>
            </a:r>
            <a:r>
              <a:rPr lang="en-US" altLang="ko-KR" b="1"/>
              <a:t>(Floating Point) </a:t>
            </a:r>
            <a:r>
              <a:rPr lang="ko-KR" altLang="en-US" b="1"/>
              <a:t>표현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1) </a:t>
            </a:r>
            <a:r>
              <a:rPr lang="ko-KR" altLang="en-US" b="1"/>
              <a:t>부동 소수점 표현의 특징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① 고정 소수점 표현보다 표현의 정밀도를 높일 수 있음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② 아주 작은 수와 아주 큰 수의 표현에 적합함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③ 수 표현에 필요한 자리 수에 있어 효율적임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④ 과학이나 공학</a:t>
            </a:r>
            <a:r>
              <a:rPr lang="en-US" altLang="ko-KR" b="1"/>
              <a:t>, </a:t>
            </a:r>
            <a:r>
              <a:rPr lang="ko-KR" altLang="en-US" b="1"/>
              <a:t>수학적인 응용에 주로 사용되는 수 표현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⑤ 부동 소수점 수의 연산은 고정 소수점 연산에 비해 복잡하며</a:t>
            </a:r>
            <a:r>
              <a:rPr lang="en-US" altLang="ko-KR" b="1"/>
              <a:t>, </a:t>
            </a:r>
            <a:r>
              <a:rPr lang="ko-KR" altLang="en-US" b="1"/>
              <a:t>연산 시간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  이 많이 걸림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</a:t>
            </a:r>
            <a:r>
              <a:rPr lang="en-US" altLang="ko-KR" b="1"/>
              <a:t>2) </a:t>
            </a:r>
            <a:r>
              <a:rPr lang="ko-KR" altLang="en-US" b="1"/>
              <a:t>형식 </a:t>
            </a:r>
          </a:p>
        </p:txBody>
      </p:sp>
      <p:graphicFrame>
        <p:nvGraphicFramePr>
          <p:cNvPr id="136221" name="Group 29">
            <a:extLst>
              <a:ext uri="{FF2B5EF4-FFF2-40B4-BE49-F238E27FC236}">
                <a16:creationId xmlns:a16="http://schemas.microsoft.com/office/drawing/2014/main" id="{C69B1E4E-E7E7-4BE8-A349-E75F273615F9}"/>
              </a:ext>
            </a:extLst>
          </p:cNvPr>
          <p:cNvGraphicFramePr>
            <a:graphicFrameLocks noGrp="1"/>
          </p:cNvGraphicFramePr>
          <p:nvPr/>
        </p:nvGraphicFramePr>
        <p:xfrm>
          <a:off x="1258888" y="4292600"/>
          <a:ext cx="4824412" cy="365482"/>
        </p:xfrm>
        <a:graphic>
          <a:graphicData uri="http://schemas.openxmlformats.org/drawingml/2006/table">
            <a:tbl>
              <a:tblPr/>
              <a:tblGrid>
                <a:gridCol w="792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부호</a:t>
                      </a:r>
                    </a:p>
                  </a:txBody>
                  <a:tcPr marT="45581" marB="45581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지수부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가수부</a:t>
                      </a:r>
                    </a:p>
                  </a:txBody>
                  <a:tcPr marT="45581" marB="455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686" name="Rectangle 30">
            <a:extLst>
              <a:ext uri="{FF2B5EF4-FFF2-40B4-BE49-F238E27FC236}">
                <a16:creationId xmlns:a16="http://schemas.microsoft.com/office/drawing/2014/main" id="{171753B1-B100-4223-81E3-711136AE0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8888" y="4797425"/>
            <a:ext cx="4572000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※ </a:t>
            </a:r>
            <a:r>
              <a:rPr lang="ko-KR" altLang="en-US" b="1"/>
              <a:t>부호    </a:t>
            </a:r>
            <a:r>
              <a:rPr lang="en-US" altLang="ko-KR" b="1"/>
              <a:t>: 0(</a:t>
            </a:r>
            <a:r>
              <a:rPr lang="ko-KR" altLang="en-US" b="1"/>
              <a:t>양수</a:t>
            </a:r>
            <a:r>
              <a:rPr lang="en-US" altLang="ko-KR" b="1"/>
              <a:t>), 1(</a:t>
            </a:r>
            <a:r>
              <a:rPr lang="ko-KR" altLang="en-US" b="1"/>
              <a:t>음수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※ </a:t>
            </a:r>
            <a:r>
              <a:rPr lang="ko-KR" altLang="en-US" b="1"/>
              <a:t>단정도 </a:t>
            </a:r>
            <a:r>
              <a:rPr lang="en-US" altLang="ko-KR" b="1"/>
              <a:t>: </a:t>
            </a:r>
            <a:r>
              <a:rPr lang="ko-KR" altLang="en-US" b="1"/>
              <a:t>가수부가 </a:t>
            </a:r>
            <a:r>
              <a:rPr lang="en-US" altLang="ko-KR" b="1"/>
              <a:t>4Byte,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</a:t>
            </a:r>
            <a:r>
              <a:rPr lang="ko-KR" altLang="en-US" b="1"/>
              <a:t>배정도 </a:t>
            </a:r>
            <a:r>
              <a:rPr lang="en-US" altLang="ko-KR" b="1"/>
              <a:t>: </a:t>
            </a:r>
            <a:r>
              <a:rPr lang="ko-KR" altLang="en-US" b="1"/>
              <a:t>가수부가 </a:t>
            </a:r>
            <a:r>
              <a:rPr lang="en-US" altLang="ko-KR" b="1"/>
              <a:t>8Byte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슬라이드 번호 개체 틀 1">
            <a:extLst>
              <a:ext uri="{FF2B5EF4-FFF2-40B4-BE49-F238E27FC236}">
                <a16:creationId xmlns:a16="http://schemas.microsoft.com/office/drawing/2014/main" id="{BF0BC105-C2BD-43F3-B72A-099FB4CB4C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57D2EDB0-2C67-4CF9-8B99-097876B6AF10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27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29699" name="Rectangle 4">
            <a:extLst>
              <a:ext uri="{FF2B5EF4-FFF2-40B4-BE49-F238E27FC236}">
                <a16:creationId xmlns:a16="http://schemas.microsoft.com/office/drawing/2014/main" id="{CC917215-23E5-4392-ACD4-AB0B2FE77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836613"/>
            <a:ext cx="8424862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3) </a:t>
            </a:r>
            <a:r>
              <a:rPr lang="ko-KR" altLang="en-US" b="1"/>
              <a:t>부동 소수점의 연산 방법</a:t>
            </a:r>
          </a:p>
          <a:p>
            <a:pPr eaLnBrk="1" hangingPunct="1">
              <a:lnSpc>
                <a:spcPct val="120000"/>
              </a:lnSpc>
            </a:pPr>
            <a:endParaRPr lang="ko-KR" altLang="en-US" b="1"/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① 덧셈</a:t>
            </a:r>
            <a:r>
              <a:rPr lang="en-US" altLang="ko-KR" b="1"/>
              <a:t>, </a:t>
            </a:r>
            <a:r>
              <a:rPr lang="ko-KR" altLang="en-US" b="1"/>
              <a:t>뺄셈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</a:t>
            </a:r>
            <a:r>
              <a:rPr lang="en-US" altLang="ko-KR" b="1"/>
              <a:t>• 0</a:t>
            </a:r>
            <a:r>
              <a:rPr lang="ko-KR" altLang="en-US" b="1"/>
              <a:t>인지 여부 조사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</a:t>
            </a:r>
            <a:r>
              <a:rPr lang="en-US" altLang="ko-KR" b="1"/>
              <a:t>• </a:t>
            </a:r>
            <a:r>
              <a:rPr lang="ko-KR" altLang="en-US" b="1"/>
              <a:t>가수의 위치 조정 </a:t>
            </a:r>
            <a:r>
              <a:rPr lang="en-US" altLang="ko-KR" b="1"/>
              <a:t>: </a:t>
            </a:r>
            <a:r>
              <a:rPr lang="ko-KR" altLang="en-US" b="1"/>
              <a:t>지수 비교 후 지수 크기가 다르면 지수가 큰 쪽에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  일치 시킴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</a:t>
            </a:r>
            <a:r>
              <a:rPr lang="en-US" altLang="ko-KR" b="1"/>
              <a:t>• </a:t>
            </a:r>
            <a:r>
              <a:rPr lang="ko-KR" altLang="en-US" b="1"/>
              <a:t>가수부 값끼리 더하거나 뺌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   </a:t>
            </a:r>
            <a:r>
              <a:rPr lang="en-US" altLang="ko-KR" b="1"/>
              <a:t>• </a:t>
            </a:r>
            <a:r>
              <a:rPr lang="ko-KR" altLang="en-US" b="1"/>
              <a:t>결과의 정규화 </a:t>
            </a:r>
            <a:r>
              <a:rPr lang="en-US" altLang="ko-KR" b="1"/>
              <a:t>(</a:t>
            </a:r>
            <a:r>
              <a:rPr lang="ko-KR" altLang="en-US" b="1"/>
              <a:t>지수부와 가수부 분리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</a:t>
            </a:r>
            <a:r>
              <a:rPr lang="ko-KR" altLang="en-US" b="1"/>
              <a:t>예</a:t>
            </a:r>
            <a:r>
              <a:rPr lang="en-US" altLang="ko-KR" b="1"/>
              <a:t>) (0.27 × 10</a:t>
            </a:r>
            <a:r>
              <a:rPr lang="en-US" altLang="ko-KR" b="1" baseline="30000"/>
              <a:t>5</a:t>
            </a:r>
            <a:r>
              <a:rPr lang="en-US" altLang="ko-KR" b="1"/>
              <a:t>) + (0.18 × 10</a:t>
            </a:r>
            <a:r>
              <a:rPr lang="en-US" altLang="ko-KR" b="1" baseline="30000"/>
              <a:t>3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  = (0.27 × 10</a:t>
            </a:r>
            <a:r>
              <a:rPr lang="en-US" altLang="ko-KR" b="1" baseline="30000"/>
              <a:t>5</a:t>
            </a:r>
            <a:r>
              <a:rPr lang="en-US" altLang="ko-KR" b="1"/>
              <a:t>) + (0.0018 × 10</a:t>
            </a:r>
            <a:r>
              <a:rPr lang="en-US" altLang="ko-KR" b="1" baseline="30000"/>
              <a:t>5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  = (0.27 + 0.0018) × 10</a:t>
            </a:r>
            <a:r>
              <a:rPr lang="en-US" altLang="ko-KR" b="1" baseline="30000"/>
              <a:t>5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     = 0.2718 × 10</a:t>
            </a:r>
            <a:r>
              <a:rPr lang="en-US" altLang="ko-KR" b="1" baseline="30000"/>
              <a:t>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슬라이드 번호 개체 틀 1">
            <a:extLst>
              <a:ext uri="{FF2B5EF4-FFF2-40B4-BE49-F238E27FC236}">
                <a16:creationId xmlns:a16="http://schemas.microsoft.com/office/drawing/2014/main" id="{9124C31F-ED38-4248-8AD7-0C927B7573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r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t>Page : </a:t>
            </a:r>
            <a:fld id="{764D6361-EFF1-4974-AB73-3139D760E6C6}" type="slidenum">
              <a:rPr lang="en-US" altLang="ko-KR">
                <a:solidFill>
                  <a:srgbClr val="000066"/>
                </a:solidFill>
                <a:latin typeface="견고딕" pitchFamily="18" charset="-127"/>
                <a:ea typeface="견고딕" pitchFamily="18" charset="-127"/>
              </a:rPr>
              <a:pPr/>
              <a:t>28</a:t>
            </a:fld>
            <a:endParaRPr lang="en-US" altLang="ko-KR">
              <a:solidFill>
                <a:srgbClr val="000066"/>
              </a:solidFill>
              <a:latin typeface="견고딕" pitchFamily="18" charset="-127"/>
              <a:ea typeface="견고딕" pitchFamily="18" charset="-127"/>
            </a:endParaRPr>
          </a:p>
        </p:txBody>
      </p:sp>
      <p:sp>
        <p:nvSpPr>
          <p:cNvPr id="30723" name="Rectangle 4">
            <a:extLst>
              <a:ext uri="{FF2B5EF4-FFF2-40B4-BE49-F238E27FC236}">
                <a16:creationId xmlns:a16="http://schemas.microsoft.com/office/drawing/2014/main" id="{7A411863-3C77-4505-98B9-9E171B070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981075"/>
            <a:ext cx="7561263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ko-KR" b="1"/>
              <a:t>② </a:t>
            </a:r>
            <a:r>
              <a:rPr lang="ko-KR" altLang="en-US" b="1"/>
              <a:t>곱셈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</a:t>
            </a:r>
            <a:r>
              <a:rPr lang="en-US" altLang="ko-KR" b="1"/>
              <a:t>• 0</a:t>
            </a:r>
            <a:r>
              <a:rPr lang="ko-KR" altLang="en-US" b="1"/>
              <a:t>인지의 여부 조사 </a:t>
            </a:r>
            <a:r>
              <a:rPr lang="en-US" altLang="ko-KR" b="1"/>
              <a:t>(</a:t>
            </a:r>
            <a:r>
              <a:rPr lang="ko-KR" altLang="en-US" b="1"/>
              <a:t>한쪽이 </a:t>
            </a:r>
            <a:r>
              <a:rPr lang="en-US" altLang="ko-KR" b="1"/>
              <a:t>0 </a:t>
            </a:r>
            <a:r>
              <a:rPr lang="ko-KR" altLang="en-US" b="1"/>
              <a:t>이면 결과가 </a:t>
            </a:r>
            <a:r>
              <a:rPr lang="en-US" altLang="ko-KR" b="1"/>
              <a:t>0 </a:t>
            </a:r>
            <a:r>
              <a:rPr lang="ko-KR" altLang="en-US" b="1"/>
              <a:t>이 됨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• </a:t>
            </a:r>
            <a:r>
              <a:rPr lang="ko-KR" altLang="en-US" b="1"/>
              <a:t>지수를 더함 </a:t>
            </a:r>
            <a:r>
              <a:rPr lang="en-US" altLang="ko-KR" b="1"/>
              <a:t>(</a:t>
            </a:r>
            <a:r>
              <a:rPr lang="ko-KR" altLang="en-US" b="1"/>
              <a:t>아래의 </a:t>
            </a:r>
            <a:r>
              <a:rPr lang="en-US" altLang="ko-KR" b="1"/>
              <a:t>5+3)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• </a:t>
            </a:r>
            <a:r>
              <a:rPr lang="ko-KR" altLang="en-US" b="1"/>
              <a:t>가수를 곱함 </a:t>
            </a:r>
            <a:r>
              <a:rPr lang="en-US" altLang="ko-KR" b="1"/>
              <a:t>(</a:t>
            </a:r>
            <a:r>
              <a:rPr lang="ko-KR" altLang="en-US" b="1"/>
              <a:t>아래의 </a:t>
            </a:r>
            <a:r>
              <a:rPr lang="en-US" altLang="ko-KR" b="1"/>
              <a:t>0.27×0.18)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• </a:t>
            </a:r>
            <a:r>
              <a:rPr lang="ko-KR" altLang="en-US" b="1"/>
              <a:t>결과의 정규화</a:t>
            </a:r>
          </a:p>
          <a:p>
            <a:pPr eaLnBrk="1" hangingPunct="1">
              <a:lnSpc>
                <a:spcPct val="120000"/>
              </a:lnSpc>
            </a:pPr>
            <a:r>
              <a:rPr lang="ko-KR" altLang="en-US" b="1"/>
              <a:t>      예</a:t>
            </a:r>
            <a:r>
              <a:rPr lang="en-US" altLang="ko-KR" b="1"/>
              <a:t>) (0.27 × 10</a:t>
            </a:r>
            <a:r>
              <a:rPr lang="en-US" altLang="ko-KR" b="1" baseline="30000"/>
              <a:t>5</a:t>
            </a:r>
            <a:r>
              <a:rPr lang="en-US" altLang="ko-KR" b="1"/>
              <a:t>) × (0.18 × 10</a:t>
            </a:r>
            <a:r>
              <a:rPr lang="en-US" altLang="ko-KR" b="1" baseline="30000"/>
              <a:t>3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= (0.27 × 0.18) × (10</a:t>
            </a:r>
            <a:r>
              <a:rPr lang="en-US" altLang="ko-KR" b="1" baseline="30000"/>
              <a:t>5</a:t>
            </a:r>
            <a:r>
              <a:rPr lang="en-US" altLang="ko-KR" b="1"/>
              <a:t> × 10</a:t>
            </a:r>
            <a:r>
              <a:rPr lang="en-US" altLang="ko-KR" b="1" baseline="30000"/>
              <a:t>3</a:t>
            </a:r>
            <a:r>
              <a:rPr lang="en-US" altLang="ko-KR" b="1"/>
              <a:t>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= (0.27 × 0.18) × 10</a:t>
            </a:r>
            <a:r>
              <a:rPr lang="en-US" altLang="ko-KR" b="1" baseline="30000"/>
              <a:t>(5+3)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= 0.0486 × 10</a:t>
            </a:r>
            <a:r>
              <a:rPr lang="en-US" altLang="ko-KR" b="1" baseline="30000"/>
              <a:t>8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ko-KR" b="1"/>
              <a:t>           = 0.486 × 10</a:t>
            </a:r>
            <a:r>
              <a:rPr lang="en-US" altLang="ko-KR" b="1" baseline="30000"/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894</TotalTime>
  <Words>2272</Words>
  <Application>Microsoft Office PowerPoint</Application>
  <PresentationFormat>화면 슬라이드 쇼(4:3)</PresentationFormat>
  <Paragraphs>379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HY중고딕</vt:lpstr>
      <vt:lpstr>견고딕</vt:lpstr>
      <vt:lpstr>굴림</vt:lpstr>
      <vt:lpstr>Arial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Kim Dong Hyun</dc:creator>
  <cp:lastModifiedBy>KimDong Hyun</cp:lastModifiedBy>
  <cp:revision>49</cp:revision>
  <dcterms:created xsi:type="dcterms:W3CDTF">2009-03-02T07:39:04Z</dcterms:created>
  <dcterms:modified xsi:type="dcterms:W3CDTF">2025-11-10T10:08:50Z</dcterms:modified>
</cp:coreProperties>
</file>