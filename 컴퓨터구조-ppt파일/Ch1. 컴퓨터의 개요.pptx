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8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  <a:srgbClr val="FFFF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BA76974-DE59-4A74-AD26-B2CCA8CF71C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BCF22AC-C21C-44F1-BCEE-0ED2F7101D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D451BA2-BC52-4026-8166-32DF831FAF7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42C884AB-6D71-4F1F-8C53-8A92ECF562E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F5FB3A1E-B277-4E0D-AF9E-CF9B11C2582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DA728C26-0A8F-4AEC-A6BD-4EB21C949D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7ADCCAAC-BCB4-423F-A52E-103EDD835E4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realpt-039A">
            <a:extLst>
              <a:ext uri="{FF2B5EF4-FFF2-40B4-BE49-F238E27FC236}">
                <a16:creationId xmlns:a16="http://schemas.microsoft.com/office/drawing/2014/main" id="{E1024F2D-D94D-4521-BC4E-890CB9144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utoShape 8">
            <a:extLst>
              <a:ext uri="{FF2B5EF4-FFF2-40B4-BE49-F238E27FC236}">
                <a16:creationId xmlns:a16="http://schemas.microsoft.com/office/drawing/2014/main" id="{A0BE7024-8728-4FF7-890B-692AD41FD65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87500" y="685800"/>
            <a:ext cx="6019800" cy="1600200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F198029-CE75-4E63-857C-9060BAFC01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25613" y="990600"/>
            <a:ext cx="5715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5400" b="1" dirty="0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컴 퓨 터 구 조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F758C541-D632-4BCE-BAA9-44457AE0251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57563" y="3749030"/>
            <a:ext cx="2454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Ch1. </a:t>
            </a:r>
            <a:r>
              <a:rPr lang="ko-KR" altLang="en-US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컴퓨터의</a:t>
            </a:r>
            <a:r>
              <a:rPr lang="en-US" altLang="ko-KR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ko-KR" altLang="en-US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개요</a:t>
            </a:r>
            <a:endParaRPr lang="en-US" altLang="ko-KR" sz="2000" b="1" dirty="0">
              <a:solidFill>
                <a:srgbClr val="003366"/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4380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0D5EE27-254F-46D3-93AB-5E07DAFE891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C5EE4F6A-E960-49BE-AE2D-AA16500777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9939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48E2428-FF79-45BB-8FE2-7FD4092CCF0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A9CF9A1C-4FB4-4CAC-86A3-169F6F9D9D2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7497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8F6DBC1-028C-4E8D-8C5A-8CB98B02041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2BE6C6C6-B7BF-4540-B085-746B598B95E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487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1F2AE4-E717-4182-B532-A8C711B7E47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8AA11E30-4B56-43B1-BED9-A02EB5324DB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2721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32BC319-0C89-4BE2-A31F-EE0B5117FD3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66A67781-FCBC-41C0-86B1-0C2B42CA402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5063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F930131E-74B0-4826-8A23-E0E92F401FD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EE7C9775-E22B-4BF4-B20F-04740AD559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6314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008A00B-2C83-4D10-85C0-BD20CC3EF5C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AF99255A-39B3-4932-975C-D93E923B8EE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571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D044E0D-D6FC-4901-A262-D3E9B9D4AAB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80FF799E-9892-4514-B399-94867A1DF4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4396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FABEC04-3D79-4BA3-B858-AA1D0886DAC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BB25EDB2-0A8E-4FAB-9A16-92811091880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96901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18CAA57-7D70-434C-B2F9-918C75896D7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35BA95D6-CB30-4C47-A370-8B67690016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73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>
            <a:extLst>
              <a:ext uri="{FF2B5EF4-FFF2-40B4-BE49-F238E27FC236}">
                <a16:creationId xmlns:a16="http://schemas.microsoft.com/office/drawing/2014/main" id="{10F40366-AF57-4505-A841-7327F33214D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9250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600" b="1" smtClean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472BD836-A968-4F47-A9DC-01EF7433487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7" name="Line 7">
            <a:extLst>
              <a:ext uri="{FF2B5EF4-FFF2-40B4-BE49-F238E27FC236}">
                <a16:creationId xmlns:a16="http://schemas.microsoft.com/office/drawing/2014/main" id="{EAAA875F-F9FD-4B92-AB8D-040D3BDAB92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525" y="508000"/>
            <a:ext cx="9132888" cy="1588"/>
          </a:xfrm>
          <a:prstGeom prst="line">
            <a:avLst/>
          </a:prstGeom>
          <a:noFill/>
          <a:ln w="3810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1D16DE81-D474-436A-A930-BFCA844BDF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C3C3C3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29" name="Line 9">
            <a:extLst>
              <a:ext uri="{FF2B5EF4-FFF2-40B4-BE49-F238E27FC236}">
                <a16:creationId xmlns:a16="http://schemas.microsoft.com/office/drawing/2014/main" id="{17BFD282-90C3-4705-B2AD-780128D7801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381750"/>
            <a:ext cx="91440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0" name="AutoShape 11">
            <a:extLst>
              <a:ext uri="{FF2B5EF4-FFF2-40B4-BE49-F238E27FC236}">
                <a16:creationId xmlns:a16="http://schemas.microsoft.com/office/drawing/2014/main" id="{4808B494-1D14-4F80-8E8F-26C7E19950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838" y="73025"/>
            <a:ext cx="4365625" cy="381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31" name="Text Box 12">
            <a:extLst>
              <a:ext uri="{FF2B5EF4-FFF2-40B4-BE49-F238E27FC236}">
                <a16:creationId xmlns:a16="http://schemas.microsoft.com/office/drawing/2014/main" id="{D46D70F3-1A71-4F29-AA18-E17EEDFC6CA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188" y="55563"/>
            <a:ext cx="2568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2000" b="1"/>
              <a:t>제 </a:t>
            </a:r>
            <a:r>
              <a:rPr lang="en-US" altLang="ko-KR" sz="2000" b="1"/>
              <a:t>1</a:t>
            </a:r>
            <a:r>
              <a:rPr lang="ko-KR" altLang="en-US" sz="2000" b="1"/>
              <a:t>절 컴퓨터의 개요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번호 개체 틀 1">
            <a:extLst>
              <a:ext uri="{FF2B5EF4-FFF2-40B4-BE49-F238E27FC236}">
                <a16:creationId xmlns:a16="http://schemas.microsoft.com/office/drawing/2014/main" id="{116ECEB6-4A1B-4160-98AA-14D4AD6FD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3D068962-4784-46C2-B691-BBB779B2292D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099" name="Text Box 4">
            <a:extLst>
              <a:ext uri="{FF2B5EF4-FFF2-40B4-BE49-F238E27FC236}">
                <a16:creationId xmlns:a16="http://schemas.microsoft.com/office/drawing/2014/main" id="{678F3298-1E93-4B92-9974-68729E965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1552575"/>
            <a:ext cx="8137525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/>
              <a:t>  - EDPS (Electronic Data Processing System) </a:t>
            </a:r>
          </a:p>
          <a:p>
            <a:pPr eaLnBrk="1" hangingPunct="1"/>
            <a:r>
              <a:rPr lang="en-US" altLang="ko-KR" sz="2000" b="1"/>
              <a:t>    : </a:t>
            </a:r>
            <a:r>
              <a:rPr lang="ko-KR" altLang="en-US" sz="2000" b="1"/>
              <a:t>전기적으로 자료를 처리하는 조직체</a:t>
            </a:r>
            <a:r>
              <a:rPr lang="en-US" altLang="ko-KR" sz="2000" b="1"/>
              <a:t>(</a:t>
            </a:r>
            <a:r>
              <a:rPr lang="ko-KR" altLang="en-US" sz="2000" b="1"/>
              <a:t>컴퓨터 시스템</a:t>
            </a:r>
            <a:r>
              <a:rPr lang="en-US" altLang="ko-KR" sz="2000" b="1"/>
              <a:t>) </a:t>
            </a:r>
          </a:p>
          <a:p>
            <a:pPr eaLnBrk="1" hangingPunct="1"/>
            <a:r>
              <a:rPr lang="en-US" altLang="ko-KR" sz="2000" b="1"/>
              <a:t>  - Data </a:t>
            </a:r>
          </a:p>
          <a:p>
            <a:pPr eaLnBrk="1" hangingPunct="1"/>
            <a:r>
              <a:rPr lang="en-US" altLang="ko-KR" sz="2000" b="1"/>
              <a:t>    : </a:t>
            </a:r>
            <a:r>
              <a:rPr lang="ko-KR" altLang="en-US" sz="2000" b="1"/>
              <a:t>사상</a:t>
            </a:r>
            <a:r>
              <a:rPr lang="en-US" altLang="ko-KR" sz="2000" b="1"/>
              <a:t>, </a:t>
            </a:r>
            <a:r>
              <a:rPr lang="ko-KR" altLang="en-US" sz="2000" b="1"/>
              <a:t>개념</a:t>
            </a:r>
            <a:r>
              <a:rPr lang="en-US" altLang="ko-KR" sz="2000" b="1"/>
              <a:t>, </a:t>
            </a:r>
            <a:r>
              <a:rPr lang="ko-KR" altLang="en-US" sz="2000" b="1"/>
              <a:t>명령 등을 표현한 것으로 인간 또는 기계로 처리할 수 </a:t>
            </a:r>
          </a:p>
          <a:p>
            <a:pPr eaLnBrk="1" hangingPunct="1"/>
            <a:r>
              <a:rPr lang="ko-KR" altLang="en-US" sz="2000" b="1"/>
              <a:t>      있도록 형상화된 것 </a:t>
            </a:r>
          </a:p>
          <a:p>
            <a:pPr eaLnBrk="1" hangingPunct="1"/>
            <a:r>
              <a:rPr lang="ko-KR" altLang="en-US" sz="2000" b="1"/>
              <a:t>   </a:t>
            </a:r>
            <a:r>
              <a:rPr lang="en-US" altLang="ko-KR" sz="2000" b="1"/>
              <a:t>- Information </a:t>
            </a:r>
          </a:p>
          <a:p>
            <a:pPr eaLnBrk="1" hangingPunct="1"/>
            <a:r>
              <a:rPr lang="en-US" altLang="ko-KR" sz="2000" b="1"/>
              <a:t>    : </a:t>
            </a:r>
            <a:r>
              <a:rPr lang="ko-KR" altLang="en-US" sz="2000" b="1"/>
              <a:t>일정한 약속에 따라 </a:t>
            </a:r>
            <a:r>
              <a:rPr lang="en-US" altLang="ko-KR" sz="2000" b="1"/>
              <a:t>Data</a:t>
            </a:r>
            <a:r>
              <a:rPr lang="ko-KR" altLang="en-US" sz="2000" b="1"/>
              <a:t>에 의미부여</a:t>
            </a:r>
            <a:r>
              <a:rPr lang="en-US" altLang="ko-KR" sz="2000" b="1"/>
              <a:t>. </a:t>
            </a:r>
          </a:p>
          <a:p>
            <a:pPr eaLnBrk="1" hangingPunct="1"/>
            <a:r>
              <a:rPr lang="en-US" altLang="ko-KR" sz="2000" b="1"/>
              <a:t>      </a:t>
            </a:r>
            <a:r>
              <a:rPr lang="ko-KR" altLang="en-US" sz="2000" b="1"/>
              <a:t>데이터를 가공처리 해서 어떤 의사 결정을 내리는데 쓰일 수 있도</a:t>
            </a:r>
          </a:p>
          <a:p>
            <a:pPr eaLnBrk="1" hangingPunct="1"/>
            <a:r>
              <a:rPr lang="ko-KR" altLang="en-US" sz="2000" b="1"/>
              <a:t>      록 다듬어진 데이터</a:t>
            </a:r>
            <a:r>
              <a:rPr lang="en-US" altLang="ko-KR" sz="2000" b="1"/>
              <a:t>. </a:t>
            </a:r>
          </a:p>
          <a:p>
            <a:pPr eaLnBrk="1" hangingPunct="1"/>
            <a:r>
              <a:rPr lang="en-US" altLang="ko-KR" sz="2000" b="1"/>
              <a:t>   - Data Processing </a:t>
            </a:r>
          </a:p>
          <a:p>
            <a:pPr eaLnBrk="1" hangingPunct="1"/>
            <a:r>
              <a:rPr lang="en-US" altLang="ko-KR" sz="2000" b="1"/>
              <a:t>    : </a:t>
            </a:r>
            <a:r>
              <a:rPr lang="ko-KR" altLang="en-US" sz="2000" b="1"/>
              <a:t>주어진 데이터로부터 필요한 정보를 얻기 위하여 데이터 처리하는 </a:t>
            </a:r>
          </a:p>
          <a:p>
            <a:pPr eaLnBrk="1" hangingPunct="1"/>
            <a:r>
              <a:rPr lang="ko-KR" altLang="en-US" sz="2000" b="1"/>
              <a:t>      행위</a:t>
            </a:r>
            <a:r>
              <a:rPr lang="en-US" altLang="ko-KR" sz="2000" b="1"/>
              <a:t>. </a:t>
            </a:r>
          </a:p>
          <a:p>
            <a:pPr eaLnBrk="1" hangingPunct="1"/>
            <a:endParaRPr lang="en-US" altLang="ko-KR" sz="2000" b="1"/>
          </a:p>
          <a:p>
            <a:pPr eaLnBrk="1" hangingPunct="1"/>
            <a:r>
              <a:rPr lang="en-US" altLang="ko-KR" sz="2000" b="1"/>
              <a:t>                       data -&gt;   </a:t>
            </a:r>
            <a:r>
              <a:rPr lang="ko-KR" altLang="en-US" sz="2000" b="1"/>
              <a:t>가공처리</a:t>
            </a:r>
            <a:r>
              <a:rPr lang="en-US" altLang="ko-KR" sz="2000" b="1"/>
              <a:t>-&gt; Information </a:t>
            </a:r>
          </a:p>
          <a:p>
            <a:pPr eaLnBrk="1" hangingPunct="1"/>
            <a:r>
              <a:rPr lang="en-US" altLang="ko-KR" sz="2000" b="1"/>
              <a:t>                                 (</a:t>
            </a:r>
            <a:r>
              <a:rPr lang="ko-KR" altLang="en-US" sz="2000" b="1"/>
              <a:t>컴퓨터시스템</a:t>
            </a:r>
            <a:r>
              <a:rPr lang="en-US" altLang="ko-KR" sz="2000" b="1"/>
              <a:t>)</a:t>
            </a:r>
            <a:r>
              <a:rPr lang="en-US" altLang="ko-KR" sz="2000"/>
              <a:t> </a:t>
            </a:r>
          </a:p>
        </p:txBody>
      </p:sp>
      <p:sp>
        <p:nvSpPr>
          <p:cNvPr id="4100" name="Text Box 5">
            <a:extLst>
              <a:ext uri="{FF2B5EF4-FFF2-40B4-BE49-F238E27FC236}">
                <a16:creationId xmlns:a16="http://schemas.microsoft.com/office/drawing/2014/main" id="{8D13AF03-2DF2-4E31-87C2-3DAF9D0AD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728663"/>
            <a:ext cx="32734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1. </a:t>
            </a:r>
            <a:r>
              <a:rPr lang="ko-KR" altLang="en-US" sz="2200" b="1"/>
              <a:t>컴퓨터의 개요 및 기능</a:t>
            </a:r>
          </a:p>
        </p:txBody>
      </p:sp>
      <p:sp>
        <p:nvSpPr>
          <p:cNvPr id="4101" name="Text Box 6">
            <a:extLst>
              <a:ext uri="{FF2B5EF4-FFF2-40B4-BE49-F238E27FC236}">
                <a16:creationId xmlns:a16="http://schemas.microsoft.com/office/drawing/2014/main" id="{361A6291-29BF-425B-BC52-36FC696A7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50" y="1158875"/>
            <a:ext cx="23796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(1) </a:t>
            </a:r>
            <a:r>
              <a:rPr lang="ko-KR" altLang="en-US" sz="2200" b="1"/>
              <a:t>컴퓨터의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번호 개체 틀 1">
            <a:extLst>
              <a:ext uri="{FF2B5EF4-FFF2-40B4-BE49-F238E27FC236}">
                <a16:creationId xmlns:a16="http://schemas.microsoft.com/office/drawing/2014/main" id="{32C11397-C835-43DC-9286-231848C342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19B61C14-9BF6-4BA3-8359-D95D4F940A64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5123" name="Text Box 4">
            <a:extLst>
              <a:ext uri="{FF2B5EF4-FFF2-40B4-BE49-F238E27FC236}">
                <a16:creationId xmlns:a16="http://schemas.microsoft.com/office/drawing/2014/main" id="{17CECCAD-0F0D-4C07-8542-5D22CA9CD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3101975"/>
            <a:ext cx="7486650" cy="306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정보의 대량 기억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처리속도의 고속화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결과에 대한 신뢰성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정확한 판단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프로그램에 의한 데이터 자동처리</a:t>
            </a:r>
            <a:r>
              <a:rPr lang="en-US" altLang="ko-KR" b="1"/>
              <a:t>(</a:t>
            </a:r>
            <a:r>
              <a:rPr lang="ko-KR" altLang="en-US" b="1"/>
              <a:t>산술연산</a:t>
            </a:r>
            <a:r>
              <a:rPr lang="en-US" altLang="ko-KR" b="1"/>
              <a:t>, </a:t>
            </a:r>
            <a:r>
              <a:rPr lang="ko-KR" altLang="en-US" b="1"/>
              <a:t>관계연산</a:t>
            </a:r>
            <a:r>
              <a:rPr lang="en-US" altLang="ko-KR" b="1"/>
              <a:t>, </a:t>
            </a:r>
            <a:r>
              <a:rPr lang="ko-KR" altLang="en-US" b="1"/>
              <a:t>논리연산 등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데이터 영구보존</a:t>
            </a:r>
            <a:r>
              <a:rPr lang="en-US" altLang="ko-KR" b="1"/>
              <a:t>(</a:t>
            </a:r>
            <a:r>
              <a:rPr lang="ko-KR" altLang="en-US" b="1"/>
              <a:t>수정</a:t>
            </a:r>
            <a:r>
              <a:rPr lang="en-US" altLang="ko-KR" b="1"/>
              <a:t>, </a:t>
            </a:r>
            <a:r>
              <a:rPr lang="ko-KR" altLang="en-US" b="1"/>
              <a:t>삽입</a:t>
            </a:r>
            <a:r>
              <a:rPr lang="en-US" altLang="ko-KR" b="1"/>
              <a:t>, </a:t>
            </a:r>
            <a:r>
              <a:rPr lang="ko-KR" altLang="en-US" b="1"/>
              <a:t>삭제 등 재처리 가능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그래프</a:t>
            </a:r>
            <a:r>
              <a:rPr lang="en-US" altLang="ko-KR" b="1"/>
              <a:t>, </a:t>
            </a:r>
            <a:r>
              <a:rPr lang="ko-KR" altLang="en-US" b="1"/>
              <a:t>도표</a:t>
            </a:r>
            <a:r>
              <a:rPr lang="en-US" altLang="ko-KR" b="1"/>
              <a:t>, </a:t>
            </a:r>
            <a:r>
              <a:rPr lang="ko-KR" altLang="en-US" b="1"/>
              <a:t>문서</a:t>
            </a:r>
            <a:r>
              <a:rPr lang="en-US" altLang="ko-KR" b="1"/>
              <a:t>, </a:t>
            </a:r>
            <a:r>
              <a:rPr lang="ko-KR" altLang="en-US" b="1"/>
              <a:t>동영상 등의 여러 형태 자료입력 및 자료 표현 가능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다중처리 시스템을 통한 동시사용 가능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각종 통신망을 통한 자료 공유 가능 </a:t>
            </a:r>
          </a:p>
        </p:txBody>
      </p:sp>
      <p:sp>
        <p:nvSpPr>
          <p:cNvPr id="5124" name="Text Box 5">
            <a:extLst>
              <a:ext uri="{FF2B5EF4-FFF2-40B4-BE49-F238E27FC236}">
                <a16:creationId xmlns:a16="http://schemas.microsoft.com/office/drawing/2014/main" id="{8451C37F-D350-4389-BDC1-C9544E325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741363"/>
            <a:ext cx="2174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/>
              <a:t>(2) </a:t>
            </a:r>
            <a:r>
              <a:rPr lang="ko-KR" altLang="en-US" sz="2000" b="1"/>
              <a:t>컴퓨터의 기능</a:t>
            </a:r>
          </a:p>
        </p:txBody>
      </p:sp>
      <p:sp>
        <p:nvSpPr>
          <p:cNvPr id="5125" name="Text Box 6">
            <a:extLst>
              <a:ext uri="{FF2B5EF4-FFF2-40B4-BE49-F238E27FC236}">
                <a16:creationId xmlns:a16="http://schemas.microsoft.com/office/drawing/2014/main" id="{AF43BB96-F290-4554-BD48-B1AD6E7E3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719388"/>
            <a:ext cx="2174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/>
              <a:t>(3) </a:t>
            </a:r>
            <a:r>
              <a:rPr lang="ko-KR" altLang="en-US" sz="2000" b="1"/>
              <a:t>컴퓨터의 특성</a:t>
            </a:r>
          </a:p>
        </p:txBody>
      </p:sp>
      <p:sp>
        <p:nvSpPr>
          <p:cNvPr id="5126" name="Text Box 7">
            <a:extLst>
              <a:ext uri="{FF2B5EF4-FFF2-40B4-BE49-F238E27FC236}">
                <a16:creationId xmlns:a16="http://schemas.microsoft.com/office/drawing/2014/main" id="{1701CF57-9182-4764-B25F-2CCFD4AB0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88" y="1128713"/>
            <a:ext cx="1890712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입출력 기능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고속 계산 기능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대량 기억 기능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비교 판단 기능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3">
            <a:extLst>
              <a:ext uri="{FF2B5EF4-FFF2-40B4-BE49-F238E27FC236}">
                <a16:creationId xmlns:a16="http://schemas.microsoft.com/office/drawing/2014/main" id="{47F7B6B3-88F1-4052-BFF6-1DE75ED230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4524A8D5-7013-49F7-B2F5-C8D8490BD5F7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6147" name="Rectangle 4">
            <a:extLst>
              <a:ext uri="{FF2B5EF4-FFF2-40B4-BE49-F238E27FC236}">
                <a16:creationId xmlns:a16="http://schemas.microsoft.com/office/drawing/2014/main" id="{9847FAFA-DA26-478C-9E6F-81F6D54BA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5872162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arabicParenBoth"/>
            </a:pPr>
            <a:r>
              <a:rPr lang="ko-KR" altLang="en-US" sz="2000" b="1"/>
              <a:t>하드웨어</a:t>
            </a:r>
          </a:p>
          <a:p>
            <a:pPr eaLnBrk="1" hangingPunct="1">
              <a:lnSpc>
                <a:spcPct val="120000"/>
              </a:lnSpc>
            </a:pPr>
            <a:endParaRPr lang="ko-KR" altLang="en-US" sz="2000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① 처리기 </a:t>
            </a:r>
            <a:r>
              <a:rPr lang="en-US" altLang="ko-KR" b="1"/>
              <a:t>(Computer Processor) : </a:t>
            </a:r>
            <a:r>
              <a:rPr lang="ko-KR" altLang="en-US" b="1"/>
              <a:t>중앙처리장치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</a:t>
            </a:r>
            <a:r>
              <a:rPr lang="en-US" altLang="ko-KR" b="1"/>
              <a:t>- </a:t>
            </a:r>
            <a:r>
              <a:rPr lang="ko-KR" altLang="en-US" b="1"/>
              <a:t>제어 장치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</a:t>
            </a:r>
            <a:r>
              <a:rPr lang="en-US" altLang="ko-KR" b="1"/>
              <a:t>- </a:t>
            </a:r>
            <a:r>
              <a:rPr lang="ko-KR" altLang="en-US" b="1"/>
              <a:t>산술 및 논리연산장치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</a:t>
            </a:r>
            <a:r>
              <a:rPr lang="en-US" altLang="ko-KR" b="1"/>
              <a:t>- </a:t>
            </a:r>
            <a:r>
              <a:rPr lang="ko-KR" altLang="en-US" b="1"/>
              <a:t>주기억장치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② 주변장치 </a:t>
            </a:r>
            <a:r>
              <a:rPr lang="en-US" altLang="ko-KR" b="1"/>
              <a:t>(Peripheral Equipment)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: </a:t>
            </a:r>
            <a:r>
              <a:rPr lang="ko-KR" altLang="en-US" b="1"/>
              <a:t>다양한 입출력 장치 및 보조 기억 장치 포함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③ 보조장치 </a:t>
            </a:r>
            <a:r>
              <a:rPr lang="en-US" altLang="ko-KR" b="1"/>
              <a:t>(Auxiliary Equipment)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: </a:t>
            </a:r>
            <a:r>
              <a:rPr lang="ko-KR" altLang="en-US" b="1"/>
              <a:t>전자계산기 시스템의 입</a:t>
            </a:r>
            <a:r>
              <a:rPr lang="en-US" altLang="ko-KR" b="1"/>
              <a:t>/</a:t>
            </a:r>
            <a:r>
              <a:rPr lang="ko-KR" altLang="en-US" b="1"/>
              <a:t>출력 및 기억 기능 보조</a:t>
            </a:r>
          </a:p>
        </p:txBody>
      </p:sp>
      <p:sp>
        <p:nvSpPr>
          <p:cNvPr id="6148" name="Text Box 5">
            <a:extLst>
              <a:ext uri="{FF2B5EF4-FFF2-40B4-BE49-F238E27FC236}">
                <a16:creationId xmlns:a16="http://schemas.microsoft.com/office/drawing/2014/main" id="{013D6B9E-6073-4B88-9F41-3EC87AF37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163" y="708025"/>
            <a:ext cx="336391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2. </a:t>
            </a:r>
            <a:r>
              <a:rPr lang="ko-KR" altLang="en-US" sz="2200" b="1"/>
              <a:t>하드웨어와 소프트웨어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3">
            <a:extLst>
              <a:ext uri="{FF2B5EF4-FFF2-40B4-BE49-F238E27FC236}">
                <a16:creationId xmlns:a16="http://schemas.microsoft.com/office/drawing/2014/main" id="{719921BB-739B-4440-B043-510197DABB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364DD601-3CBA-45AF-935E-CF7CC563D7BB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45B807B2-76E0-4EEF-BE18-7321F363B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330325"/>
            <a:ext cx="8377237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① </a:t>
            </a:r>
            <a:r>
              <a:rPr lang="ko-KR" altLang="en-US" b="1"/>
              <a:t>시스템 소프트웨어 </a:t>
            </a:r>
            <a:r>
              <a:rPr lang="en-US" altLang="ko-KR" b="1"/>
              <a:t>(System Software) : </a:t>
            </a:r>
            <a:r>
              <a:rPr lang="ko-KR" altLang="en-US" b="1"/>
              <a:t>시스템을 제어하고 보조하는 프로그램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운영 시스템 </a:t>
            </a:r>
            <a:r>
              <a:rPr lang="en-US" altLang="ko-KR" b="1"/>
              <a:t>(Operating System)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</a:t>
            </a:r>
            <a:r>
              <a:rPr lang="ko-KR" altLang="en-US" b="1"/>
              <a:t>데이터 베이스 관리 시스템 </a:t>
            </a:r>
            <a:r>
              <a:rPr lang="en-US" altLang="ko-KR" b="1"/>
              <a:t>((Data Base Management System)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</a:t>
            </a:r>
            <a:r>
              <a:rPr lang="ko-KR" altLang="en-US" b="1"/>
              <a:t>통신 제어 프로그램 </a:t>
            </a:r>
            <a:r>
              <a:rPr lang="en-US" altLang="ko-KR" b="1"/>
              <a:t>(Communication Control Program)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</a:t>
            </a:r>
            <a:r>
              <a:rPr lang="ko-KR" altLang="en-US" b="1"/>
              <a:t>프로그래밍 언어 번역기 </a:t>
            </a:r>
            <a:r>
              <a:rPr lang="en-US" altLang="ko-KR" b="1"/>
              <a:t>(Programming Language Translator)</a:t>
            </a:r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② </a:t>
            </a:r>
            <a:r>
              <a:rPr lang="ko-KR" altLang="en-US" b="1"/>
              <a:t>응용 소프트웨어 </a:t>
            </a:r>
            <a:r>
              <a:rPr lang="en-US" altLang="ko-KR" b="1"/>
              <a:t>(Application Software) : </a:t>
            </a:r>
            <a:r>
              <a:rPr lang="ko-KR" altLang="en-US" b="1"/>
              <a:t>사용자 프로그램이라고도 한다</a:t>
            </a:r>
            <a:r>
              <a:rPr lang="en-US" altLang="ko-KR" b="1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</a:t>
            </a:r>
            <a:r>
              <a:rPr lang="ko-KR" altLang="en-US" b="1"/>
              <a:t>사업용 응용 프로그램 </a:t>
            </a:r>
            <a:r>
              <a:rPr lang="en-US" altLang="ko-KR" b="1"/>
              <a:t>(Business Application Program)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</a:t>
            </a:r>
            <a:r>
              <a:rPr lang="ko-KR" altLang="en-US" b="1"/>
              <a:t>과학용 프로그램 </a:t>
            </a:r>
            <a:r>
              <a:rPr lang="en-US" altLang="ko-KR" b="1"/>
              <a:t>(Scientific Program)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</a:t>
            </a:r>
            <a:r>
              <a:rPr lang="ko-KR" altLang="en-US" b="1"/>
              <a:t>그 밖의 다양한 응용 프로그램</a:t>
            </a:r>
          </a:p>
        </p:txBody>
      </p:sp>
      <p:sp>
        <p:nvSpPr>
          <p:cNvPr id="7172" name="Text Box 5">
            <a:extLst>
              <a:ext uri="{FF2B5EF4-FFF2-40B4-BE49-F238E27FC236}">
                <a16:creationId xmlns:a16="http://schemas.microsoft.com/office/drawing/2014/main" id="{183D30DA-5654-49A5-B15D-63FA3E5AF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836613"/>
            <a:ext cx="1843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/>
              <a:t>(2) </a:t>
            </a:r>
            <a:r>
              <a:rPr lang="ko-KR" altLang="en-US" sz="2000" b="1"/>
              <a:t>소프트웨어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1">
            <a:extLst>
              <a:ext uri="{FF2B5EF4-FFF2-40B4-BE49-F238E27FC236}">
                <a16:creationId xmlns:a16="http://schemas.microsoft.com/office/drawing/2014/main" id="{C57A3473-3B39-4473-9873-F89BDABDE6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FA8F8E50-6882-4C27-9FCB-AC55702F430F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8195" name="Rectangle 4">
            <a:extLst>
              <a:ext uri="{FF2B5EF4-FFF2-40B4-BE49-F238E27FC236}">
                <a16:creationId xmlns:a16="http://schemas.microsoft.com/office/drawing/2014/main" id="{A695743A-1351-4BD5-8B51-84A4A5CD4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765175"/>
            <a:ext cx="8053388" cy="50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3. </a:t>
            </a:r>
            <a:r>
              <a:rPr lang="ko-KR" altLang="en-US" sz="2200" b="1"/>
              <a:t>컴퓨터의 역사</a:t>
            </a:r>
          </a:p>
          <a:p>
            <a:pPr eaLnBrk="1" hangingPunct="1"/>
            <a:endParaRPr lang="ko-KR" altLang="en-US" sz="2200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① </a:t>
            </a:r>
            <a:r>
              <a:rPr lang="en-US" altLang="ko-KR" b="1"/>
              <a:t>Mark-1 : </a:t>
            </a:r>
            <a:r>
              <a:rPr lang="en-US" altLang="ko-KR" b="1" u="sng"/>
              <a:t>1994</a:t>
            </a:r>
            <a:r>
              <a:rPr lang="ko-KR" altLang="en-US" b="1" u="sng"/>
              <a:t>년 최초의 자동 계산기</a:t>
            </a: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미국의 하바드 대학 </a:t>
            </a:r>
            <a:r>
              <a:rPr lang="en-US" altLang="ko-KR" b="1"/>
              <a:t>Aiken </a:t>
            </a:r>
            <a:r>
              <a:rPr lang="ko-KR" altLang="en-US" b="1"/>
              <a:t>교수가 </a:t>
            </a:r>
            <a:r>
              <a:rPr lang="en-US" altLang="ko-KR" b="1"/>
              <a:t>IBM</a:t>
            </a:r>
            <a:r>
              <a:rPr lang="ko-KR" altLang="en-US" b="1"/>
              <a:t>사 계산기 제작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② </a:t>
            </a:r>
            <a:r>
              <a:rPr lang="en-US" altLang="ko-KR" b="1"/>
              <a:t>ENIAC : </a:t>
            </a:r>
            <a:r>
              <a:rPr lang="ko-KR" altLang="en-US" b="1" u="sng"/>
              <a:t>최초의 전자계산기</a:t>
            </a: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</a:t>
            </a:r>
            <a:r>
              <a:rPr lang="en-US" altLang="ko-KR" b="1"/>
              <a:t>1945</a:t>
            </a:r>
            <a:r>
              <a:rPr lang="ko-KR" altLang="en-US" b="1"/>
              <a:t>년 펜실바니아 대학의 </a:t>
            </a:r>
            <a:r>
              <a:rPr lang="en-US" altLang="ko-KR" b="1"/>
              <a:t>J.P Eckert</a:t>
            </a:r>
            <a:r>
              <a:rPr lang="ko-KR" altLang="en-US" b="1"/>
              <a:t>와 </a:t>
            </a:r>
            <a:r>
              <a:rPr lang="en-US" altLang="ko-KR" b="1"/>
              <a:t>J.W. Mauchly </a:t>
            </a:r>
            <a:r>
              <a:rPr lang="ko-KR" altLang="en-US" b="1"/>
              <a:t>제작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진공관 </a:t>
            </a:r>
            <a:r>
              <a:rPr lang="en-US" altLang="ko-KR" b="1"/>
              <a:t>18800</a:t>
            </a:r>
            <a:r>
              <a:rPr lang="ko-KR" altLang="en-US" b="1"/>
              <a:t>개</a:t>
            </a:r>
            <a:r>
              <a:rPr lang="en-US" altLang="ko-KR" b="1"/>
              <a:t>, </a:t>
            </a:r>
            <a:r>
              <a:rPr lang="ko-KR" altLang="en-US" b="1"/>
              <a:t>프로그램 외장방식</a:t>
            </a:r>
            <a:r>
              <a:rPr lang="en-US" altLang="ko-KR" b="1"/>
              <a:t>, </a:t>
            </a:r>
            <a:r>
              <a:rPr lang="ko-KR" altLang="en-US" b="1"/>
              <a:t>많은 열발생과 고장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③ </a:t>
            </a:r>
            <a:r>
              <a:rPr lang="en-US" altLang="ko-KR" b="1"/>
              <a:t>EDSAC : 1949</a:t>
            </a:r>
            <a:r>
              <a:rPr lang="ko-KR" altLang="en-US" b="1"/>
              <a:t>년 영국의 케임브리지대학 모리스 윌키스서 제작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</a:t>
            </a:r>
            <a:r>
              <a:rPr lang="ko-KR" altLang="en-US" b="1" u="sng"/>
              <a:t>폰노이만의 프로그램내장방식 최초 사용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④ </a:t>
            </a:r>
            <a:r>
              <a:rPr lang="en-US" altLang="ko-KR" b="1"/>
              <a:t>EDVAC : 1951</a:t>
            </a:r>
            <a:r>
              <a:rPr lang="ko-KR" altLang="en-US" b="1"/>
              <a:t>년 프로그램내장방식 완성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⑤ </a:t>
            </a:r>
            <a:r>
              <a:rPr lang="en-US" altLang="ko-KR" b="1"/>
              <a:t>UNIVAC-1 : 1951</a:t>
            </a:r>
            <a:r>
              <a:rPr lang="ko-KR" altLang="en-US" b="1"/>
              <a:t>년 에커트와 머큘리가 제작</a:t>
            </a:r>
            <a:r>
              <a:rPr lang="en-US" altLang="ko-KR" b="1"/>
              <a:t>, </a:t>
            </a:r>
            <a:r>
              <a:rPr lang="ko-KR" altLang="en-US" b="1" u="sng"/>
              <a:t>최초의 상업용 전자계산기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번호 개체 틀 1">
            <a:extLst>
              <a:ext uri="{FF2B5EF4-FFF2-40B4-BE49-F238E27FC236}">
                <a16:creationId xmlns:a16="http://schemas.microsoft.com/office/drawing/2014/main" id="{23825EB5-BCDC-4503-8FA4-6FEE797CDB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412F0F9D-0F89-4812-9533-1B52297BE590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9219" name="Rectangle 4">
            <a:extLst>
              <a:ext uri="{FF2B5EF4-FFF2-40B4-BE49-F238E27FC236}">
                <a16:creationId xmlns:a16="http://schemas.microsoft.com/office/drawing/2014/main" id="{F9AA8544-D43F-45D0-8699-8CB0114FC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82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63763" name="Group 275">
            <a:extLst>
              <a:ext uri="{FF2B5EF4-FFF2-40B4-BE49-F238E27FC236}">
                <a16:creationId xmlns:a16="http://schemas.microsoft.com/office/drawing/2014/main" id="{B7204E67-5DBC-491F-9297-5BD332185163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1700213"/>
          <a:ext cx="7991475" cy="4043363"/>
        </p:xfrm>
        <a:graphic>
          <a:graphicData uri="http://schemas.openxmlformats.org/drawingml/2006/table">
            <a:tbl>
              <a:tblPr/>
              <a:tblGrid>
                <a:gridCol w="865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6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8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세대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세대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세대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세대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세대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기억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소자</a:t>
                      </a: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진공관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(tube)</a:t>
                      </a:r>
                      <a:endParaRPr kumimoji="1" lang="en-US" altLang="ko-K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트랜지스터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(TR)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직접회로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(IC)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고밀도직접회로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(LSI)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초고밀도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직접회로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(VLSI)</a:t>
                      </a:r>
                      <a:endParaRPr kumimoji="1" lang="en-US" altLang="ko-K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주기억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장치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자기드럼</a:t>
                      </a: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자기코어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IC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반도체 기억장치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(IC, LSI, VLSI)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처리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속도</a:t>
                      </a: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ms(10</a:t>
                      </a:r>
                      <a:r>
                        <a:rPr kumimoji="1" lang="en-US" altLang="ko-KR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-3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l-GR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μ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s(10</a:t>
                      </a:r>
                      <a:r>
                        <a:rPr kumimoji="1" lang="en-US" altLang="ko-KR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-6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  <a:endParaRPr kumimoji="1" lang="el-GR" altLang="ko-K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ns(10</a:t>
                      </a:r>
                      <a:r>
                        <a:rPr kumimoji="1" lang="en-US" altLang="ko-KR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-9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ps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(10</a:t>
                      </a:r>
                      <a:r>
                        <a:rPr kumimoji="1" lang="en-US" altLang="ko-KR" sz="1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-12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fs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(10</a:t>
                      </a:r>
                      <a:r>
                        <a:rPr kumimoji="1" lang="en-US" altLang="ko-KR" sz="1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-15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특징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기계어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일괄처리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과학 계산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통계 처리</a:t>
                      </a: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운영체제 도입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포트란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알골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다중 프로그램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온라인 도입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신뢰도 향상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  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시분할 처리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마이크로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프로세서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OMR,OCR,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MICR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도입</a:t>
                      </a: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전문가 시스템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분산처리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개인용 컴퓨터</a:t>
                      </a: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인공지능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퍼지이론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패턴인식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음성인식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7" marB="4572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264" name="Rectangle 232">
            <a:extLst>
              <a:ext uri="{FF2B5EF4-FFF2-40B4-BE49-F238E27FC236}">
                <a16:creationId xmlns:a16="http://schemas.microsoft.com/office/drawing/2014/main" id="{3058AEC3-1BE5-4C98-819B-B036B31AF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30825"/>
            <a:ext cx="2698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/>
            <a:r>
              <a:rPr lang="en-US" altLang="ko-KR" sz="1000">
                <a:solidFill>
                  <a:srgbClr val="000000"/>
                </a:solidFill>
                <a:latin typeface="바탕" panose="02030600000101010101" pitchFamily="18" charset="-127"/>
              </a:rPr>
              <a:t> </a:t>
            </a:r>
            <a:r>
              <a:rPr lang="en-US" altLang="ko-KR" sz="1000">
                <a:solidFill>
                  <a:srgbClr val="000000"/>
                </a:solidFill>
              </a:rPr>
              <a:t> </a:t>
            </a:r>
            <a:endParaRPr lang="en-US" altLang="ko-KR"/>
          </a:p>
        </p:txBody>
      </p:sp>
      <p:sp>
        <p:nvSpPr>
          <p:cNvPr id="9265" name="Rectangle 261">
            <a:extLst>
              <a:ext uri="{FF2B5EF4-FFF2-40B4-BE49-F238E27FC236}">
                <a16:creationId xmlns:a16="http://schemas.microsoft.com/office/drawing/2014/main" id="{47D78C19-1034-4D33-AD9A-EBE0869D3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85838"/>
            <a:ext cx="34559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/>
            <a:r>
              <a:rPr lang="en-US" altLang="ko-KR" sz="2200" b="1"/>
              <a:t>4. </a:t>
            </a:r>
            <a:r>
              <a:rPr lang="ko-KR" altLang="en-US" sz="2200" b="1"/>
              <a:t>전자계산기 세대별 구분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번호 개체 틀 1">
            <a:extLst>
              <a:ext uri="{FF2B5EF4-FFF2-40B4-BE49-F238E27FC236}">
                <a16:creationId xmlns:a16="http://schemas.microsoft.com/office/drawing/2014/main" id="{2CB254B7-5177-4804-BEE0-D6A06BB6CF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1FA251E-CCC9-4EE5-B517-FB32BC8B9519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0243" name="Text Box 4">
            <a:extLst>
              <a:ext uri="{FF2B5EF4-FFF2-40B4-BE49-F238E27FC236}">
                <a16:creationId xmlns:a16="http://schemas.microsoft.com/office/drawing/2014/main" id="{92A0EDD9-BE43-4F42-B573-A72ADECCC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92150"/>
            <a:ext cx="22653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5. </a:t>
            </a:r>
            <a:r>
              <a:rPr lang="ko-KR" altLang="en-US" sz="2200" b="1"/>
              <a:t>컴퓨터의 분류</a:t>
            </a:r>
          </a:p>
        </p:txBody>
      </p:sp>
      <p:sp>
        <p:nvSpPr>
          <p:cNvPr id="10244" name="Rectangle 5">
            <a:extLst>
              <a:ext uri="{FF2B5EF4-FFF2-40B4-BE49-F238E27FC236}">
                <a16:creationId xmlns:a16="http://schemas.microsoft.com/office/drawing/2014/main" id="{529B4093-1CE1-40A7-AC6F-F21789F59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96975"/>
            <a:ext cx="8083550" cy="476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(1) </a:t>
            </a:r>
            <a:r>
              <a:rPr lang="ko-KR" altLang="en-US" b="1"/>
              <a:t>자료처리</a:t>
            </a:r>
            <a:r>
              <a:rPr lang="en-US" altLang="ko-KR" b="1"/>
              <a:t>(</a:t>
            </a:r>
            <a:r>
              <a:rPr lang="ko-KR" altLang="en-US" b="1"/>
              <a:t>취급 데이터</a:t>
            </a:r>
            <a:r>
              <a:rPr lang="en-US" altLang="ko-KR" b="1"/>
              <a:t>) </a:t>
            </a:r>
            <a:r>
              <a:rPr lang="ko-KR" altLang="en-US" b="1"/>
              <a:t>형태에 따른 분류</a:t>
            </a:r>
          </a:p>
          <a:p>
            <a:pPr eaLnBrk="1" hangingPunct="1"/>
            <a:r>
              <a:rPr lang="ko-KR" altLang="en-US" b="1"/>
              <a:t>  </a:t>
            </a:r>
          </a:p>
          <a:p>
            <a:pPr eaLnBrk="1" hangingPunct="1"/>
            <a:r>
              <a:rPr lang="ko-KR" altLang="en-US" b="1"/>
              <a:t>    ① 아날로그 컴퓨터		</a:t>
            </a:r>
          </a:p>
          <a:p>
            <a:pPr eaLnBrk="1" hangingPunct="1"/>
            <a:r>
              <a:rPr lang="ko-KR" altLang="en-US" b="1"/>
              <a:t>        </a:t>
            </a:r>
            <a:r>
              <a:rPr lang="en-US" altLang="ko-KR" b="1"/>
              <a:t>- </a:t>
            </a:r>
            <a:r>
              <a:rPr lang="ko-KR" altLang="en-US" b="1"/>
              <a:t>온도</a:t>
            </a:r>
            <a:r>
              <a:rPr lang="en-US" altLang="ko-KR" b="1"/>
              <a:t>, </a:t>
            </a:r>
            <a:r>
              <a:rPr lang="ko-KR" altLang="en-US" b="1"/>
              <a:t>압력</a:t>
            </a:r>
            <a:r>
              <a:rPr lang="en-US" altLang="ko-KR" b="1"/>
              <a:t>, </a:t>
            </a:r>
            <a:r>
              <a:rPr lang="ko-KR" altLang="en-US" b="1"/>
              <a:t>전압</a:t>
            </a:r>
            <a:r>
              <a:rPr lang="en-US" altLang="ko-KR" b="1"/>
              <a:t>, </a:t>
            </a:r>
            <a:r>
              <a:rPr lang="ko-KR" altLang="en-US" b="1"/>
              <a:t>전류</a:t>
            </a:r>
            <a:r>
              <a:rPr lang="en-US" altLang="ko-KR" b="1"/>
              <a:t>, </a:t>
            </a:r>
            <a:r>
              <a:rPr lang="ko-KR" altLang="en-US" b="1"/>
              <a:t>속도 등의 연속적인 물리량을 입력하여 수치적 </a:t>
            </a:r>
          </a:p>
          <a:p>
            <a:pPr eaLnBrk="1" hangingPunct="1"/>
            <a:r>
              <a:rPr lang="ko-KR" altLang="en-US" b="1"/>
              <a:t>           값에 해당하는 값을 비례시켜 나타내는 방법</a:t>
            </a:r>
          </a:p>
          <a:p>
            <a:pPr eaLnBrk="1" hangingPunct="1"/>
            <a:r>
              <a:rPr lang="ko-KR" altLang="en-US" b="1"/>
              <a:t>        </a:t>
            </a:r>
            <a:r>
              <a:rPr lang="en-US" altLang="ko-KR" b="1"/>
              <a:t>- </a:t>
            </a:r>
            <a:r>
              <a:rPr lang="ko-KR" altLang="en-US" b="1"/>
              <a:t>산술연산</a:t>
            </a:r>
            <a:r>
              <a:rPr lang="en-US" altLang="ko-KR" b="1"/>
              <a:t>, </a:t>
            </a:r>
            <a:r>
              <a:rPr lang="ko-KR" altLang="en-US" b="1"/>
              <a:t>비교연산 </a:t>
            </a:r>
          </a:p>
          <a:p>
            <a:pPr eaLnBrk="1" hangingPunct="1"/>
            <a:r>
              <a:rPr lang="ko-KR" altLang="en-US" b="1"/>
              <a:t>        </a:t>
            </a:r>
            <a:r>
              <a:rPr lang="en-US" altLang="ko-KR" b="1"/>
              <a:t>- </a:t>
            </a:r>
            <a:r>
              <a:rPr lang="ko-KR" altLang="en-US" b="1"/>
              <a:t>제한된 범위 내에서 사용 </a:t>
            </a:r>
          </a:p>
          <a:p>
            <a:pPr eaLnBrk="1" hangingPunct="1"/>
            <a:r>
              <a:rPr lang="ko-KR" altLang="en-US" b="1"/>
              <a:t>        </a:t>
            </a:r>
            <a:r>
              <a:rPr lang="en-US" altLang="ko-KR" b="1"/>
              <a:t>- </a:t>
            </a:r>
            <a:r>
              <a:rPr lang="ko-KR" altLang="en-US" b="1"/>
              <a:t>처리되는 데이터 특성상 주로 증폭회로에 의해 시스템이 구성됨</a:t>
            </a:r>
          </a:p>
          <a:p>
            <a:pPr eaLnBrk="1" hangingPunct="1"/>
            <a:r>
              <a:rPr lang="ko-KR" altLang="en-US" b="1"/>
              <a:t>  </a:t>
            </a:r>
          </a:p>
          <a:p>
            <a:pPr eaLnBrk="1" hangingPunct="1"/>
            <a:r>
              <a:rPr lang="ko-KR" altLang="en-US"/>
              <a:t>    </a:t>
            </a:r>
            <a:r>
              <a:rPr lang="ko-KR" altLang="en-US" b="1"/>
              <a:t>② 디지털 컴퓨터</a:t>
            </a:r>
          </a:p>
          <a:p>
            <a:pPr eaLnBrk="1" hangingPunct="1"/>
            <a:r>
              <a:rPr lang="ko-KR" altLang="en-US" b="1"/>
              <a:t>        </a:t>
            </a:r>
            <a:r>
              <a:rPr lang="en-US" altLang="ko-KR" b="1"/>
              <a:t>- </a:t>
            </a:r>
            <a:r>
              <a:rPr lang="ko-KR" altLang="en-US" b="1"/>
              <a:t>이산적인 자료</a:t>
            </a:r>
            <a:r>
              <a:rPr lang="en-US" altLang="ko-KR" b="1"/>
              <a:t>(</a:t>
            </a:r>
            <a:r>
              <a:rPr lang="ko-KR" altLang="en-US" b="1"/>
              <a:t>수치</a:t>
            </a:r>
            <a:r>
              <a:rPr lang="en-US" altLang="ko-KR" b="1"/>
              <a:t>, </a:t>
            </a:r>
            <a:r>
              <a:rPr lang="ko-KR" altLang="en-US" b="1"/>
              <a:t>문자</a:t>
            </a:r>
            <a:r>
              <a:rPr lang="en-US" altLang="ko-KR" b="1"/>
              <a:t>)</a:t>
            </a:r>
            <a:r>
              <a:rPr lang="ko-KR" altLang="en-US" b="1"/>
              <a:t>를 처리대상으로 하는 시스템 </a:t>
            </a:r>
          </a:p>
          <a:p>
            <a:pPr eaLnBrk="1" hangingPunct="1"/>
            <a:r>
              <a:rPr lang="ko-KR" altLang="en-US" b="1"/>
              <a:t>        </a:t>
            </a:r>
            <a:r>
              <a:rPr lang="en-US" altLang="ko-KR" b="1"/>
              <a:t>- </a:t>
            </a:r>
            <a:r>
              <a:rPr lang="ko-KR" altLang="en-US" b="1"/>
              <a:t>일반적 전자계산기</a:t>
            </a:r>
          </a:p>
          <a:p>
            <a:pPr eaLnBrk="1" hangingPunct="1"/>
            <a:r>
              <a:rPr lang="ko-KR" altLang="en-US" b="1"/>
              <a:t>  </a:t>
            </a:r>
          </a:p>
          <a:p>
            <a:pPr eaLnBrk="1" hangingPunct="1"/>
            <a:r>
              <a:rPr lang="ko-KR" altLang="en-US" b="1"/>
              <a:t>    ③ 하이브리드 컴퓨터</a:t>
            </a:r>
          </a:p>
          <a:p>
            <a:pPr eaLnBrk="1" hangingPunct="1"/>
            <a:r>
              <a:rPr lang="ko-KR" altLang="en-US" b="1"/>
              <a:t>        </a:t>
            </a:r>
            <a:r>
              <a:rPr lang="en-US" altLang="ko-KR" b="1"/>
              <a:t>- </a:t>
            </a:r>
            <a:r>
              <a:rPr lang="ko-KR" altLang="en-US" b="1"/>
              <a:t>아날로그형과 디지털형의 장점을 취하여 제작</a:t>
            </a:r>
          </a:p>
          <a:p>
            <a:pPr eaLnBrk="1" hangingPunct="1"/>
            <a:r>
              <a:rPr lang="ko-KR" altLang="en-US" b="1"/>
              <a:t>        </a:t>
            </a:r>
            <a:r>
              <a:rPr lang="en-US" altLang="ko-KR" b="1"/>
              <a:t>- A/D, D/A </a:t>
            </a:r>
            <a:r>
              <a:rPr lang="ko-KR" altLang="en-US" b="1"/>
              <a:t>변환기 사용</a:t>
            </a:r>
          </a:p>
          <a:p>
            <a:pPr eaLnBrk="1" hangingPunct="1"/>
            <a:r>
              <a:rPr lang="ko-KR" altLang="en-US" b="1"/>
              <a:t>        </a:t>
            </a:r>
            <a:r>
              <a:rPr lang="en-US" altLang="ko-KR" b="1"/>
              <a:t>- </a:t>
            </a:r>
            <a:r>
              <a:rPr lang="ko-KR" altLang="en-US" b="1"/>
              <a:t>인공위성</a:t>
            </a:r>
            <a:r>
              <a:rPr lang="en-US" altLang="ko-KR" b="1"/>
              <a:t>, </a:t>
            </a:r>
            <a:r>
              <a:rPr lang="ko-KR" altLang="en-US" b="1"/>
              <a:t>항공기 등의 설계 및 기술계산에 사용 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번호 개체 틀 1">
            <a:extLst>
              <a:ext uri="{FF2B5EF4-FFF2-40B4-BE49-F238E27FC236}">
                <a16:creationId xmlns:a16="http://schemas.microsoft.com/office/drawing/2014/main" id="{0C079559-57A7-445F-AB74-C674FDA1B6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243889B-976F-41FB-9649-A2CA5B000470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9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C848882-103E-404B-9B76-6B23B5FB2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998538"/>
            <a:ext cx="7943850" cy="531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① </a:t>
            </a:r>
            <a:r>
              <a:rPr lang="ko-KR" altLang="en-US" b="1"/>
              <a:t>범용컴퓨터 </a:t>
            </a:r>
            <a:r>
              <a:rPr lang="en-US" altLang="ko-KR" b="1"/>
              <a:t>: </a:t>
            </a:r>
            <a:r>
              <a:rPr lang="ko-KR" altLang="en-US" b="1"/>
              <a:t>다양한 업무처리</a:t>
            </a:r>
            <a:r>
              <a:rPr lang="en-US" altLang="ko-KR" b="1"/>
              <a:t>, </a:t>
            </a:r>
            <a:r>
              <a:rPr lang="ko-KR" altLang="en-US" b="1"/>
              <a:t>과학계산</a:t>
            </a:r>
            <a:r>
              <a:rPr lang="en-US" altLang="ko-KR" b="1"/>
              <a:t>, </a:t>
            </a:r>
            <a:r>
              <a:rPr lang="ko-KR" altLang="en-US" b="1"/>
              <a:t>통계처리</a:t>
            </a:r>
            <a:r>
              <a:rPr lang="en-US" altLang="ko-KR" b="1"/>
              <a:t>, </a:t>
            </a:r>
            <a:r>
              <a:rPr lang="ko-KR" altLang="en-US" b="1"/>
              <a:t>투자계획</a:t>
            </a:r>
            <a:r>
              <a:rPr lang="en-US" altLang="ko-KR" b="1"/>
              <a:t>, </a:t>
            </a:r>
            <a:r>
              <a:rPr lang="ko-KR" altLang="en-US" b="1"/>
              <a:t>생산계획</a:t>
            </a:r>
            <a:r>
              <a:rPr lang="en-US" altLang="ko-KR" b="1"/>
              <a:t>, </a:t>
            </a:r>
          </a:p>
          <a:p>
            <a:pPr eaLnBrk="1" hangingPunct="1"/>
            <a:r>
              <a:rPr lang="en-US" altLang="ko-KR" b="1"/>
              <a:t>                      </a:t>
            </a:r>
            <a:r>
              <a:rPr lang="ko-KR" altLang="en-US" b="1"/>
              <a:t>급여업무처리</a:t>
            </a:r>
            <a:r>
              <a:rPr lang="en-US" altLang="ko-KR" b="1"/>
              <a:t>, </a:t>
            </a:r>
            <a:r>
              <a:rPr lang="ko-KR" altLang="en-US" b="1"/>
              <a:t>재고관리 등의 여러 분야에 사용</a:t>
            </a:r>
          </a:p>
          <a:p>
            <a:pPr eaLnBrk="1" hangingPunct="1"/>
            <a:r>
              <a:rPr lang="ko-KR" altLang="en-US" b="1">
                <a:latin typeface="Arial" panose="020B0604020202020204" pitchFamily="34" charset="0"/>
              </a:rPr>
              <a:t> </a:t>
            </a:r>
            <a:r>
              <a:rPr lang="ko-KR" altLang="en-US" b="1"/>
              <a:t> </a:t>
            </a:r>
          </a:p>
          <a:p>
            <a:pPr eaLnBrk="1" hangingPunct="1"/>
            <a:r>
              <a:rPr lang="ko-KR" altLang="en-US" b="1"/>
              <a:t>② 특수 목적용 컴퓨터 </a:t>
            </a:r>
            <a:r>
              <a:rPr lang="en-US" altLang="ko-KR" b="1"/>
              <a:t>: </a:t>
            </a:r>
            <a:r>
              <a:rPr lang="ko-KR" altLang="en-US" b="1"/>
              <a:t>특정목적을 처리하기 위해서 설계</a:t>
            </a:r>
            <a:r>
              <a:rPr lang="en-US" altLang="ko-KR" b="1"/>
              <a:t>, </a:t>
            </a:r>
            <a:r>
              <a:rPr lang="ko-KR" altLang="en-US" b="1"/>
              <a:t>군사용</a:t>
            </a:r>
            <a:r>
              <a:rPr lang="en-US" altLang="ko-KR" b="1"/>
              <a:t>, </a:t>
            </a:r>
            <a:r>
              <a:rPr lang="ko-KR" altLang="en-US" b="1"/>
              <a:t>항공사 </a:t>
            </a:r>
          </a:p>
          <a:p>
            <a:pPr eaLnBrk="1" hangingPunct="1"/>
            <a:r>
              <a:rPr lang="ko-KR" altLang="en-US" b="1"/>
              <a:t>                                 예약시스템</a:t>
            </a:r>
            <a:r>
              <a:rPr lang="en-US" altLang="ko-KR" b="1"/>
              <a:t>, </a:t>
            </a:r>
            <a:r>
              <a:rPr lang="ko-KR" altLang="en-US" b="1"/>
              <a:t>산업공정 제어 등에 사용</a:t>
            </a:r>
          </a:p>
          <a:p>
            <a:pPr eaLnBrk="1" hangingPunct="1"/>
            <a:r>
              <a:rPr lang="ko-KR" altLang="en-US" b="1">
                <a:latin typeface="Arial" panose="020B0604020202020204" pitchFamily="34" charset="0"/>
              </a:rPr>
              <a:t> </a:t>
            </a:r>
            <a:r>
              <a:rPr lang="ko-KR" altLang="en-US" b="1"/>
              <a:t> </a:t>
            </a:r>
          </a:p>
          <a:p>
            <a:pPr eaLnBrk="1" hangingPunct="1"/>
            <a:r>
              <a:rPr lang="ko-KR" altLang="en-US" b="1"/>
              <a:t>③ 슈퍼컴퓨터 </a:t>
            </a:r>
            <a:r>
              <a:rPr lang="en-US" altLang="ko-KR" b="1"/>
              <a:t>: </a:t>
            </a:r>
            <a:r>
              <a:rPr lang="ko-KR" altLang="en-US" b="1"/>
              <a:t>처리능력이 뛰어나 정부연구기관</a:t>
            </a:r>
            <a:r>
              <a:rPr lang="en-US" altLang="ko-KR" b="1"/>
              <a:t>, </a:t>
            </a:r>
            <a:r>
              <a:rPr lang="ko-KR" altLang="en-US" b="1"/>
              <a:t>국방기관</a:t>
            </a:r>
            <a:r>
              <a:rPr lang="en-US" altLang="ko-KR" b="1"/>
              <a:t>, </a:t>
            </a:r>
            <a:r>
              <a:rPr lang="ko-KR" altLang="en-US" b="1"/>
              <a:t>일기예보 </a:t>
            </a:r>
          </a:p>
          <a:p>
            <a:pPr eaLnBrk="1" hangingPunct="1"/>
            <a:r>
              <a:rPr lang="ko-KR" altLang="en-US" b="1"/>
              <a:t>                      등에 주로 사용</a:t>
            </a:r>
          </a:p>
          <a:p>
            <a:pPr eaLnBrk="1" hangingPunct="1"/>
            <a:r>
              <a:rPr lang="ko-KR" altLang="en-US" b="1">
                <a:latin typeface="Arial" panose="020B0604020202020204" pitchFamily="34" charset="0"/>
              </a:rPr>
              <a:t> </a:t>
            </a:r>
            <a:r>
              <a:rPr lang="ko-KR" altLang="en-US" b="1"/>
              <a:t> </a:t>
            </a:r>
          </a:p>
          <a:p>
            <a:pPr eaLnBrk="1" hangingPunct="1"/>
            <a:r>
              <a:rPr lang="ko-KR" altLang="en-US" b="1"/>
              <a:t>④ 개인용 컴퓨터 </a:t>
            </a:r>
            <a:r>
              <a:rPr lang="en-US" altLang="ko-KR" b="1"/>
              <a:t>: </a:t>
            </a:r>
            <a:r>
              <a:rPr lang="ko-KR" altLang="en-US" b="1"/>
              <a:t>중앙처리장치가 마이크로프로세서</a:t>
            </a:r>
            <a:r>
              <a:rPr lang="en-US" altLang="ko-KR" b="1"/>
              <a:t>, </a:t>
            </a:r>
            <a:r>
              <a:rPr lang="ko-KR" altLang="en-US" b="1"/>
              <a:t>대량생산 및 기술혁신 </a:t>
            </a:r>
          </a:p>
          <a:p>
            <a:pPr eaLnBrk="1" hangingPunct="1"/>
            <a:r>
              <a:rPr lang="ko-KR" altLang="en-US" b="1"/>
              <a:t>                          등에 의한 가격인하로 주로 개인이 소유한 컴퓨터</a:t>
            </a:r>
          </a:p>
          <a:p>
            <a:pPr eaLnBrk="1" hangingPunct="1"/>
            <a:r>
              <a:rPr lang="ko-KR" altLang="en-US" b="1">
                <a:latin typeface="Arial" panose="020B0604020202020204" pitchFamily="34" charset="0"/>
              </a:rPr>
              <a:t> </a:t>
            </a:r>
            <a:r>
              <a:rPr lang="ko-KR" altLang="en-US" b="1"/>
              <a:t> </a:t>
            </a:r>
          </a:p>
          <a:p>
            <a:pPr eaLnBrk="1" hangingPunct="1"/>
            <a:r>
              <a:rPr lang="en-US" altLang="ko-KR" b="1"/>
              <a:t>※ </a:t>
            </a:r>
            <a:r>
              <a:rPr lang="ko-KR" altLang="en-US" b="1"/>
              <a:t>개인용 컴퓨터 분류</a:t>
            </a:r>
          </a:p>
          <a:p>
            <a:pPr eaLnBrk="1" hangingPunct="1"/>
            <a:r>
              <a:rPr lang="en-US" altLang="ko-KR" b="1"/>
              <a:t>- </a:t>
            </a:r>
            <a:r>
              <a:rPr lang="ko-KR" altLang="en-US" b="1"/>
              <a:t>데스크톱 컴퓨터 </a:t>
            </a:r>
            <a:r>
              <a:rPr lang="en-US" altLang="ko-KR" b="1"/>
              <a:t>: </a:t>
            </a:r>
            <a:r>
              <a:rPr lang="ko-KR" altLang="en-US" b="1"/>
              <a:t>책상 위에 올려놓고 사용 가능한 크기</a:t>
            </a:r>
            <a:r>
              <a:rPr lang="en-US" altLang="ko-KR" b="1"/>
              <a:t>(</a:t>
            </a:r>
            <a:r>
              <a:rPr lang="ko-KR" altLang="en-US" b="1"/>
              <a:t>탁상용 컴퓨터</a:t>
            </a:r>
            <a:r>
              <a:rPr lang="en-US" altLang="ko-KR" b="1"/>
              <a:t>)</a:t>
            </a:r>
          </a:p>
          <a:p>
            <a:pPr eaLnBrk="1" hangingPunct="1">
              <a:buFontTx/>
              <a:buChar char="-"/>
            </a:pPr>
            <a:r>
              <a:rPr lang="en-US" altLang="ko-KR" b="1"/>
              <a:t> </a:t>
            </a:r>
            <a:r>
              <a:rPr lang="ko-KR" altLang="en-US" b="1"/>
              <a:t>랩톱 컴퓨터 </a:t>
            </a:r>
            <a:r>
              <a:rPr lang="en-US" altLang="ko-KR" b="1"/>
              <a:t>: </a:t>
            </a:r>
            <a:r>
              <a:rPr lang="ko-KR" altLang="en-US" b="1"/>
              <a:t>무릎 위에 올려놓을 수 있는 크기로 배터리로 동작하는 </a:t>
            </a:r>
          </a:p>
          <a:p>
            <a:pPr eaLnBrk="1" hangingPunct="1"/>
            <a:r>
              <a:rPr lang="ko-KR" altLang="en-US" b="1"/>
              <a:t>                      휴대용 컴퓨터</a:t>
            </a:r>
          </a:p>
          <a:p>
            <a:pPr eaLnBrk="1" hangingPunct="1"/>
            <a:r>
              <a:rPr lang="en-US" altLang="ko-KR" b="1"/>
              <a:t>- </a:t>
            </a:r>
            <a:r>
              <a:rPr lang="ko-KR" altLang="en-US" b="1"/>
              <a:t>노트북 컴퓨터 </a:t>
            </a:r>
            <a:r>
              <a:rPr lang="en-US" altLang="ko-KR" b="1"/>
              <a:t>: </a:t>
            </a:r>
            <a:r>
              <a:rPr lang="ko-KR" altLang="en-US" b="1"/>
              <a:t>노트 크기의 개인용 컴퓨터 </a:t>
            </a:r>
          </a:p>
          <a:p>
            <a:pPr eaLnBrk="1" hangingPunct="1"/>
            <a:r>
              <a:rPr lang="en-US" altLang="ko-KR" b="1"/>
              <a:t>- </a:t>
            </a:r>
            <a:r>
              <a:rPr lang="ko-KR" altLang="en-US" b="1"/>
              <a:t>팜톱 </a:t>
            </a:r>
            <a:r>
              <a:rPr lang="en-US" altLang="ko-KR" b="1"/>
              <a:t>: </a:t>
            </a:r>
            <a:r>
              <a:rPr lang="ko-KR" altLang="en-US" b="1"/>
              <a:t>피코 컴퓨터라고도 하며 손바닥 위에 올려놓고 사용</a:t>
            </a:r>
          </a:p>
          <a:p>
            <a:pPr eaLnBrk="1" hangingPunct="1"/>
            <a:r>
              <a:rPr lang="en-US" altLang="ko-KR" b="1"/>
              <a:t>- PDA (Personal Digital Assistant) : </a:t>
            </a:r>
            <a:r>
              <a:rPr lang="ko-KR" altLang="en-US" b="1"/>
              <a:t>개인정보관리를 위한 전용 팜톱 컴퓨터 </a:t>
            </a:r>
            <a:endParaRPr lang="ko-KR" altLang="en-US"/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CED941D6-DEBF-4F2C-BA8A-486F5A9AA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" y="620713"/>
            <a:ext cx="2719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(2) </a:t>
            </a:r>
            <a:r>
              <a:rPr lang="ko-KR" altLang="en-US" b="1"/>
              <a:t>사용목적에 따른 분류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1">
            <a:extLst>
              <a:ext uri="{FF2B5EF4-FFF2-40B4-BE49-F238E27FC236}">
                <a16:creationId xmlns:a16="http://schemas.microsoft.com/office/drawing/2014/main" id="{B78D9E33-7160-41D4-93EB-120F40E85E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23F6A3DD-30EF-468A-A85C-8755DEC46D69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10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2291" name="Rectangle 4">
            <a:extLst>
              <a:ext uri="{FF2B5EF4-FFF2-40B4-BE49-F238E27FC236}">
                <a16:creationId xmlns:a16="http://schemas.microsoft.com/office/drawing/2014/main" id="{00803C41-38A7-4D47-BDE7-6D8427E96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854075"/>
            <a:ext cx="8689975" cy="531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ko-KR" sz="2000" b="1"/>
              <a:t>(3) </a:t>
            </a:r>
            <a:r>
              <a:rPr lang="ko-KR" altLang="en-US" sz="2000" b="1"/>
              <a:t>처리능력에 따른 분류</a:t>
            </a:r>
            <a:r>
              <a:rPr lang="ko-KR" altLang="en-US" b="1"/>
              <a:t> </a:t>
            </a:r>
          </a:p>
          <a:p>
            <a:pPr eaLnBrk="1" hangingPunct="1">
              <a:lnSpc>
                <a:spcPct val="110000"/>
              </a:lnSpc>
            </a:pPr>
            <a:endParaRPr lang="ko-KR" altLang="en-US" b="1"/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① 마이크로컴퓨터</a:t>
            </a:r>
            <a:r>
              <a:rPr lang="en-US" altLang="ko-KR" b="1"/>
              <a:t>(</a:t>
            </a:r>
            <a:r>
              <a:rPr lang="ko-KR" altLang="en-US" b="1"/>
              <a:t>개인용컴퓨터</a:t>
            </a:r>
            <a:r>
              <a:rPr lang="en-US" altLang="ko-KR" b="1"/>
              <a:t>) : </a:t>
            </a:r>
            <a:r>
              <a:rPr lang="ko-KR" altLang="en-US" b="1"/>
              <a:t>제품가격의 경제성</a:t>
            </a:r>
            <a:r>
              <a:rPr lang="en-US" altLang="ko-KR" b="1"/>
              <a:t>, </a:t>
            </a:r>
            <a:r>
              <a:rPr lang="ko-KR" altLang="en-US" b="1"/>
              <a:t>목적의 범용성</a:t>
            </a:r>
            <a:r>
              <a:rPr lang="en-US" altLang="ko-KR" b="1"/>
              <a:t>,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                                             </a:t>
            </a:r>
            <a:r>
              <a:rPr lang="ko-KR" altLang="en-US" b="1"/>
              <a:t>소형화</a:t>
            </a:r>
            <a:r>
              <a:rPr lang="en-US" altLang="ko-KR" b="1"/>
              <a:t>, </a:t>
            </a:r>
            <a:r>
              <a:rPr lang="ko-KR" altLang="en-US" b="1"/>
              <a:t>확장성 용이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② 미니컴퓨터 </a:t>
            </a:r>
            <a:r>
              <a:rPr lang="en-US" altLang="ko-KR" b="1"/>
              <a:t>: </a:t>
            </a:r>
            <a:r>
              <a:rPr lang="ko-KR" altLang="en-US" b="1"/>
              <a:t>기업체나 학교</a:t>
            </a:r>
            <a:r>
              <a:rPr lang="en-US" altLang="ko-KR" b="1"/>
              <a:t>, </a:t>
            </a:r>
            <a:r>
              <a:rPr lang="ko-KR" altLang="en-US" b="1"/>
              <a:t>연구소 등에서 사용</a:t>
            </a:r>
            <a:r>
              <a:rPr lang="en-US" altLang="ko-KR" b="1"/>
              <a:t>, </a:t>
            </a:r>
            <a:r>
              <a:rPr lang="ko-KR" altLang="en-US" b="1"/>
              <a:t>개인용 컴퓨터와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                메인 프레임 중간 정도의 성능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③ 워크스테이션 </a:t>
            </a:r>
            <a:r>
              <a:rPr lang="en-US" altLang="ko-KR" b="1"/>
              <a:t>: </a:t>
            </a:r>
            <a:r>
              <a:rPr lang="ko-KR" altLang="en-US" b="1"/>
              <a:t>빠른 계산속도와 고성능 그래픽 디스플레이가 필요한 건축가</a:t>
            </a:r>
            <a:r>
              <a:rPr lang="en-US" altLang="ko-KR" b="1"/>
              <a:t>,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                      </a:t>
            </a:r>
            <a:r>
              <a:rPr lang="ko-KR" altLang="en-US" b="1"/>
              <a:t>공학자 등 여러 분야에 종사하는 전문가들에 맞게 설계됨</a:t>
            </a:r>
            <a:r>
              <a:rPr lang="en-US" altLang="ko-KR" b="1"/>
              <a:t>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                      RISC </a:t>
            </a:r>
            <a:r>
              <a:rPr lang="ko-KR" altLang="en-US" b="1"/>
              <a:t>마이크로프로세서 사용하여 프로세서 속도향상</a:t>
            </a:r>
          </a:p>
          <a:p>
            <a:pPr eaLnBrk="1" hangingPunct="1"/>
            <a:r>
              <a:rPr lang="ko-KR" altLang="en-US" b="1"/>
              <a:t>     ④ 대형시스템</a:t>
            </a:r>
            <a:r>
              <a:rPr lang="en-US" altLang="ko-KR" b="1"/>
              <a:t>(Mainframe) : </a:t>
            </a:r>
            <a:r>
              <a:rPr lang="ko-KR" altLang="en-US" b="1"/>
              <a:t>명령처리속도 </a:t>
            </a:r>
            <a:r>
              <a:rPr lang="en-US" altLang="ko-KR" b="1"/>
              <a:t>MIPS(Million Instruction per second)</a:t>
            </a:r>
          </a:p>
          <a:p>
            <a:pPr eaLnBrk="1" hangingPunct="1"/>
            <a:r>
              <a:rPr lang="en-US" altLang="ko-KR" b="1"/>
              <a:t>                                           </a:t>
            </a:r>
            <a:r>
              <a:rPr lang="ko-KR" altLang="en-US" b="1"/>
              <a:t>사용</a:t>
            </a:r>
            <a:r>
              <a:rPr lang="en-US" altLang="ko-KR" b="1"/>
              <a:t>, </a:t>
            </a:r>
            <a:r>
              <a:rPr lang="ko-KR" altLang="en-US" b="1"/>
              <a:t>융통성이 뛰어나 분산처리 시스템에서 호스트 </a:t>
            </a:r>
          </a:p>
          <a:p>
            <a:pPr eaLnBrk="1" hangingPunct="1"/>
            <a:r>
              <a:rPr lang="ko-KR" altLang="en-US" b="1"/>
              <a:t>                                           컴퓨터로 사용</a:t>
            </a:r>
            <a:r>
              <a:rPr lang="en-US" altLang="ko-KR" b="1"/>
              <a:t>, IBM 308X </a:t>
            </a:r>
            <a:r>
              <a:rPr lang="ko-KR" altLang="en-US" b="1"/>
              <a:t>계열</a:t>
            </a:r>
          </a:p>
          <a:p>
            <a:pPr eaLnBrk="1" hangingPunct="1"/>
            <a:r>
              <a:rPr lang="ko-KR" altLang="en-US" b="1">
                <a:latin typeface="Arial" panose="020B0604020202020204" pitchFamily="34" charset="0"/>
              </a:rPr>
              <a:t> </a:t>
            </a:r>
            <a:r>
              <a:rPr lang="ko-KR" altLang="en-US" b="1"/>
              <a:t> </a:t>
            </a:r>
          </a:p>
          <a:p>
            <a:pPr eaLnBrk="1" hangingPunct="1"/>
            <a:r>
              <a:rPr lang="ko-KR" altLang="en-US" b="1"/>
              <a:t>     ⑤ 수퍼컴퓨터 </a:t>
            </a:r>
            <a:r>
              <a:rPr lang="en-US" altLang="ko-KR" b="1"/>
              <a:t>: </a:t>
            </a:r>
            <a:r>
              <a:rPr lang="ko-KR" altLang="en-US" b="1"/>
              <a:t>초고속 연산에 필요한 특수 제작된 컴퓨터</a:t>
            </a:r>
            <a:r>
              <a:rPr lang="en-US" altLang="ko-KR" b="1"/>
              <a:t>, </a:t>
            </a:r>
            <a:r>
              <a:rPr lang="ko-KR" altLang="en-US" b="1"/>
              <a:t>에너지개발</a:t>
            </a:r>
            <a:r>
              <a:rPr lang="en-US" altLang="ko-KR" b="1"/>
              <a:t>, </a:t>
            </a:r>
            <a:r>
              <a:rPr lang="ko-KR" altLang="en-US" b="1"/>
              <a:t>항공우주</a:t>
            </a:r>
          </a:p>
          <a:p>
            <a:pPr eaLnBrk="1" hangingPunct="1"/>
            <a:r>
              <a:rPr lang="ko-KR" altLang="en-US" b="1"/>
              <a:t>                           개발</a:t>
            </a:r>
            <a:r>
              <a:rPr lang="en-US" altLang="ko-KR" b="1"/>
              <a:t>, </a:t>
            </a:r>
            <a:r>
              <a:rPr lang="ko-KR" altLang="en-US" b="1"/>
              <a:t>의학적 연구</a:t>
            </a:r>
            <a:r>
              <a:rPr lang="en-US" altLang="ko-KR" b="1"/>
              <a:t>, </a:t>
            </a:r>
            <a:r>
              <a:rPr lang="ko-KR" altLang="en-US" b="1"/>
              <a:t>일기예보</a:t>
            </a:r>
            <a:r>
              <a:rPr lang="en-US" altLang="ko-KR" b="1"/>
              <a:t>, </a:t>
            </a:r>
            <a:r>
              <a:rPr lang="ko-KR" altLang="en-US" b="1"/>
              <a:t>석유탐사</a:t>
            </a:r>
            <a:r>
              <a:rPr lang="en-US" altLang="ko-KR" b="1"/>
              <a:t>, 3</a:t>
            </a:r>
            <a:r>
              <a:rPr lang="ko-KR" altLang="en-US" b="1"/>
              <a:t>차원그래픽시뮬레이션 </a:t>
            </a:r>
          </a:p>
          <a:p>
            <a:pPr eaLnBrk="1" hangingPunct="1"/>
            <a:r>
              <a:rPr lang="ko-KR" altLang="en-US" b="1"/>
              <a:t>                           등에 활용</a:t>
            </a:r>
          </a:p>
          <a:p>
            <a:pPr eaLnBrk="1" hangingPunct="1"/>
            <a:r>
              <a:rPr lang="ko-KR" altLang="en-US" b="1">
                <a:latin typeface="Arial" panose="020B0604020202020204" pitchFamily="34" charset="0"/>
              </a:rPr>
              <a:t> </a:t>
            </a:r>
            <a:r>
              <a:rPr lang="ko-KR" altLang="en-US" b="1"/>
              <a:t> </a:t>
            </a:r>
          </a:p>
          <a:p>
            <a:pPr eaLnBrk="1" hangingPunct="1"/>
            <a:r>
              <a:rPr lang="ko-KR" altLang="en-US" b="1"/>
              <a:t>         </a:t>
            </a:r>
            <a:r>
              <a:rPr lang="en-US" altLang="ko-KR" b="1"/>
              <a:t>※ Mainframe </a:t>
            </a:r>
            <a:r>
              <a:rPr lang="ko-KR" altLang="en-US" b="1"/>
              <a:t>이상과 이하의 구분은 처리속도로 구분한다</a:t>
            </a:r>
            <a:r>
              <a:rPr lang="en-US" altLang="ko-KR" b="1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번호 개체 틀 1">
            <a:extLst>
              <a:ext uri="{FF2B5EF4-FFF2-40B4-BE49-F238E27FC236}">
                <a16:creationId xmlns:a16="http://schemas.microsoft.com/office/drawing/2014/main" id="{26E696BA-D781-41D2-8C65-F230360075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1701861D-50DD-4773-836A-6BD15B4D29A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11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3315" name="Rectangle 4">
            <a:extLst>
              <a:ext uri="{FF2B5EF4-FFF2-40B4-BE49-F238E27FC236}">
                <a16:creationId xmlns:a16="http://schemas.microsoft.com/office/drawing/2014/main" id="{8B1C8C86-5855-42F0-947A-2C6EC7E4C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773113"/>
            <a:ext cx="8707438" cy="536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※ RISC(Reduced Instruction Set Computer)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</a:t>
            </a:r>
            <a:r>
              <a:rPr lang="ko-KR" altLang="en-US" b="1"/>
              <a:t>주기억장치의 주기</a:t>
            </a:r>
            <a:r>
              <a:rPr lang="en-US" altLang="ko-KR" b="1"/>
              <a:t>(CPU 1 Cycle :  </a:t>
            </a:r>
            <a:r>
              <a:rPr lang="ko-KR" altLang="en-US" b="1"/>
              <a:t>두개의 오퍼랜드를 읽어 연산하고 다시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결과를 저장하는데 걸리는 시간</a:t>
            </a:r>
            <a:r>
              <a:rPr lang="en-US" altLang="ko-KR" b="1"/>
              <a:t>)</a:t>
            </a:r>
            <a:r>
              <a:rPr lang="ko-KR" altLang="en-US" b="1"/>
              <a:t>를  최소화한 것으로 인스트럭션이 주기억장치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</a:t>
            </a:r>
            <a:r>
              <a:rPr lang="en-US" altLang="ko-KR" b="1"/>
              <a:t>1</a:t>
            </a:r>
            <a:r>
              <a:rPr lang="ko-KR" altLang="en-US" b="1"/>
              <a:t>주기에 수행이 완료되도록 하는  시스템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처리시간이 매우 짧고 간단한 명령만을 골라 그것들을 조합한 명령세트에 의해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종래의 </a:t>
            </a:r>
            <a:r>
              <a:rPr lang="en-US" altLang="ko-KR" b="1"/>
              <a:t>CISC </a:t>
            </a:r>
            <a:r>
              <a:rPr lang="ko-KR" altLang="en-US" b="1"/>
              <a:t>보다 처리를 고속으로 하는 마이크로프로세서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명령어 개수와 어드레싱 모드를 최소화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고정된 명령어 형식 사용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하드와이어 방식의 명령어 디코딩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※ </a:t>
            </a:r>
            <a:r>
              <a:rPr lang="ko-KR" altLang="en-US" b="1"/>
              <a:t>논리회로 설계 방식에 의해 구성되어 고정된 신호를 발생하도록 설계</a:t>
            </a:r>
            <a:r>
              <a:rPr lang="en-US" altLang="ko-KR" b="1"/>
              <a:t>, </a:t>
            </a:r>
            <a:r>
              <a:rPr lang="ko-KR" altLang="en-US" b="1"/>
              <a:t>동작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속도를 극대화하는데 목적</a:t>
            </a:r>
            <a:r>
              <a:rPr lang="en-US" altLang="ko-KR" b="1"/>
              <a:t>, </a:t>
            </a:r>
            <a:r>
              <a:rPr lang="ko-KR" altLang="en-US" b="1"/>
              <a:t>한번 구성되면 기억소자와 같은 회로가 아니고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불규칙적인 회로로서 변경이 필요한 경우에 다시 설계해야 하므로 사용이 극히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제한적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LOAD/STORE </a:t>
            </a:r>
            <a:r>
              <a:rPr lang="ko-KR" altLang="en-US" b="1"/>
              <a:t>방식의 메모리 구조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다수의 레지스터군이 제공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1">
            <a:extLst>
              <a:ext uri="{FF2B5EF4-FFF2-40B4-BE49-F238E27FC236}">
                <a16:creationId xmlns:a16="http://schemas.microsoft.com/office/drawing/2014/main" id="{3B800FFF-DE07-40F0-97C8-96A8485F6A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5F042B18-FD39-4594-9EB6-8B37EDF40C24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4339" name="Text Box 4">
            <a:extLst>
              <a:ext uri="{FF2B5EF4-FFF2-40B4-BE49-F238E27FC236}">
                <a16:creationId xmlns:a16="http://schemas.microsoft.com/office/drawing/2014/main" id="{8793CE75-94D2-428E-8A4C-D949FC677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800100"/>
            <a:ext cx="8551862" cy="529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lang="en-US" altLang="ko-KR" b="1"/>
              <a:t>※ CISC(Complex Instruction Set Computer)</a:t>
            </a:r>
          </a:p>
          <a:p>
            <a:pPr eaLnBrk="1" hangingPunct="1">
              <a:lnSpc>
                <a:spcPct val="105000"/>
              </a:lnSpc>
            </a:pPr>
            <a:r>
              <a:rPr lang="en-US" altLang="ko-KR" b="1"/>
              <a:t>    - </a:t>
            </a:r>
            <a:r>
              <a:rPr lang="ko-KR" altLang="en-US" b="1"/>
              <a:t>일반적으로 마이크로 프로그래밍을 통하여 여러 가지 명령어와 주소지정 </a:t>
            </a:r>
          </a:p>
          <a:p>
            <a:pPr eaLnBrk="1" hangingPunct="1">
              <a:lnSpc>
                <a:spcPct val="105000"/>
              </a:lnSpc>
            </a:pPr>
            <a:r>
              <a:rPr lang="ko-KR" altLang="en-US" b="1"/>
              <a:t>       모드를 구현한 형태를 말함</a:t>
            </a:r>
          </a:p>
          <a:p>
            <a:pPr eaLnBrk="1" hangingPunct="1">
              <a:lnSpc>
                <a:spcPct val="105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다양한 길이의 명령어를 많이 정의하여 하나의 명령어가 한 가지 이상의 </a:t>
            </a:r>
          </a:p>
          <a:p>
            <a:pPr eaLnBrk="1" hangingPunct="1">
              <a:lnSpc>
                <a:spcPct val="105000"/>
              </a:lnSpc>
            </a:pPr>
            <a:r>
              <a:rPr lang="ko-KR" altLang="en-US" b="1"/>
              <a:t>       명령어를 갖도록 하고 있으므로 제어기의 구성이 복잡하게 되고 명령 단위의 </a:t>
            </a:r>
          </a:p>
          <a:p>
            <a:pPr eaLnBrk="1" hangingPunct="1">
              <a:lnSpc>
                <a:spcPct val="105000"/>
              </a:lnSpc>
            </a:pPr>
            <a:r>
              <a:rPr lang="ko-KR" altLang="en-US" b="1"/>
              <a:t>       수행시간도 길어짐</a:t>
            </a:r>
          </a:p>
          <a:p>
            <a:pPr eaLnBrk="1" hangingPunct="1">
              <a:lnSpc>
                <a:spcPct val="105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마이크로프로그램의 프로시저나 서브루틴 등을 빠른 속도의 </a:t>
            </a:r>
            <a:r>
              <a:rPr lang="en-US" altLang="ko-KR" b="1"/>
              <a:t>ROM</a:t>
            </a:r>
            <a:r>
              <a:rPr lang="ko-KR" altLang="en-US" b="1"/>
              <a:t>에 마이크로 </a:t>
            </a:r>
          </a:p>
          <a:p>
            <a:pPr eaLnBrk="1" hangingPunct="1">
              <a:lnSpc>
                <a:spcPct val="105000"/>
              </a:lnSpc>
            </a:pPr>
            <a:r>
              <a:rPr lang="ko-KR" altLang="en-US" b="1"/>
              <a:t>       코드화하여 실현한 것</a:t>
            </a:r>
          </a:p>
          <a:p>
            <a:pPr eaLnBrk="1" hangingPunct="1">
              <a:lnSpc>
                <a:spcPct val="105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한 개의 명령어로 최대의 동작을 수행</a:t>
            </a:r>
          </a:p>
          <a:p>
            <a:pPr eaLnBrk="1" hangingPunct="1">
              <a:lnSpc>
                <a:spcPct val="105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다양한 길이의 명령어 형식을 제공</a:t>
            </a:r>
          </a:p>
          <a:p>
            <a:pPr eaLnBrk="1" hangingPunct="1">
              <a:lnSpc>
                <a:spcPct val="105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마이크로프로그램 제어방식의 프로세서로 구성되어 있음</a:t>
            </a:r>
          </a:p>
          <a:p>
            <a:pPr eaLnBrk="1" hangingPunct="1">
              <a:lnSpc>
                <a:spcPct val="105000"/>
              </a:lnSpc>
            </a:pPr>
            <a:r>
              <a:rPr lang="en-US" altLang="ko-KR" b="1"/>
              <a:t>※ </a:t>
            </a:r>
            <a:r>
              <a:rPr lang="ko-KR" altLang="en-US" b="1"/>
              <a:t>모든 마이크로 동작 수행에 필요한 제어 기능과 전형적인 처리 루틴을 마이크로 </a:t>
            </a:r>
          </a:p>
          <a:p>
            <a:pPr eaLnBrk="1" hangingPunct="1">
              <a:lnSpc>
                <a:spcPct val="105000"/>
              </a:lnSpc>
            </a:pPr>
            <a:r>
              <a:rPr lang="ko-KR" altLang="en-US" b="1"/>
              <a:t>    프로그램으로 구성하여 </a:t>
            </a:r>
            <a:r>
              <a:rPr lang="en-US" altLang="ko-KR" b="1"/>
              <a:t>ROM</a:t>
            </a:r>
            <a:r>
              <a:rPr lang="ko-KR" altLang="en-US" b="1"/>
              <a:t>이나 </a:t>
            </a:r>
            <a:r>
              <a:rPr lang="en-US" altLang="ko-KR" b="1"/>
              <a:t>PROM</a:t>
            </a:r>
            <a:r>
              <a:rPr lang="ko-KR" altLang="en-US" b="1"/>
              <a:t>과 같은 장치에 저장시켜 제어회로를 </a:t>
            </a:r>
          </a:p>
          <a:p>
            <a:pPr eaLnBrk="1" hangingPunct="1">
              <a:lnSpc>
                <a:spcPct val="105000"/>
              </a:lnSpc>
            </a:pPr>
            <a:r>
              <a:rPr lang="ko-KR" altLang="en-US" b="1"/>
              <a:t>    구현하는 방법</a:t>
            </a:r>
            <a:r>
              <a:rPr lang="en-US" altLang="ko-KR" b="1"/>
              <a:t>, </a:t>
            </a:r>
            <a:r>
              <a:rPr lang="ko-KR" altLang="en-US" b="1"/>
              <a:t>회로구성이 간단하고 </a:t>
            </a:r>
            <a:r>
              <a:rPr lang="en-US" altLang="ko-KR" b="1"/>
              <a:t>VLSI</a:t>
            </a:r>
            <a:r>
              <a:rPr lang="ko-KR" altLang="en-US" b="1"/>
              <a:t>화 하기 쉽고 명령어들을 변경하기기가</a:t>
            </a:r>
          </a:p>
          <a:p>
            <a:pPr eaLnBrk="1" hangingPunct="1">
              <a:lnSpc>
                <a:spcPct val="105000"/>
              </a:lnSpc>
            </a:pPr>
            <a:r>
              <a:rPr lang="ko-KR" altLang="en-US" b="1"/>
              <a:t>    쉬우므로 명령어가 많아질 경우 경제적</a:t>
            </a:r>
            <a:r>
              <a:rPr lang="en-US" altLang="ko-KR" b="1"/>
              <a:t>, </a:t>
            </a:r>
            <a:r>
              <a:rPr lang="ko-KR" altLang="en-US" b="1"/>
              <a:t>그러나 기억장치 엑세스 시간으로 처리</a:t>
            </a:r>
          </a:p>
          <a:p>
            <a:pPr eaLnBrk="1" hangingPunct="1">
              <a:lnSpc>
                <a:spcPct val="105000"/>
              </a:lnSpc>
            </a:pPr>
            <a:r>
              <a:rPr lang="ko-KR" altLang="en-US" b="1"/>
              <a:t>    속도 면에서 불리하다</a:t>
            </a:r>
            <a:r>
              <a:rPr lang="en-US" altLang="ko-KR" b="1"/>
              <a:t>. </a:t>
            </a:r>
          </a:p>
          <a:p>
            <a:pPr eaLnBrk="1" hangingPunct="1">
              <a:lnSpc>
                <a:spcPct val="105000"/>
              </a:lnSpc>
            </a:pPr>
            <a:r>
              <a:rPr lang="en-US" altLang="ko-KR" b="1"/>
              <a:t>    - </a:t>
            </a:r>
            <a:r>
              <a:rPr lang="ko-KR" altLang="en-US" b="1"/>
              <a:t>비교적 느린 메모리와 빠른 클럭 형태 </a:t>
            </a:r>
          </a:p>
          <a:p>
            <a:pPr eaLnBrk="1" hangingPunct="1">
              <a:lnSpc>
                <a:spcPct val="105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컴퓨터 설계시 많은 시간이 필요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1">
            <a:extLst>
              <a:ext uri="{FF2B5EF4-FFF2-40B4-BE49-F238E27FC236}">
                <a16:creationId xmlns:a16="http://schemas.microsoft.com/office/drawing/2014/main" id="{BEBC23AF-6CF1-4528-93C7-938093E200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4CCC0BCA-5F91-40E2-BA39-46E7345FFA35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5D04FBDE-8C81-467D-B758-9271BF904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806450"/>
            <a:ext cx="226536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/>
            <a:r>
              <a:rPr lang="en-US" altLang="ko-KR" sz="2200" b="1"/>
              <a:t>6. </a:t>
            </a:r>
            <a:r>
              <a:rPr lang="ko-KR" altLang="en-US" sz="2200" b="1"/>
              <a:t>컴퓨터의 구성</a:t>
            </a:r>
          </a:p>
        </p:txBody>
      </p:sp>
      <p:sp>
        <p:nvSpPr>
          <p:cNvPr id="15364" name="Rectangle 5">
            <a:extLst>
              <a:ext uri="{FF2B5EF4-FFF2-40B4-BE49-F238E27FC236}">
                <a16:creationId xmlns:a16="http://schemas.microsoft.com/office/drawing/2014/main" id="{5501A9E3-4E37-4702-95A9-51055DB1E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478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69896" name="Group 264">
            <a:extLst>
              <a:ext uri="{FF2B5EF4-FFF2-40B4-BE49-F238E27FC236}">
                <a16:creationId xmlns:a16="http://schemas.microsoft.com/office/drawing/2014/main" id="{83296483-F700-4F85-95DB-FDBE686C3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843700"/>
              </p:ext>
            </p:extLst>
          </p:nvPr>
        </p:nvGraphicFramePr>
        <p:xfrm>
          <a:off x="1043608" y="1428751"/>
          <a:ext cx="6624637" cy="3962400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 rowSpan="1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컴퓨터시스템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하드웨어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중앙처리장치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(CPU)</a:t>
                      </a:r>
                      <a:endParaRPr kumimoji="1" lang="en-US" altLang="ko-K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제어장치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연산장치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주기억장치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5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주변장치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(Peripheral Device)</a:t>
                      </a:r>
                      <a:endParaRPr kumimoji="1" lang="en-US" altLang="ko-K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입력장치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5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출력장치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보조기억장치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5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소프트웨어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시스템 소프트웨어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운영시스템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5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데이터베이스관리시스템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5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통신제어프로그램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프로그래밍언어번역기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5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응용 소프트웨어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사업용 응용프로그램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5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과학용 프로그램</a:t>
                      </a:r>
                      <a:endParaRPr kumimoji="1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기타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5405" name="Rectangle 265">
            <a:extLst>
              <a:ext uri="{FF2B5EF4-FFF2-40B4-BE49-F238E27FC236}">
                <a16:creationId xmlns:a16="http://schemas.microsoft.com/office/drawing/2014/main" id="{4E106EC9-A1CE-44E5-AC94-C6EC3EECE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516563"/>
            <a:ext cx="5845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※ </a:t>
            </a:r>
            <a:r>
              <a:rPr lang="ko-KR" altLang="en-US" b="1"/>
              <a:t>컴퓨터 </a:t>
            </a:r>
            <a:r>
              <a:rPr lang="en-US" altLang="ko-KR" b="1"/>
              <a:t>5</a:t>
            </a:r>
            <a:r>
              <a:rPr lang="ko-KR" altLang="en-US" b="1"/>
              <a:t>대 장치 </a:t>
            </a:r>
          </a:p>
          <a:p>
            <a:pPr eaLnBrk="1" hangingPunct="1"/>
            <a:r>
              <a:rPr lang="ko-KR" altLang="en-US" b="1"/>
              <a:t>     </a:t>
            </a:r>
            <a:r>
              <a:rPr lang="en-US" altLang="ko-KR" b="1"/>
              <a:t>- </a:t>
            </a:r>
            <a:r>
              <a:rPr lang="ko-KR" altLang="en-US" b="1"/>
              <a:t>입력장치</a:t>
            </a:r>
            <a:r>
              <a:rPr lang="en-US" altLang="ko-KR" b="1"/>
              <a:t>, </a:t>
            </a:r>
            <a:r>
              <a:rPr lang="ko-KR" altLang="en-US" b="1"/>
              <a:t>출력장치</a:t>
            </a:r>
            <a:r>
              <a:rPr lang="en-US" altLang="ko-KR" b="1"/>
              <a:t>, </a:t>
            </a:r>
            <a:r>
              <a:rPr lang="ko-KR" altLang="en-US" b="1"/>
              <a:t>연산장치</a:t>
            </a:r>
            <a:r>
              <a:rPr lang="en-US" altLang="ko-KR" b="1"/>
              <a:t>, </a:t>
            </a:r>
            <a:r>
              <a:rPr lang="ko-KR" altLang="en-US" b="1"/>
              <a:t>제어장치</a:t>
            </a:r>
            <a:r>
              <a:rPr lang="en-US" altLang="ko-KR" b="1"/>
              <a:t>, </a:t>
            </a:r>
            <a:r>
              <a:rPr lang="ko-KR" altLang="en-US" b="1"/>
              <a:t>기억장치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1">
            <a:extLst>
              <a:ext uri="{FF2B5EF4-FFF2-40B4-BE49-F238E27FC236}">
                <a16:creationId xmlns:a16="http://schemas.microsoft.com/office/drawing/2014/main" id="{82C65173-E6B9-46F1-A850-7B9CD22F6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7A1405BF-6F38-4CFC-9110-951856F3067A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6387" name="Rectangle 5">
            <a:extLst>
              <a:ext uri="{FF2B5EF4-FFF2-40B4-BE49-F238E27FC236}">
                <a16:creationId xmlns:a16="http://schemas.microsoft.com/office/drawing/2014/main" id="{DC78D033-39A4-46C7-B9A1-D36B51C42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82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pic>
        <p:nvPicPr>
          <p:cNvPr id="16388" name="_x67790064" descr="EMB00000fbc26d9">
            <a:extLst>
              <a:ext uri="{FF2B5EF4-FFF2-40B4-BE49-F238E27FC236}">
                <a16:creationId xmlns:a16="http://schemas.microsoft.com/office/drawing/2014/main" id="{7CDE9269-5CC1-43B1-84A8-07BB3B4E1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268413"/>
            <a:ext cx="5689600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 Box 6">
            <a:extLst>
              <a:ext uri="{FF2B5EF4-FFF2-40B4-BE49-F238E27FC236}">
                <a16:creationId xmlns:a16="http://schemas.microsoft.com/office/drawing/2014/main" id="{6700346B-28D2-40B0-BF0D-AC0CBD173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734050"/>
            <a:ext cx="2292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(</a:t>
            </a:r>
            <a:r>
              <a:rPr lang="ko-KR" altLang="en-US" b="1"/>
              <a:t>그림</a:t>
            </a:r>
            <a:r>
              <a:rPr lang="en-US" altLang="ko-KR" b="1"/>
              <a:t>) </a:t>
            </a:r>
            <a:r>
              <a:rPr lang="ko-KR" altLang="en-US" b="1"/>
              <a:t>컴퓨터의 구성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번호 개체 틀 1">
            <a:extLst>
              <a:ext uri="{FF2B5EF4-FFF2-40B4-BE49-F238E27FC236}">
                <a16:creationId xmlns:a16="http://schemas.microsoft.com/office/drawing/2014/main" id="{A6514902-6EAD-41A6-A3D5-9B47DCFCF3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210F157-F93C-43A1-9EBF-F95AF2B25272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C4FE7C19-5B55-453B-B448-046A2DCE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981075"/>
            <a:ext cx="8456613" cy="478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(1) </a:t>
            </a:r>
            <a:r>
              <a:rPr lang="ko-KR" altLang="en-US" sz="2000" b="1"/>
              <a:t>입력 장치 </a:t>
            </a:r>
            <a:r>
              <a:rPr lang="en-US" altLang="ko-KR" sz="2000" b="1"/>
              <a:t>(Input Unit)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- </a:t>
            </a:r>
            <a:r>
              <a:rPr lang="ko-KR" altLang="en-US" b="1"/>
              <a:t>자료와 프로그램의 명령을 컴퓨터 내부로 읽어 들이는 역할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</a:t>
            </a:r>
            <a:r>
              <a:rPr lang="en-US" altLang="ko-KR" b="1"/>
              <a:t>- </a:t>
            </a:r>
            <a:r>
              <a:rPr lang="ko-KR" altLang="en-US" b="1"/>
              <a:t>종류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</a:t>
            </a:r>
            <a:r>
              <a:rPr lang="en-US" altLang="ko-KR" b="1"/>
              <a:t>. </a:t>
            </a:r>
            <a:r>
              <a:rPr lang="ko-KR" altLang="en-US" b="1"/>
              <a:t>키보드</a:t>
            </a:r>
            <a:r>
              <a:rPr lang="en-US" altLang="ko-KR" b="1"/>
              <a:t>, </a:t>
            </a:r>
            <a:r>
              <a:rPr lang="ko-KR" altLang="en-US" b="1"/>
              <a:t>천공 카드 판독기</a:t>
            </a:r>
            <a:r>
              <a:rPr lang="en-US" altLang="ko-KR" b="1"/>
              <a:t>, </a:t>
            </a:r>
            <a:r>
              <a:rPr lang="ko-KR" altLang="en-US" b="1"/>
              <a:t>천공 종이 테이프</a:t>
            </a:r>
            <a:r>
              <a:rPr lang="en-US" altLang="ko-KR" b="1"/>
              <a:t>, </a:t>
            </a:r>
            <a:r>
              <a:rPr lang="ko-KR" altLang="en-US" b="1"/>
              <a:t>콘솔</a:t>
            </a:r>
            <a:r>
              <a:rPr lang="en-US" altLang="ko-KR" b="1"/>
              <a:t>, </a:t>
            </a:r>
            <a:r>
              <a:rPr lang="ko-KR" altLang="en-US" b="1"/>
              <a:t>자기 디스크</a:t>
            </a:r>
            <a:r>
              <a:rPr lang="en-US" altLang="ko-KR" b="1"/>
              <a:t>,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</a:t>
            </a:r>
            <a:r>
              <a:rPr lang="ko-KR" altLang="en-US" b="1"/>
              <a:t>자기 드럼</a:t>
            </a:r>
            <a:r>
              <a:rPr lang="en-US" altLang="ko-KR" b="1"/>
              <a:t>,</a:t>
            </a:r>
            <a:r>
              <a:rPr lang="ko-KR" altLang="en-US" b="1"/>
              <a:t>자기 디스켓</a:t>
            </a:r>
            <a:r>
              <a:rPr lang="en-US" altLang="ko-KR" b="1"/>
              <a:t>, </a:t>
            </a:r>
            <a:r>
              <a:rPr lang="ko-KR" altLang="en-US" b="1"/>
              <a:t>마이크로 필름 등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(2) </a:t>
            </a:r>
            <a:r>
              <a:rPr lang="ko-KR" altLang="en-US" sz="2000" b="1"/>
              <a:t>제어 장치 </a:t>
            </a:r>
            <a:r>
              <a:rPr lang="en-US" altLang="ko-KR" sz="2000" b="1"/>
              <a:t>(Control Unit)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- </a:t>
            </a:r>
            <a:r>
              <a:rPr lang="ko-KR" altLang="en-US" b="1"/>
              <a:t>컴퓨터 시스템의 다른 구성 요소들은 제어장치에 의하여 통제되고 지시된다</a:t>
            </a:r>
            <a:r>
              <a:rPr lang="en-US" altLang="ko-KR" b="1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- </a:t>
            </a:r>
            <a:r>
              <a:rPr lang="ko-KR" altLang="en-US" b="1"/>
              <a:t>동작 절차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</a:t>
            </a:r>
            <a:r>
              <a:rPr lang="en-US" altLang="ko-KR" b="1"/>
              <a:t>. </a:t>
            </a:r>
            <a:r>
              <a:rPr lang="ko-KR" altLang="en-US" b="1"/>
              <a:t>주기억장치로부터 명령을 읽어 들인다</a:t>
            </a:r>
            <a:r>
              <a:rPr lang="en-US" altLang="ko-KR" b="1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. </a:t>
            </a:r>
            <a:r>
              <a:rPr lang="ko-KR" altLang="en-US" b="1"/>
              <a:t>명령을 해석한다</a:t>
            </a:r>
            <a:r>
              <a:rPr lang="en-US" altLang="ko-KR" b="1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. </a:t>
            </a:r>
            <a:r>
              <a:rPr lang="ko-KR" altLang="en-US" b="1"/>
              <a:t>지시 사항에 따라 </a:t>
            </a:r>
            <a:r>
              <a:rPr lang="en-US" altLang="ko-KR" b="1"/>
              <a:t>(</a:t>
            </a:r>
            <a:r>
              <a:rPr lang="ko-KR" altLang="en-US" b="1"/>
              <a:t>자료처리</a:t>
            </a:r>
            <a:r>
              <a:rPr lang="en-US" altLang="ko-KR" b="1"/>
              <a:t>) </a:t>
            </a:r>
            <a:r>
              <a:rPr lang="ko-KR" altLang="en-US" b="1"/>
              <a:t>작업을 수행한다</a:t>
            </a:r>
            <a:r>
              <a:rPr lang="en-US" altLang="ko-KR" b="1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. </a:t>
            </a:r>
            <a:r>
              <a:rPr lang="ko-KR" altLang="en-US" b="1"/>
              <a:t>어떤 연산을 할 것이며</a:t>
            </a:r>
            <a:r>
              <a:rPr lang="en-US" altLang="ko-KR" b="1"/>
              <a:t>, </a:t>
            </a:r>
            <a:r>
              <a:rPr lang="ko-KR" altLang="en-US" b="1"/>
              <a:t>결과를 어느 장소에 기억시킨다</a:t>
            </a:r>
            <a:r>
              <a:rPr lang="en-US" altLang="ko-KR" b="1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. </a:t>
            </a:r>
            <a:r>
              <a:rPr lang="ko-KR" altLang="en-US" b="1"/>
              <a:t>처리 자료를 출력 매체로 전환하여 출력한다</a:t>
            </a:r>
            <a:r>
              <a:rPr lang="en-US" altLang="ko-KR" b="1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번호 개체 틀 1">
            <a:extLst>
              <a:ext uri="{FF2B5EF4-FFF2-40B4-BE49-F238E27FC236}">
                <a16:creationId xmlns:a16="http://schemas.microsoft.com/office/drawing/2014/main" id="{5CD77611-C1BD-40C0-B57F-A4BB9A0B9D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E04DCCC-338D-46D5-A09B-81ACBDA3C918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98CAFA2C-BBAC-4697-A5DE-5E81B1A36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" y="854075"/>
            <a:ext cx="8531225" cy="415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(3) </a:t>
            </a:r>
            <a:r>
              <a:rPr lang="ko-KR" altLang="en-US" sz="2000" b="1"/>
              <a:t>산술</a:t>
            </a:r>
            <a:r>
              <a:rPr lang="en-US" altLang="ko-KR" sz="2000" b="1"/>
              <a:t>-</a:t>
            </a:r>
            <a:r>
              <a:rPr lang="ko-KR" altLang="en-US" sz="2000" b="1"/>
              <a:t>논리 연산 장치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- </a:t>
            </a:r>
            <a:r>
              <a:rPr lang="ko-KR" altLang="en-US" b="1"/>
              <a:t>산술 및 논리 연산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- </a:t>
            </a:r>
            <a:r>
              <a:rPr lang="ko-KR" altLang="en-US" b="1"/>
              <a:t>제어 장치의 통제 하에 산술 연산과 논리 연산에 의한 데이터 처리 수행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(4) </a:t>
            </a:r>
            <a:r>
              <a:rPr lang="ko-KR" altLang="en-US" sz="2000" b="1"/>
              <a:t>기억 장치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- </a:t>
            </a:r>
            <a:r>
              <a:rPr lang="ko-KR" altLang="en-US" b="1"/>
              <a:t>입력 장치를 통하여 읽어 들인 데이터나 명령등과 내부에서 계산 처리된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결과를 기억하는 기능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- CPU, </a:t>
            </a:r>
            <a:r>
              <a:rPr lang="ko-KR" altLang="en-US" b="1"/>
              <a:t>주기억장치</a:t>
            </a:r>
            <a:r>
              <a:rPr lang="en-US" altLang="ko-KR" b="1"/>
              <a:t>, </a:t>
            </a:r>
            <a:r>
              <a:rPr lang="ko-KR" altLang="en-US" b="1"/>
              <a:t>보조기억장치 내에서 이루어진다</a:t>
            </a:r>
            <a:r>
              <a:rPr lang="en-US" altLang="ko-KR" b="1"/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(5) </a:t>
            </a:r>
            <a:r>
              <a:rPr lang="ko-KR" altLang="en-US" sz="2000" b="1"/>
              <a:t>출력 장치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- </a:t>
            </a:r>
            <a:r>
              <a:rPr lang="ko-KR" altLang="en-US" b="1"/>
              <a:t>기억하고 있는 내용이나 연산의 결과 등을 외부의 출력 매체를 통하여 외부로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표현하는 장치 </a:t>
            </a:r>
            <a:r>
              <a:rPr lang="en-US" altLang="ko-KR" b="1"/>
              <a:t>(</a:t>
            </a:r>
            <a:r>
              <a:rPr lang="ko-KR" altLang="en-US" b="1"/>
              <a:t>프린터</a:t>
            </a:r>
            <a:r>
              <a:rPr lang="en-US" altLang="ko-KR" b="1"/>
              <a:t>, </a:t>
            </a:r>
            <a:r>
              <a:rPr lang="ko-KR" altLang="en-US" b="1"/>
              <a:t>비디오 터미널</a:t>
            </a:r>
            <a:r>
              <a:rPr lang="en-US" altLang="ko-KR" b="1"/>
              <a:t>, CRT </a:t>
            </a:r>
            <a:r>
              <a:rPr lang="ko-KR" altLang="en-US" b="1"/>
              <a:t>등</a:t>
            </a:r>
            <a:r>
              <a:rPr lang="en-US" altLang="ko-KR" b="1"/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Words>1659</Words>
  <Application>Microsoft Office PowerPoint</Application>
  <PresentationFormat>화면 슬라이드 쇼(4:3)</PresentationFormat>
  <Paragraphs>280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HY중고딕</vt:lpstr>
      <vt:lpstr>견고딕</vt:lpstr>
      <vt:lpstr>굴림</vt:lpstr>
      <vt:lpstr>바탕</vt:lpstr>
      <vt:lpstr>Arial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 Dong Hyun</dc:creator>
  <cp:lastModifiedBy>KimDong Hyun</cp:lastModifiedBy>
  <cp:revision>25</cp:revision>
  <dcterms:created xsi:type="dcterms:W3CDTF">2009-03-02T07:39:04Z</dcterms:created>
  <dcterms:modified xsi:type="dcterms:W3CDTF">2025-11-10T10:09:57Z</dcterms:modified>
</cp:coreProperties>
</file>