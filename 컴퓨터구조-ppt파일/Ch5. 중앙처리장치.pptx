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6C8B99-684B-4B28-90E8-B94A96B27D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 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1D18843-7D71-430A-A088-C23667AFB63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0BC486A-8409-49D6-9008-D3E8749FA94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FA52E7C-17CB-4D09-998E-79E9816889C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3F81F80-7046-4E8D-965F-4887159299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 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EBE4172-6A52-4C92-AF53-2564B4315D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 smtClean="0"/>
            </a:lvl1pPr>
          </a:lstStyle>
          <a:p>
            <a:pPr>
              <a:defRPr/>
            </a:pPr>
            <a:fld id="{3F2A7B5A-1FF9-46F5-AC9A-C8B1B8A8BF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13676FBD-B20F-41B1-96AB-FEB3554D8A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F56BE992-1202-4E33-B444-72535BAD75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876E501-5111-4FDC-B2DA-B198EB1547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i="0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5F18E78E-A12F-42EA-A4EA-B3F5A5479C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94075" y="3677022"/>
            <a:ext cx="2428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 i="0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 5  </a:t>
            </a:r>
            <a:r>
              <a:rPr lang="ko-KR" altLang="en-US" sz="2000" b="1" i="0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중앙처리장치</a:t>
            </a:r>
            <a:endParaRPr lang="en-US" altLang="ko-KR" sz="2000" b="1" i="0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153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E6B53A-17E4-401A-9628-B8936863AF5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F2A2745-E503-404C-A0E1-1CCB653B6D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70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EAA86E-20B4-44AC-811A-94D5C4A00B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782DDB7-8460-4778-BEA3-1C0929F7BE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117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183DCF-B521-4B09-B731-FA18F432A0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E5CD035-0E8F-4872-948B-74D6D2D0E7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40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C8E7EF-5DBB-4595-B84A-130698D4AC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24473A0-0802-44FF-8612-4DADBC13F8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3219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52CD38C-ABC3-4A46-A456-25B391AC2D2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D9B4BA3E-5620-4DEA-96C0-FBEC5C51E8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938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2AABC7A-42EE-481E-8249-75AFEBC6A8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93E71AB4-6F7A-479B-BA11-A693B9A851C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499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6FC177-2C7C-4348-AC88-97C7272335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6BFF1BBC-02CA-497B-BFBE-AC363F4901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959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E2827C-19A5-4F08-804B-355F798C3F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8DF5AB2-A9A9-407E-96F6-E49C621BC6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7950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B95BF6B-9432-4B68-A1BE-15D73C3E12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9ED86E65-7EF9-4236-A55A-80AB203CB5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391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9B6E3F-EF6B-4AA5-A6BF-7D70BFA3ED2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6AB23FA-82D5-441E-8C0B-4F286FB77B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027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CC5C64BD-7A8E-419C-A57D-A0892EE3DD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i="0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C942606-67F4-43D4-88F7-2689696DF5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6E280E3F-CAFF-46D6-9917-1381EE6460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D48005CD-FABD-49BF-ABE3-716949C57B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8FB6B0BA-F607-463F-876E-EA44E9CA4CB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2AC60576-6DBA-4DB8-BB05-CCD62EC5E8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13CDAC59-CCB4-4D57-8679-01E06F1B3E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3189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 i="0"/>
              <a:t>제 </a:t>
            </a:r>
            <a:r>
              <a:rPr lang="en-US" altLang="ko-KR" sz="2000" b="1" i="0"/>
              <a:t>5</a:t>
            </a:r>
            <a:r>
              <a:rPr lang="ko-KR" altLang="en-US" sz="2000" b="1" i="0"/>
              <a:t>절 중앙처리장치</a:t>
            </a:r>
            <a:r>
              <a:rPr lang="en-US" altLang="ko-KR" sz="2000" b="1" i="0"/>
              <a:t>(CPU)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8542AF00-D4D6-4996-8647-A09A6C24F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46388BD-9DFD-4936-9AF4-C45A6A85E63D}" type="slidenum"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 i="0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10">
            <a:extLst>
              <a:ext uri="{FF2B5EF4-FFF2-40B4-BE49-F238E27FC236}">
                <a16:creationId xmlns:a16="http://schemas.microsoft.com/office/drawing/2014/main" id="{24ED49D3-683B-4994-955D-25428881B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21732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 i="0"/>
              <a:t>1. </a:t>
            </a:r>
            <a:r>
              <a:rPr lang="ko-KR" altLang="en-US" sz="2200" b="1" i="0"/>
              <a:t>중앙처리장치</a:t>
            </a:r>
          </a:p>
        </p:txBody>
      </p:sp>
      <p:sp>
        <p:nvSpPr>
          <p:cNvPr id="4100" name="Text Box 11">
            <a:extLst>
              <a:ext uri="{FF2B5EF4-FFF2-40B4-BE49-F238E27FC236}">
                <a16:creationId xmlns:a16="http://schemas.microsoft.com/office/drawing/2014/main" id="{89310F33-7B3F-477C-A51B-74DF04F4C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9988"/>
            <a:ext cx="8242300" cy="280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en-US" altLang="ko-KR" sz="2000" b="1" i="0"/>
              <a:t> </a:t>
            </a:r>
            <a:r>
              <a:rPr lang="ko-KR" altLang="en-US" sz="2000" b="1" i="0"/>
              <a:t>중앙처리장치 </a:t>
            </a:r>
            <a:r>
              <a:rPr lang="en-US" altLang="ko-KR" sz="2000" b="1" i="0"/>
              <a:t>(CPU, Central Processing Unit)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 </a:t>
            </a:r>
            <a:r>
              <a:rPr lang="ko-KR" altLang="en-US" b="1" i="0"/>
              <a:t>컴퓨터 시스템에 부착된 모든 장치의 동작을 제어하고 명령을 실행하는 장치</a:t>
            </a:r>
          </a:p>
          <a:p>
            <a:pPr eaLnBrk="1" hangingPunct="1">
              <a:lnSpc>
                <a:spcPct val="120000"/>
              </a:lnSpc>
            </a:pPr>
            <a:endParaRPr lang="ko-KR" altLang="en-US" b="1" i="0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 i="0"/>
              <a:t>(2) </a:t>
            </a:r>
            <a:r>
              <a:rPr lang="ko-KR" altLang="en-US" sz="2000" b="1" i="0"/>
              <a:t>중앙처리장치의 구성 및 기능</a:t>
            </a:r>
            <a:r>
              <a:rPr lang="ko-KR" altLang="en-US" b="1" i="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1) </a:t>
            </a:r>
            <a:r>
              <a:rPr lang="ko-KR" altLang="en-US" b="1" i="0"/>
              <a:t>제어장치 </a:t>
            </a:r>
            <a:r>
              <a:rPr lang="en-US" altLang="ko-KR" b="1" i="0"/>
              <a:t>: </a:t>
            </a:r>
            <a:r>
              <a:rPr lang="ko-KR" altLang="en-US" b="1" i="0"/>
              <a:t>제어 기능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2) </a:t>
            </a:r>
            <a:r>
              <a:rPr lang="ko-KR" altLang="en-US" b="1" i="0"/>
              <a:t>연산장치 </a:t>
            </a:r>
            <a:r>
              <a:rPr lang="en-US" altLang="ko-KR" b="1" i="0"/>
              <a:t>: </a:t>
            </a:r>
            <a:r>
              <a:rPr lang="ko-KR" altLang="en-US" b="1" i="0"/>
              <a:t>연산 기능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3) </a:t>
            </a:r>
            <a:r>
              <a:rPr lang="ko-KR" altLang="en-US" b="1" i="0"/>
              <a:t>레지스터 </a:t>
            </a:r>
            <a:r>
              <a:rPr lang="en-US" altLang="ko-KR" b="1" i="0"/>
              <a:t>: </a:t>
            </a:r>
            <a:r>
              <a:rPr lang="ko-KR" altLang="en-US" b="1" i="0"/>
              <a:t>기억 기능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4) </a:t>
            </a:r>
            <a:r>
              <a:rPr lang="ko-KR" altLang="en-US" b="1" i="0"/>
              <a:t>버스 </a:t>
            </a:r>
            <a:r>
              <a:rPr lang="en-US" altLang="ko-KR" b="1" i="0"/>
              <a:t>: </a:t>
            </a:r>
            <a:r>
              <a:rPr lang="ko-KR" altLang="en-US" b="1" i="0"/>
              <a:t>전달</a:t>
            </a:r>
            <a:r>
              <a:rPr lang="en-US" altLang="ko-KR" b="1" i="0"/>
              <a:t>(</a:t>
            </a:r>
            <a:r>
              <a:rPr lang="ko-KR" altLang="en-US" b="1" i="0"/>
              <a:t>전송</a:t>
            </a:r>
            <a:r>
              <a:rPr lang="en-US" altLang="ko-KR" b="1" i="0"/>
              <a:t>) </a:t>
            </a:r>
            <a:r>
              <a:rPr lang="ko-KR" altLang="en-US" b="1" i="0"/>
              <a:t>기능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645DA985-25D4-4D21-A2C5-56C6D8306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DD6C9D6-D18B-483E-A7FC-3A7BC3A1A1D7}" type="slidenum"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 i="0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E5A9A1A0-E99F-4631-B228-62D5622FE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81075"/>
            <a:ext cx="8569325" cy="472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 i="0"/>
              <a:t>(3) </a:t>
            </a:r>
            <a:r>
              <a:rPr lang="ko-KR" altLang="en-US" sz="2000" b="1" i="0"/>
              <a:t>제어 장치 </a:t>
            </a:r>
            <a:r>
              <a:rPr lang="en-US" altLang="ko-KR" sz="2000" b="1" i="0"/>
              <a:t>(Control Unit)</a:t>
            </a:r>
          </a:p>
          <a:p>
            <a:pPr eaLnBrk="1" hangingPunct="1">
              <a:lnSpc>
                <a:spcPct val="120000"/>
              </a:lnSpc>
            </a:pPr>
            <a:endParaRPr lang="en-US" altLang="ko-KR" sz="2000" b="1" i="0"/>
          </a:p>
          <a:p>
            <a:pPr eaLnBrk="1" hangingPunct="1"/>
            <a:r>
              <a:rPr lang="en-US" altLang="ko-KR" b="1" i="0"/>
              <a:t>     1) </a:t>
            </a:r>
            <a:r>
              <a:rPr lang="ko-KR" altLang="en-US" b="1" i="0"/>
              <a:t>주기억장치에 기억된 명령을 꺼내서 해독하고 시스템 전체에 지시 신호를 </a:t>
            </a:r>
          </a:p>
          <a:p>
            <a:pPr eaLnBrk="1" hangingPunct="1"/>
            <a:r>
              <a:rPr lang="ko-KR" altLang="en-US" b="1" i="0"/>
              <a:t>         내는 장치</a:t>
            </a:r>
          </a:p>
          <a:p>
            <a:pPr eaLnBrk="1" hangingPunct="1"/>
            <a:endParaRPr lang="ko-KR" altLang="en-US" b="1" i="0"/>
          </a:p>
          <a:p>
            <a:pPr eaLnBrk="1" hangingPunct="1"/>
            <a:r>
              <a:rPr lang="ko-KR" altLang="en-US" b="1" i="0"/>
              <a:t>     </a:t>
            </a:r>
            <a:r>
              <a:rPr lang="en-US" altLang="ko-KR" b="1" i="0"/>
              <a:t>2) </a:t>
            </a:r>
            <a:r>
              <a:rPr lang="ko-KR" altLang="en-US" b="1" i="0"/>
              <a:t>명령 코드가 명령을 수행할 수 있게 필요한 제어 기능을 제공 </a:t>
            </a:r>
          </a:p>
          <a:p>
            <a:pPr eaLnBrk="1" hangingPunct="1"/>
            <a:endParaRPr lang="ko-KR" altLang="en-US" b="1" i="0"/>
          </a:p>
          <a:p>
            <a:pPr eaLnBrk="1" hangingPunct="1"/>
            <a:r>
              <a:rPr lang="ko-KR" altLang="en-US" b="1" i="0"/>
              <a:t>     </a:t>
            </a:r>
            <a:r>
              <a:rPr lang="en-US" altLang="ko-KR" b="1" i="0"/>
              <a:t>3) </a:t>
            </a:r>
            <a:r>
              <a:rPr lang="ko-KR" altLang="en-US" b="1" i="0"/>
              <a:t>제어장치의 구성 </a:t>
            </a:r>
          </a:p>
          <a:p>
            <a:pPr eaLnBrk="1" hangingPunct="1"/>
            <a:r>
              <a:rPr lang="ko-KR" altLang="en-US" b="1" i="0"/>
              <a:t>         ① 프로그램 카운터</a:t>
            </a:r>
            <a:r>
              <a:rPr lang="en-US" altLang="ko-KR" b="1" i="0"/>
              <a:t>(PC, Program Counter) </a:t>
            </a:r>
          </a:p>
          <a:p>
            <a:pPr eaLnBrk="1" hangingPunct="1"/>
            <a:r>
              <a:rPr lang="en-US" altLang="ko-KR" b="1" i="0"/>
              <a:t>         ② </a:t>
            </a:r>
            <a:r>
              <a:rPr lang="ko-KR" altLang="en-US" b="1" i="0"/>
              <a:t>명령어 레지스터</a:t>
            </a:r>
            <a:r>
              <a:rPr lang="en-US" altLang="ko-KR" b="1" i="0"/>
              <a:t>(IR, Instruction Register)</a:t>
            </a:r>
          </a:p>
          <a:p>
            <a:pPr eaLnBrk="1" hangingPunct="1"/>
            <a:r>
              <a:rPr lang="en-US" altLang="ko-KR" b="1" i="0"/>
              <a:t>         ③ </a:t>
            </a:r>
            <a:r>
              <a:rPr lang="ko-KR" altLang="en-US" b="1" i="0"/>
              <a:t>부호기</a:t>
            </a:r>
            <a:r>
              <a:rPr lang="en-US" altLang="ko-KR" b="1" i="0"/>
              <a:t>(Encoder)</a:t>
            </a:r>
          </a:p>
          <a:p>
            <a:pPr eaLnBrk="1" hangingPunct="1"/>
            <a:r>
              <a:rPr lang="en-US" altLang="ko-KR" b="1" i="0"/>
              <a:t>             </a:t>
            </a:r>
            <a:r>
              <a:rPr lang="ko-KR" altLang="en-US" b="1" i="0"/>
              <a:t>해독된 명령에 따라 각 장치로 보낼 제어 신호를 생성하는 장치</a:t>
            </a:r>
          </a:p>
          <a:p>
            <a:pPr eaLnBrk="1" hangingPunct="1"/>
            <a:r>
              <a:rPr lang="ko-KR" altLang="en-US" b="1" i="0"/>
              <a:t>         ④ 명령 해독기</a:t>
            </a:r>
            <a:r>
              <a:rPr lang="en-US" altLang="ko-KR" b="1" i="0"/>
              <a:t>(Instruction Decoder)</a:t>
            </a:r>
          </a:p>
          <a:p>
            <a:pPr eaLnBrk="1" hangingPunct="1"/>
            <a:r>
              <a:rPr lang="en-US" altLang="ko-KR" b="1" i="0"/>
              <a:t>             </a:t>
            </a:r>
            <a:r>
              <a:rPr lang="ko-KR" altLang="en-US" b="1" i="0"/>
              <a:t>명령레지스터에 호출된 </a:t>
            </a:r>
            <a:r>
              <a:rPr lang="en-US" altLang="ko-KR" b="1" i="0"/>
              <a:t>OP Code </a:t>
            </a:r>
            <a:r>
              <a:rPr lang="ko-KR" altLang="en-US" b="1" i="0"/>
              <a:t>를 해독하여 그 명령을 수행시키는데</a:t>
            </a:r>
          </a:p>
          <a:p>
            <a:pPr eaLnBrk="1" hangingPunct="1"/>
            <a:r>
              <a:rPr lang="ko-KR" altLang="en-US" b="1" i="0"/>
              <a:t>             필요한 각종 제어신호를 만들어 내는 장치</a:t>
            </a:r>
          </a:p>
          <a:p>
            <a:pPr eaLnBrk="1" hangingPunct="1">
              <a:lnSpc>
                <a:spcPct val="120000"/>
              </a:lnSpc>
            </a:pPr>
            <a:endParaRPr lang="en-US" altLang="ko-KR" b="1" i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A7D576C3-82DC-4FF6-B901-570ABA858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A5E320F-67F2-4F30-AB28-3C9AE32CA5CA}" type="slidenum"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 i="0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C5C14499-10C2-4B57-A606-C4212E39F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8569325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 i="0"/>
              <a:t>(4) </a:t>
            </a:r>
            <a:r>
              <a:rPr lang="ko-KR" altLang="en-US" sz="2000" b="1" i="0"/>
              <a:t>연산 장치 </a:t>
            </a:r>
            <a:r>
              <a:rPr lang="en-US" altLang="ko-KR" sz="2000" b="1" i="0"/>
              <a:t>(ALU, Arithmetic and Logic Unit)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1) </a:t>
            </a:r>
            <a:r>
              <a:rPr lang="ko-KR" altLang="en-US" b="1" i="0"/>
              <a:t>제어장치의 명령에 따라 실제로 연산을 수행하는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2) </a:t>
            </a:r>
            <a:r>
              <a:rPr lang="ko-KR" altLang="en-US" b="1" i="0"/>
              <a:t>산술연산</a:t>
            </a:r>
            <a:r>
              <a:rPr lang="en-US" altLang="ko-KR" b="1" i="0"/>
              <a:t>, </a:t>
            </a:r>
            <a:r>
              <a:rPr lang="ko-KR" altLang="en-US" b="1" i="0"/>
              <a:t>논리연산</a:t>
            </a:r>
            <a:r>
              <a:rPr lang="en-US" altLang="ko-KR" b="1" i="0"/>
              <a:t>, </a:t>
            </a:r>
            <a:r>
              <a:rPr lang="ko-KR" altLang="en-US" b="1" i="0"/>
              <a:t>관계연산</a:t>
            </a:r>
            <a:r>
              <a:rPr lang="en-US" altLang="ko-KR" b="1" i="0"/>
              <a:t>, </a:t>
            </a:r>
            <a:r>
              <a:rPr lang="ko-KR" altLang="en-US" b="1" i="0"/>
              <a:t>이동</a:t>
            </a:r>
            <a:r>
              <a:rPr lang="en-US" altLang="ko-KR" b="1" i="0"/>
              <a:t>(Shift)</a:t>
            </a:r>
            <a:r>
              <a:rPr lang="ko-KR" altLang="en-US" b="1" i="0"/>
              <a:t>등을 수행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3) </a:t>
            </a:r>
            <a:r>
              <a:rPr lang="ko-KR" altLang="en-US" b="1" i="0"/>
              <a:t>가산기</a:t>
            </a:r>
            <a:r>
              <a:rPr lang="en-US" altLang="ko-KR" b="1" i="0"/>
              <a:t>(Adder), </a:t>
            </a:r>
            <a:r>
              <a:rPr lang="ko-KR" altLang="en-US" b="1" i="0"/>
              <a:t>누산기</a:t>
            </a:r>
            <a:r>
              <a:rPr lang="en-US" altLang="ko-KR" b="1" i="0"/>
              <a:t>(AC, Accumulator), </a:t>
            </a:r>
            <a:r>
              <a:rPr lang="ko-KR" altLang="en-US" b="1" i="0"/>
              <a:t>보수기</a:t>
            </a:r>
            <a:r>
              <a:rPr lang="en-US" altLang="ko-KR" b="1" i="0"/>
              <a:t>(Complementor),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    </a:t>
            </a:r>
            <a:r>
              <a:rPr lang="ko-KR" altLang="en-US" b="1" i="0"/>
              <a:t>데이터 레지스터</a:t>
            </a:r>
            <a:r>
              <a:rPr lang="en-US" altLang="ko-KR" b="1" i="0"/>
              <a:t>, </a:t>
            </a:r>
            <a:r>
              <a:rPr lang="ko-KR" altLang="en-US" b="1" i="0"/>
              <a:t>오버플로우 검출기</a:t>
            </a:r>
            <a:r>
              <a:rPr lang="en-US" altLang="ko-KR" b="1" i="0"/>
              <a:t>, </a:t>
            </a:r>
            <a:r>
              <a:rPr lang="ko-KR" altLang="en-US" b="1" i="0"/>
              <a:t>시프트 레지스터</a:t>
            </a:r>
            <a:r>
              <a:rPr lang="en-US" altLang="ko-KR" b="1" i="0"/>
              <a:t>(Shift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    </a:t>
            </a:r>
            <a:r>
              <a:rPr lang="ko-KR" altLang="en-US" b="1" i="0"/>
              <a:t>등으로 구성</a:t>
            </a:r>
          </a:p>
          <a:p>
            <a:pPr eaLnBrk="1" hangingPunct="1">
              <a:lnSpc>
                <a:spcPct val="120000"/>
              </a:lnSpc>
            </a:pPr>
            <a:endParaRPr lang="ko-KR" altLang="en-US" b="1" i="0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 i="0"/>
              <a:t>(5) </a:t>
            </a:r>
            <a:r>
              <a:rPr lang="ko-KR" altLang="en-US" sz="2000" b="1" i="0"/>
              <a:t>레지스터</a:t>
            </a:r>
            <a:r>
              <a:rPr lang="en-US" altLang="ko-KR" sz="2000" b="1" i="0"/>
              <a:t>(Register)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1) </a:t>
            </a:r>
            <a:r>
              <a:rPr lang="ko-KR" altLang="en-US" b="1" i="0"/>
              <a:t>중앙처리장치 내부에서 처리할 명령어나 연산의 중간 결과값 등을 일시적으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    로 기억하는 임시 기억 장소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2) </a:t>
            </a:r>
            <a:r>
              <a:rPr lang="ko-KR" altLang="en-US" b="1" i="0"/>
              <a:t>레지스터의 종류 및 기능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    ① 프로그램 카운터 </a:t>
            </a:r>
            <a:r>
              <a:rPr lang="en-US" altLang="ko-KR" b="1" i="0"/>
              <a:t>(PC, Program Counter)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        - </a:t>
            </a:r>
            <a:r>
              <a:rPr lang="ko-KR" altLang="en-US" b="1" i="0"/>
              <a:t>다음 명령 </a:t>
            </a:r>
            <a:r>
              <a:rPr lang="en-US" altLang="ko-KR" b="1" i="0"/>
              <a:t>(Next Instruction)</a:t>
            </a:r>
            <a:r>
              <a:rPr lang="ko-KR" altLang="en-US" b="1" i="0"/>
              <a:t>의 번지를 지시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           </a:t>
            </a:r>
            <a:r>
              <a:rPr lang="en-US" altLang="ko-KR" b="1" i="0"/>
              <a:t>(</a:t>
            </a:r>
            <a:r>
              <a:rPr lang="ko-KR" altLang="en-US" b="1" i="0"/>
              <a:t>다음에 실행할 명령의 번지를 가짐</a:t>
            </a:r>
            <a:r>
              <a:rPr lang="en-US" altLang="ko-KR" b="1" i="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        - </a:t>
            </a:r>
            <a:r>
              <a:rPr lang="ko-KR" altLang="en-US" b="1" i="0"/>
              <a:t>프로그램 실행 도중 분기가 발생하면 </a:t>
            </a:r>
            <a:r>
              <a:rPr lang="en-US" altLang="ko-KR" b="1" i="0"/>
              <a:t>CPU </a:t>
            </a:r>
            <a:r>
              <a:rPr lang="ko-KR" altLang="en-US" b="1" i="0"/>
              <a:t>내의 </a:t>
            </a:r>
            <a:r>
              <a:rPr lang="en-US" altLang="ko-KR" b="1" i="0"/>
              <a:t>PC</a:t>
            </a:r>
            <a:r>
              <a:rPr lang="ko-KR" altLang="en-US" b="1" i="0"/>
              <a:t>의 내용을 먼저 변화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           시켜야 함 </a:t>
            </a:r>
            <a:r>
              <a:rPr lang="en-US" altLang="ko-KR" b="1" i="0"/>
              <a:t>(</a:t>
            </a:r>
            <a:r>
              <a:rPr lang="ko-KR" altLang="en-US" b="1" i="0"/>
              <a:t>분기명령어가 실행되는 경우에는 그 목적지 주소로 갱신됨</a:t>
            </a:r>
            <a:r>
              <a:rPr lang="en-US" altLang="ko-KR" b="1" i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4CC9957A-CA2E-401C-9F6C-DCCA7849E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F5E3F49-E10C-4E02-B2D5-97759F8B789B}" type="slidenum"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 i="0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98E0C082-F9A3-4D8D-A519-AAC6A31A1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713"/>
            <a:ext cx="8569325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 i="0"/>
              <a:t>② </a:t>
            </a:r>
            <a:r>
              <a:rPr lang="ko-KR" altLang="en-US" b="1" i="0"/>
              <a:t>명령 레지스터 </a:t>
            </a:r>
            <a:r>
              <a:rPr lang="en-US" altLang="ko-KR" b="1" i="0"/>
              <a:t>(IR, Instruction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</a:t>
            </a:r>
            <a:r>
              <a:rPr lang="ko-KR" altLang="en-US" b="1" i="0"/>
              <a:t>현재 실행중인 명령의 내용을 기억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</a:t>
            </a:r>
            <a:r>
              <a:rPr lang="en-US" altLang="ko-KR" b="1" i="0"/>
              <a:t>- OP Code </a:t>
            </a:r>
            <a:r>
              <a:rPr lang="ko-KR" altLang="en-US" b="1" i="0"/>
              <a:t>명령호출이 </a:t>
            </a:r>
            <a:r>
              <a:rPr lang="en-US" altLang="ko-KR" b="1" i="0"/>
              <a:t>IR</a:t>
            </a:r>
            <a:r>
              <a:rPr lang="ko-KR" altLang="en-US" b="1" i="0"/>
              <a:t>로 이동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③ 누산기 </a:t>
            </a:r>
            <a:r>
              <a:rPr lang="en-US" altLang="ko-KR" b="1" i="0"/>
              <a:t>(AC, Accumulator)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</a:t>
            </a:r>
            <a:r>
              <a:rPr lang="ko-KR" altLang="en-US" b="1" i="0"/>
              <a:t>연산장치에 있는 레지스터</a:t>
            </a:r>
            <a:r>
              <a:rPr lang="en-US" altLang="ko-KR" b="1" i="0"/>
              <a:t>(Register)</a:t>
            </a:r>
            <a:r>
              <a:rPr lang="ko-KR" altLang="en-US" b="1" i="0"/>
              <a:t>의 하나로 연산 결과를 일시적으로 기억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  하는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</a:t>
            </a:r>
            <a:r>
              <a:rPr lang="en-US" altLang="ko-KR" b="1" i="0"/>
              <a:t>- </a:t>
            </a:r>
            <a:r>
              <a:rPr lang="ko-KR" altLang="en-US" b="1" i="0"/>
              <a:t>주소 부분이 하나밖에 없는 </a:t>
            </a:r>
            <a:r>
              <a:rPr lang="en-US" altLang="ko-KR" b="1" i="0"/>
              <a:t>1-</a:t>
            </a:r>
            <a:r>
              <a:rPr lang="ko-KR" altLang="en-US" b="1" i="0"/>
              <a:t>주소 명령 형식에서 결과 자료를 넣어 두는데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  사용하는 레지스터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④ 상태 레지스터 </a:t>
            </a:r>
            <a:r>
              <a:rPr lang="en-US" altLang="ko-KR" b="1" i="0"/>
              <a:t>(Status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</a:t>
            </a:r>
            <a:r>
              <a:rPr lang="ko-KR" altLang="en-US" b="1" i="0"/>
              <a:t>컴퓨터의 내부 상태를 나타냄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⑤ </a:t>
            </a:r>
            <a:r>
              <a:rPr lang="en-US" altLang="ko-KR" b="1" i="0"/>
              <a:t>PSWR (Program Status Word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PSW</a:t>
            </a:r>
            <a:r>
              <a:rPr lang="ko-KR" altLang="en-US" b="1" i="0"/>
              <a:t>를 저장하고 있는 레지스터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※ PSW : </a:t>
            </a:r>
            <a:r>
              <a:rPr lang="ko-KR" altLang="en-US" b="1" i="0"/>
              <a:t>시스템 내부의 순간순간의 상태를 기록하고 있는 정보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⑥ 플래그 레지스터 </a:t>
            </a:r>
            <a:r>
              <a:rPr lang="en-US" altLang="ko-KR" b="1" i="0"/>
              <a:t>(Flag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CPU </a:t>
            </a:r>
            <a:r>
              <a:rPr lang="ko-KR" altLang="en-US" b="1" i="0"/>
              <a:t>내부에서 방금 행한 연산의 결과로 나타나는 상태 </a:t>
            </a:r>
            <a:r>
              <a:rPr lang="en-US" altLang="ko-KR" b="1" i="0"/>
              <a:t>(</a:t>
            </a:r>
            <a:r>
              <a:rPr lang="ko-KR" altLang="en-US" b="1" i="0"/>
              <a:t>결과가 </a:t>
            </a:r>
            <a:r>
              <a:rPr lang="en-US" altLang="ko-KR" b="1" i="0"/>
              <a:t>0</a:t>
            </a:r>
            <a:r>
              <a:rPr lang="ko-KR" altLang="en-US" b="1" i="0"/>
              <a:t>인지 여부</a:t>
            </a:r>
            <a:r>
              <a:rPr lang="en-US" altLang="ko-KR" b="1" i="0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   </a:t>
            </a:r>
            <a:r>
              <a:rPr lang="ko-KR" altLang="en-US" b="1" i="0"/>
              <a:t>부호</a:t>
            </a:r>
            <a:r>
              <a:rPr lang="en-US" altLang="ko-KR" b="1" i="0"/>
              <a:t>(</a:t>
            </a:r>
            <a:r>
              <a:rPr lang="ko-KR" altLang="en-US" b="1" i="0"/>
              <a:t>음수인지</a:t>
            </a:r>
            <a:r>
              <a:rPr lang="en-US" altLang="ko-KR" b="1" i="0"/>
              <a:t>, </a:t>
            </a:r>
            <a:r>
              <a:rPr lang="ko-KR" altLang="en-US" b="1" i="0"/>
              <a:t>양수인지</a:t>
            </a:r>
            <a:r>
              <a:rPr lang="en-US" altLang="ko-KR" b="1" i="0"/>
              <a:t>), </a:t>
            </a:r>
            <a:r>
              <a:rPr lang="ko-KR" altLang="en-US" b="1" i="0"/>
              <a:t>캐리 및 오버플로우 발생 여부 등의 상태</a:t>
            </a:r>
            <a:r>
              <a:rPr lang="en-US" altLang="ko-KR" b="1" i="0"/>
              <a:t>) </a:t>
            </a:r>
            <a:r>
              <a:rPr lang="ko-KR" altLang="en-US" b="1" i="0"/>
              <a:t>를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    나타내는 플립플롭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1BC03024-2D7F-4CEB-9248-F204BE511E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514B4F6-00A0-4D91-8120-56573B129ED2}" type="slidenum"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 i="0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E491D6D3-BBDA-4161-9081-24A16AC09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8569325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 i="0"/>
              <a:t>⑦ </a:t>
            </a:r>
            <a:r>
              <a:rPr lang="ko-KR" altLang="en-US" b="1" i="0"/>
              <a:t>메모리 주소 레지스터 </a:t>
            </a:r>
            <a:r>
              <a:rPr lang="en-US" altLang="ko-KR" b="1" i="0"/>
              <a:t>(MAR, Memory Address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</a:t>
            </a:r>
            <a:r>
              <a:rPr lang="ko-KR" altLang="en-US" b="1" i="0"/>
              <a:t>기억장치를 출입하는 데이터의 번지를 기억하는 레지스터</a:t>
            </a:r>
          </a:p>
          <a:p>
            <a:pPr eaLnBrk="1" hangingPunct="1">
              <a:lnSpc>
                <a:spcPct val="120000"/>
              </a:lnSpc>
            </a:pPr>
            <a:endParaRPr lang="ko-KR" altLang="en-US" b="1" i="0"/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⑧ 메모리 버퍼 레지스터 </a:t>
            </a:r>
            <a:r>
              <a:rPr lang="en-US" altLang="ko-KR" b="1" i="0"/>
              <a:t>(MBR, Memory Buffer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</a:t>
            </a:r>
            <a:r>
              <a:rPr lang="ko-KR" altLang="en-US" b="1" i="0"/>
              <a:t>기억장치를 출입하는 데이터가 잠시 기억되는 레지스터</a:t>
            </a:r>
          </a:p>
          <a:p>
            <a:pPr eaLnBrk="1" hangingPunct="1">
              <a:lnSpc>
                <a:spcPct val="120000"/>
              </a:lnSpc>
            </a:pPr>
            <a:endParaRPr lang="ko-KR" altLang="en-US" b="1" i="0"/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⑨ 인덱스 레지스터 </a:t>
            </a:r>
            <a:r>
              <a:rPr lang="en-US" altLang="ko-KR" b="1" i="0"/>
              <a:t>(Index Register)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</a:t>
            </a:r>
            <a:r>
              <a:rPr lang="ko-KR" altLang="en-US" b="1" i="0"/>
              <a:t>어드레스의 수정</a:t>
            </a:r>
            <a:r>
              <a:rPr lang="en-US" altLang="ko-KR" b="1" i="0"/>
              <a:t>, </a:t>
            </a:r>
            <a:r>
              <a:rPr lang="ko-KR" altLang="en-US" b="1" i="0"/>
              <a:t>서브루틴의 연결</a:t>
            </a:r>
            <a:r>
              <a:rPr lang="en-US" altLang="ko-KR" b="1" i="0"/>
              <a:t>, </a:t>
            </a:r>
            <a:r>
              <a:rPr lang="ko-KR" altLang="en-US" b="1" i="0"/>
              <a:t>반복 계산 수행 등의 역할을 하는 레지스터</a:t>
            </a:r>
          </a:p>
          <a:p>
            <a:pPr eaLnBrk="1" hangingPunct="1">
              <a:lnSpc>
                <a:spcPct val="120000"/>
              </a:lnSpc>
            </a:pPr>
            <a:endParaRPr lang="ko-KR" altLang="en-US" b="1" i="0"/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⑩ </a:t>
            </a:r>
            <a:r>
              <a:rPr lang="en-US" altLang="ko-KR" b="1" i="0"/>
              <a:t>Shift Register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</a:t>
            </a:r>
            <a:r>
              <a:rPr lang="ko-KR" altLang="en-US" b="1" i="0"/>
              <a:t>자료의 병렬 전송을 직렬 전송으로 변환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    </a:t>
            </a:r>
            <a:r>
              <a:rPr lang="en-US" altLang="ko-KR" b="1" i="0"/>
              <a:t>- 2</a:t>
            </a:r>
            <a:r>
              <a:rPr lang="ko-KR" altLang="en-US" b="1" i="0"/>
              <a:t>배 길이 레지스터 </a:t>
            </a:r>
            <a:r>
              <a:rPr lang="en-US" altLang="ko-KR" b="1" i="0"/>
              <a:t>(double-length register)</a:t>
            </a:r>
            <a:r>
              <a:rPr lang="ko-KR" altLang="en-US" b="1" i="0"/>
              <a:t>라고도 불림</a:t>
            </a:r>
          </a:p>
          <a:p>
            <a:pPr eaLnBrk="1" hangingPunct="1">
              <a:lnSpc>
                <a:spcPct val="120000"/>
              </a:lnSpc>
            </a:pPr>
            <a:endParaRPr lang="ko-KR" altLang="en-US" b="1" i="0"/>
          </a:p>
          <a:p>
            <a:pPr eaLnBrk="1" hangingPunct="1">
              <a:lnSpc>
                <a:spcPct val="120000"/>
              </a:lnSpc>
            </a:pPr>
            <a:r>
              <a:rPr lang="ko-KR" altLang="en-US" b="1" i="0"/>
              <a:t>⑪ </a:t>
            </a:r>
            <a:r>
              <a:rPr lang="en-US" altLang="ko-KR" b="1" i="0"/>
              <a:t>Major State Register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 i="0"/>
              <a:t>    - CPU</a:t>
            </a:r>
            <a:r>
              <a:rPr lang="ko-KR" altLang="en-US" b="1" i="0"/>
              <a:t>가 무엇을 하고 있는지 나타냄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F3960FEC-D32B-4D0B-AE59-2314C2D60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E70890E-BDDC-4DBE-A95B-F097182C312D}" type="slidenum">
              <a:rPr lang="en-US" altLang="ko-KR" i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 i="0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5ADF6E16-2480-4878-BC1E-A26092174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8569325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 i="0"/>
              <a:t>(6) </a:t>
            </a:r>
            <a:r>
              <a:rPr lang="ko-KR" altLang="en-US" sz="2000" b="1" i="0"/>
              <a:t>버스</a:t>
            </a:r>
            <a:r>
              <a:rPr lang="en-US" altLang="ko-KR" sz="2000" b="1" i="0"/>
              <a:t>(Bus)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 i="0"/>
              <a:t>     1) CPU, </a:t>
            </a:r>
            <a:r>
              <a:rPr lang="ko-KR" altLang="en-US" b="1" i="0"/>
              <a:t>메모리</a:t>
            </a:r>
            <a:r>
              <a:rPr lang="en-US" altLang="ko-KR" b="1" i="0"/>
              <a:t>, I/O </a:t>
            </a:r>
            <a:r>
              <a:rPr lang="ko-KR" altLang="en-US" b="1" i="0"/>
              <a:t>장치 등과 상호 필요한 정보를 교환하기 위해 연결하는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 i="0"/>
              <a:t>         공동의 전송선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 i="0"/>
              <a:t>     </a:t>
            </a:r>
            <a:r>
              <a:rPr lang="en-US" altLang="ko-KR" b="1" i="0"/>
              <a:t>2) </a:t>
            </a:r>
            <a:r>
              <a:rPr lang="ko-KR" altLang="en-US" b="1" i="0"/>
              <a:t>전송하는 정보에 따른 버스의 분류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 i="0"/>
              <a:t>         ① 제어버스</a:t>
            </a:r>
            <a:r>
              <a:rPr lang="en-US" altLang="ko-KR" b="1" i="0"/>
              <a:t>(Control Bus)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 i="0"/>
              <a:t>         ② </a:t>
            </a:r>
            <a:r>
              <a:rPr lang="ko-KR" altLang="en-US" b="1" i="0"/>
              <a:t>주소버스</a:t>
            </a:r>
            <a:r>
              <a:rPr lang="en-US" altLang="ko-KR" b="1" i="0"/>
              <a:t>(Address Bus)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 i="0"/>
              <a:t>         ③ </a:t>
            </a:r>
            <a:r>
              <a:rPr lang="ko-KR" altLang="en-US" b="1" i="0"/>
              <a:t>데이터버스</a:t>
            </a:r>
            <a:r>
              <a:rPr lang="en-US" altLang="ko-KR" b="1" i="0"/>
              <a:t>(Data Bus)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 i="0"/>
              <a:t>             - CPU </a:t>
            </a:r>
            <a:r>
              <a:rPr lang="ko-KR" altLang="en-US" b="1" i="0"/>
              <a:t>와 메모리 혹은  </a:t>
            </a:r>
            <a:r>
              <a:rPr lang="en-US" altLang="ko-KR" b="1" i="0"/>
              <a:t>I/O</a:t>
            </a:r>
            <a:r>
              <a:rPr lang="ko-KR" altLang="en-US" b="1" i="0"/>
              <a:t>장치 사이에서 데이터를 전송하는 양방향 버스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</TotalTime>
  <Words>654</Words>
  <Application>Microsoft Office PowerPoint</Application>
  <PresentationFormat>화면 슬라이드 쇼(4:3)</PresentationFormat>
  <Paragraphs>86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HY중고딕</vt:lpstr>
      <vt:lpstr>견고딕</vt:lpstr>
      <vt:lpstr>굴림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68</cp:revision>
  <dcterms:created xsi:type="dcterms:W3CDTF">2009-03-02T07:39:04Z</dcterms:created>
  <dcterms:modified xsi:type="dcterms:W3CDTF">2025-11-10T10:11:14Z</dcterms:modified>
</cp:coreProperties>
</file>