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75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E74BF75-F876-44C6-8DA6-64E2487D04C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D3E7177-B8DA-4C3A-86B5-B23D3A9BA4E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69336FE-EF78-428A-8A67-817A71D4FB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FC5EB23-34D3-4151-AE5D-7F2CFFAE210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6EC6FEE-AFEB-4D94-B6F1-8C82E81294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AF011583-80B4-42C4-861D-5317A607E6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732D3509-7772-46B4-BA93-A831A92F4D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E95BCFB2-8F43-4C63-ADA1-C2228033C3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CD3182A9-10A2-4A02-9247-3EA13011C5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B70C899-E7BE-4301-842A-40889A955C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26A5A803-1A67-4030-B5CB-9480969E720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71750" y="3749030"/>
            <a:ext cx="4141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 7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명령어</a:t>
            </a:r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주소지정방식</a:t>
            </a:r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연산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264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B41C2CE-1043-4BCB-9E7D-CCA29D7019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033AAB7-C62C-43A1-A0E3-E95933209E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306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84F4872-0709-45A0-8A48-E3403480FE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85D23C6-61DA-4AF7-AEEF-D3D43AAB97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4524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DE22E91-9F09-45D4-8DF3-EC4BF3B75A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C8E9A52-EFAA-42A1-9BB2-E931C16336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67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20C7C-5616-420F-8789-D01A77C310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E8A0703-A7B0-4060-862D-32C7B34469D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4110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ACF5E90-7F85-4D0B-879E-992E9EEF0C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0AEE4DB-7E1A-451F-92B8-6272A409B2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49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F42F008D-352B-4017-ACBC-7345E7AA54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30D2554-6EBA-4431-B789-F88F3941EC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56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A40B076-DB3A-4683-BD42-91F708D45B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A64F061-B663-4067-9AE4-85CB7604DB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129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BFE9FB0-46CC-439B-B4F3-3A5541527A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9A7B7689-4D8E-44CA-B186-2196597774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678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4CB67A-FBD2-4D3F-8F19-A6966086DD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80CC9B5-7D02-43DB-B724-376C0E4446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075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ECFEDF-6508-49FD-8194-914ED97980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BA517BE-285E-4672-8CC4-F5C54213E3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341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C828484A-A353-4658-AEF3-51DD1D3D97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EDE13EC4-17C2-4FAC-936F-1005E870D7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EBEF689E-9581-4FA1-8680-1998CF2F004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E3E737F9-36BF-4400-A575-728B9E8C1B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6987E1B7-3E68-42B6-8A2B-CF7B6D02A49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9B88C6BB-3786-47B6-A28B-3A99D5E2DA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2E20917B-1976-46D3-8D55-40D5975B51C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4065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7</a:t>
            </a:r>
            <a:r>
              <a:rPr lang="ko-KR" altLang="en-US" sz="2000" b="1"/>
              <a:t>절 명령어</a:t>
            </a:r>
            <a:r>
              <a:rPr lang="en-US" altLang="ko-KR" sz="2000" b="1"/>
              <a:t>, </a:t>
            </a:r>
            <a:r>
              <a:rPr lang="ko-KR" altLang="en-US" sz="2000" b="1"/>
              <a:t>주소지정방식</a:t>
            </a:r>
            <a:r>
              <a:rPr lang="en-US" altLang="ko-KR" sz="2000" b="1"/>
              <a:t>, </a:t>
            </a:r>
            <a:r>
              <a:rPr lang="ko-KR" altLang="en-US" sz="2000" b="1"/>
              <a:t>연산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5FE5AABA-A82E-42C2-AAA7-D477E58C6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D6C5AB7-570E-45A4-8AE2-3A9D73DB262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16222F97-8EA9-4B88-8A83-6D524FB5B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92150"/>
            <a:ext cx="13493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명령어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B1A3EAF7-54F4-4FED-879F-DD26449A4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96963"/>
            <a:ext cx="3598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명령어</a:t>
            </a:r>
            <a:r>
              <a:rPr lang="en-US" altLang="ko-KR" sz="2000" b="1"/>
              <a:t>(Instruction)</a:t>
            </a:r>
            <a:r>
              <a:rPr lang="ko-KR" altLang="en-US" sz="2000" b="1"/>
              <a:t>의 구성</a:t>
            </a:r>
            <a:endParaRPr lang="ko-KR" altLang="en-US" b="1"/>
          </a:p>
        </p:txBody>
      </p:sp>
      <p:graphicFrame>
        <p:nvGraphicFramePr>
          <p:cNvPr id="59427" name="Group 35">
            <a:extLst>
              <a:ext uri="{FF2B5EF4-FFF2-40B4-BE49-F238E27FC236}">
                <a16:creationId xmlns:a16="http://schemas.microsoft.com/office/drawing/2014/main" id="{654F427F-7436-491D-9702-B9CE12CFED38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1627188"/>
          <a:ext cx="6337300" cy="506412"/>
        </p:xfrm>
        <a:graphic>
          <a:graphicData uri="http://schemas.openxmlformats.org/drawingml/2006/table">
            <a:tbl>
              <a:tblPr/>
              <a:tblGrid>
                <a:gridCol w="338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연산자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(Operation Code)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</a:t>
                      </a:r>
                    </a:p>
                  </a:txBody>
                  <a:tcPr marL="90000" marR="90000" marT="46800" marB="4680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자료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(Operand)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09" name="Rectangle 34">
            <a:extLst>
              <a:ext uri="{FF2B5EF4-FFF2-40B4-BE49-F238E27FC236}">
                <a16:creationId xmlns:a16="http://schemas.microsoft.com/office/drawing/2014/main" id="{6C97D968-F20C-4730-A436-4579B2BBD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38" y="2205038"/>
            <a:ext cx="8288337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1) </a:t>
            </a:r>
            <a:r>
              <a:rPr lang="ko-KR" altLang="en-US" b="1"/>
              <a:t>연산자부 </a:t>
            </a:r>
            <a:r>
              <a:rPr lang="en-US" altLang="ko-KR" b="1"/>
              <a:t>(Op-Code, Operation Code )</a:t>
            </a:r>
          </a:p>
          <a:p>
            <a:pPr eaLnBrk="1" hangingPunct="1"/>
            <a:r>
              <a:rPr lang="en-US" altLang="ko-KR" b="1"/>
              <a:t>   ① </a:t>
            </a:r>
            <a:r>
              <a:rPr lang="ko-KR" altLang="en-US" b="1"/>
              <a:t>실행할 명령이 들어 있음</a:t>
            </a:r>
          </a:p>
          <a:p>
            <a:pPr eaLnBrk="1" hangingPunct="1"/>
            <a:r>
              <a:rPr lang="ko-KR" altLang="en-US" b="1"/>
              <a:t>   ② 명령어의 연산자 부분이 나타낼 수 있는 것 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명령어의 형식 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연산자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자료의 종류</a:t>
            </a:r>
          </a:p>
          <a:p>
            <a:pPr eaLnBrk="1" hangingPunct="1"/>
            <a:r>
              <a:rPr lang="ko-KR" altLang="en-US" b="1"/>
              <a:t>   ③ 연산자부의 비트수가 </a:t>
            </a:r>
            <a:r>
              <a:rPr lang="en-US" altLang="ko-KR" b="1"/>
              <a:t>n Bit → 2</a:t>
            </a:r>
            <a:r>
              <a:rPr lang="en-US" altLang="ko-KR" b="1" baseline="30000"/>
              <a:t>n</a:t>
            </a:r>
            <a:r>
              <a:rPr lang="ko-KR" altLang="en-US" b="1"/>
              <a:t>개의 명령어 </a:t>
            </a:r>
            <a:r>
              <a:rPr lang="en-US" altLang="ko-KR" b="1"/>
              <a:t>(</a:t>
            </a:r>
            <a:r>
              <a:rPr lang="ko-KR" altLang="en-US" b="1"/>
              <a:t>연산자</a:t>
            </a:r>
            <a:r>
              <a:rPr lang="en-US" altLang="ko-KR" b="1"/>
              <a:t>) </a:t>
            </a:r>
            <a:r>
              <a:rPr lang="ko-KR" altLang="en-US" b="1"/>
              <a:t>수행 가능</a:t>
            </a:r>
          </a:p>
          <a:p>
            <a:pPr eaLnBrk="1" hangingPunct="1"/>
            <a:r>
              <a:rPr lang="en-US" altLang="ko-KR" b="1"/>
              <a:t>2) </a:t>
            </a:r>
            <a:r>
              <a:rPr lang="ko-KR" altLang="en-US" b="1"/>
              <a:t>자료</a:t>
            </a:r>
            <a:r>
              <a:rPr lang="en-US" altLang="ko-KR" b="1"/>
              <a:t>(Operand)</a:t>
            </a:r>
            <a:r>
              <a:rPr lang="ko-KR" altLang="en-US" b="1"/>
              <a:t>부</a:t>
            </a:r>
          </a:p>
          <a:p>
            <a:pPr eaLnBrk="1" hangingPunct="1"/>
            <a:r>
              <a:rPr lang="ko-KR" altLang="en-US" b="1"/>
              <a:t>   ① 자료부 </a:t>
            </a:r>
            <a:r>
              <a:rPr lang="en-US" altLang="ko-KR" b="1"/>
              <a:t>= </a:t>
            </a:r>
            <a:r>
              <a:rPr lang="ko-KR" altLang="en-US" b="1"/>
              <a:t>어드레스 필드 </a:t>
            </a:r>
            <a:r>
              <a:rPr lang="en-US" altLang="ko-KR" b="1"/>
              <a:t>(Address Field) = </a:t>
            </a:r>
            <a:r>
              <a:rPr lang="ko-KR" altLang="en-US" b="1"/>
              <a:t>주소부 </a:t>
            </a:r>
          </a:p>
          <a:p>
            <a:pPr eaLnBrk="1" hangingPunct="1"/>
            <a:r>
              <a:rPr lang="ko-KR" altLang="en-US" b="1"/>
              <a:t>   ② 실제 데이터에 대한 정보를 표시하는 부분</a:t>
            </a:r>
          </a:p>
          <a:p>
            <a:pPr eaLnBrk="1" hangingPunct="1"/>
            <a:r>
              <a:rPr lang="ko-KR" altLang="en-US" b="1"/>
              <a:t>   ③ 어드레스 필드</a:t>
            </a:r>
            <a:r>
              <a:rPr lang="en-US" altLang="ko-KR" b="1"/>
              <a:t>(</a:t>
            </a:r>
            <a:r>
              <a:rPr lang="ko-KR" altLang="en-US" b="1"/>
              <a:t>주소부</a:t>
            </a:r>
            <a:r>
              <a:rPr lang="en-US" altLang="ko-KR" b="1"/>
              <a:t>) </a:t>
            </a:r>
            <a:r>
              <a:rPr lang="ko-KR" altLang="en-US" b="1"/>
              <a:t>의 크기 </a:t>
            </a:r>
            <a:r>
              <a:rPr lang="en-US" altLang="ko-KR" b="1"/>
              <a:t>= </a:t>
            </a:r>
            <a:r>
              <a:rPr lang="ko-KR" altLang="en-US" b="1"/>
              <a:t>최대 메모리 용량 </a:t>
            </a:r>
          </a:p>
          <a:p>
            <a:pPr eaLnBrk="1" hangingPunct="1"/>
            <a:r>
              <a:rPr lang="ko-KR" altLang="en-US" b="1"/>
              <a:t>       예</a:t>
            </a:r>
            <a:r>
              <a:rPr lang="en-US" altLang="ko-KR" b="1"/>
              <a:t>) </a:t>
            </a:r>
            <a:r>
              <a:rPr lang="ko-KR" altLang="en-US" b="1"/>
              <a:t>명령어가 오퍼레이션 코드</a:t>
            </a:r>
            <a:r>
              <a:rPr lang="en-US" altLang="ko-KR" b="1"/>
              <a:t>(OP-Code) 6</a:t>
            </a:r>
            <a:r>
              <a:rPr lang="ko-KR" altLang="en-US" b="1"/>
              <a:t>비트</a:t>
            </a:r>
            <a:r>
              <a:rPr lang="en-US" altLang="ko-KR" b="1"/>
              <a:t>, </a:t>
            </a:r>
            <a:r>
              <a:rPr lang="ko-KR" altLang="en-US" b="1"/>
              <a:t>어드레스 필드 </a:t>
            </a:r>
            <a:r>
              <a:rPr lang="en-US" altLang="ko-KR" b="1"/>
              <a:t>16</a:t>
            </a:r>
            <a:r>
              <a:rPr lang="ko-KR" altLang="en-US" b="1"/>
              <a:t>비트로</a:t>
            </a:r>
          </a:p>
          <a:p>
            <a:pPr eaLnBrk="1" hangingPunct="1"/>
            <a:r>
              <a:rPr lang="ko-KR" altLang="en-US" b="1"/>
              <a:t>            되어 있을 때</a:t>
            </a:r>
            <a:r>
              <a:rPr lang="en-US" altLang="ko-KR" b="1"/>
              <a:t>,  </a:t>
            </a:r>
            <a:r>
              <a:rPr lang="ko-KR" altLang="en-US" b="1"/>
              <a:t>이 명령어를 쓰는 컴퓨터의 최대 메모리 용량은 </a:t>
            </a:r>
            <a:r>
              <a:rPr lang="en-US" altLang="ko-KR" b="1"/>
              <a:t>?</a:t>
            </a:r>
          </a:p>
          <a:p>
            <a:pPr eaLnBrk="1" hangingPunct="1"/>
            <a:r>
              <a:rPr lang="en-US" altLang="ko-KR" b="1"/>
              <a:t>            64K Word (2</a:t>
            </a:r>
            <a:r>
              <a:rPr lang="en-US" altLang="ko-KR" b="1" baseline="30000"/>
              <a:t>16</a:t>
            </a:r>
            <a:r>
              <a:rPr lang="en-US" altLang="ko-KR" b="1"/>
              <a:t> = 65536 = 64K)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41808267-CACA-4006-AA75-10A19F34B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7158DF7-AFC0-45F3-9A7A-7CB6B9FBCDF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Rectangle 14">
            <a:extLst>
              <a:ext uri="{FF2B5EF4-FFF2-40B4-BE49-F238E27FC236}">
                <a16:creationId xmlns:a16="http://schemas.microsoft.com/office/drawing/2014/main" id="{BC1FC795-311F-4BBE-9E0B-A72EC41BC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36613"/>
            <a:ext cx="864235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(2) </a:t>
            </a:r>
            <a:r>
              <a:rPr lang="ko-KR" altLang="en-US" b="1"/>
              <a:t>연산자</a:t>
            </a:r>
            <a:r>
              <a:rPr lang="en-US" altLang="ko-KR" b="1"/>
              <a:t>(Op-Code, Operation Code)</a:t>
            </a:r>
            <a:r>
              <a:rPr lang="ko-KR" altLang="en-US" b="1"/>
              <a:t>의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함수 연산 기능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중앙처리장치에서 데이터를 처리하는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산술 논리 연산 명령 등 </a:t>
            </a:r>
            <a:r>
              <a:rPr lang="en-US" altLang="ko-KR" b="1"/>
              <a:t>(ADD, AND, CPA, CPC, CLC, ROR, ROL 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2) </a:t>
            </a:r>
            <a:r>
              <a:rPr lang="ko-KR" altLang="en-US" b="1"/>
              <a:t>자료 전달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① 중앙처리장치와 기억장치 사이에서 정보를 교환하는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② </a:t>
            </a:r>
            <a:r>
              <a:rPr lang="en-US" altLang="ko-KR" b="1"/>
              <a:t>Load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</a:t>
            </a:r>
            <a:r>
              <a:rPr lang="ko-KR" altLang="en-US" b="1"/>
              <a:t>기억장치</a:t>
            </a:r>
            <a:r>
              <a:rPr lang="en-US" altLang="ko-KR" b="1"/>
              <a:t>(</a:t>
            </a:r>
            <a:r>
              <a:rPr lang="ko-KR" altLang="en-US" b="1"/>
              <a:t>메모리</a:t>
            </a:r>
            <a:r>
              <a:rPr lang="en-US" altLang="ko-KR" b="1"/>
              <a:t>)</a:t>
            </a:r>
            <a:r>
              <a:rPr lang="ko-KR" altLang="en-US" b="1"/>
              <a:t>의 내용을 중앙처리장치</a:t>
            </a:r>
            <a:r>
              <a:rPr lang="en-US" altLang="ko-KR" b="1"/>
              <a:t>(</a:t>
            </a:r>
            <a:r>
              <a:rPr lang="ko-KR" altLang="en-US" b="1"/>
              <a:t>레지스터</a:t>
            </a:r>
            <a:r>
              <a:rPr lang="en-US" altLang="ko-KR" b="1"/>
              <a:t>) </a:t>
            </a:r>
            <a:r>
              <a:rPr lang="ko-KR" altLang="en-US" b="1"/>
              <a:t>에 전달하는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③ </a:t>
            </a:r>
            <a:r>
              <a:rPr lang="en-US" altLang="ko-KR" b="1"/>
              <a:t>Store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</a:t>
            </a:r>
            <a:r>
              <a:rPr lang="ko-KR" altLang="en-US" b="1"/>
              <a:t>중앙처리장치</a:t>
            </a:r>
            <a:r>
              <a:rPr lang="en-US" altLang="ko-KR" b="1"/>
              <a:t>(</a:t>
            </a:r>
            <a:r>
              <a:rPr lang="ko-KR" altLang="en-US" b="1"/>
              <a:t>레지스터</a:t>
            </a:r>
            <a:r>
              <a:rPr lang="en-US" altLang="ko-KR" b="1"/>
              <a:t>) </a:t>
            </a:r>
            <a:r>
              <a:rPr lang="ko-KR" altLang="en-US" b="1"/>
              <a:t>의 정보를 기억장치</a:t>
            </a:r>
            <a:r>
              <a:rPr lang="en-US" altLang="ko-KR" b="1"/>
              <a:t>(</a:t>
            </a:r>
            <a:r>
              <a:rPr lang="ko-KR" altLang="en-US" b="1"/>
              <a:t>메모리</a:t>
            </a:r>
            <a:r>
              <a:rPr lang="en-US" altLang="ko-KR" b="1"/>
              <a:t>)</a:t>
            </a:r>
            <a:r>
              <a:rPr lang="ko-KR" altLang="en-US" b="1"/>
              <a:t>에 기억시키는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④ </a:t>
            </a:r>
            <a:r>
              <a:rPr lang="en-US" altLang="ko-KR" b="1"/>
              <a:t>Move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</a:t>
            </a:r>
            <a:r>
              <a:rPr lang="ko-KR" altLang="en-US" b="1"/>
              <a:t>특정 레지스터의 내용을 다른 레지스터로 옮기는 명령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⑤ </a:t>
            </a:r>
            <a:r>
              <a:rPr lang="en-US" altLang="ko-KR" b="1"/>
              <a:t>Push, Pop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</a:t>
            </a:r>
            <a:r>
              <a:rPr lang="ko-KR" altLang="en-US" b="1"/>
              <a:t>스택에 자료를 저장</a:t>
            </a:r>
            <a:r>
              <a:rPr lang="en-US" altLang="ko-KR" b="1"/>
              <a:t>, </a:t>
            </a:r>
            <a:r>
              <a:rPr lang="ko-KR" altLang="en-US" b="1"/>
              <a:t>인출하는 명령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C5302175-D7D3-477C-A4BE-8F9A899758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E48B760-27E2-4635-BAD3-6A8C9F4B9C6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6EEF2FD-D598-4DE9-B3B3-3C66F8888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81075"/>
            <a:ext cx="8459787" cy="402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</a:t>
            </a:r>
            <a:r>
              <a:rPr lang="ko-KR" altLang="en-US" b="1"/>
              <a:t>입</a:t>
            </a:r>
            <a:r>
              <a:rPr lang="en-US" altLang="ko-KR" b="1"/>
              <a:t>․</a:t>
            </a:r>
            <a:r>
              <a:rPr lang="ko-KR" altLang="en-US" b="1"/>
              <a:t>출력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중앙처리장치와 입출력장치</a:t>
            </a:r>
            <a:r>
              <a:rPr lang="en-US" altLang="ko-KR" b="1"/>
              <a:t>, </a:t>
            </a:r>
            <a:r>
              <a:rPr lang="ko-KR" altLang="en-US" b="1"/>
              <a:t>또는 기억장치와 입출력장치 사이에서 자료를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전달하는 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</a:t>
            </a:r>
            <a:r>
              <a:rPr lang="en-US" altLang="ko-KR" b="1"/>
              <a:t>INP, OUT</a:t>
            </a:r>
          </a:p>
          <a:p>
            <a:pPr eaLnBrk="1" hangingPunct="1">
              <a:lnSpc>
                <a:spcPct val="130000"/>
              </a:lnSpc>
            </a:pPr>
            <a:endParaRPr lang="en-US" altLang="ko-KR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4) </a:t>
            </a:r>
            <a:r>
              <a:rPr lang="ko-KR" altLang="en-US" b="1"/>
              <a:t>제어기능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① 프로그램의 수행 흐름을 제어하는데 사용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무조건 분기 명령 </a:t>
            </a:r>
            <a:r>
              <a:rPr lang="en-US" altLang="ko-KR" b="1"/>
              <a:t>: GOTO, JMP(Jump)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③ </a:t>
            </a:r>
            <a:r>
              <a:rPr lang="ko-KR" altLang="en-US" b="1"/>
              <a:t>조건 분기 명령 </a:t>
            </a:r>
            <a:r>
              <a:rPr lang="en-US" altLang="ko-KR" b="1"/>
              <a:t>: IF, SPA, SNA, SZA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④ </a:t>
            </a:r>
            <a:r>
              <a:rPr lang="ko-KR" altLang="en-US" b="1"/>
              <a:t>부프로그램 호출 및 복귀 </a:t>
            </a:r>
            <a:r>
              <a:rPr lang="en-US" altLang="ko-KR" b="1"/>
              <a:t>: Call, Return</a:t>
            </a:r>
          </a:p>
          <a:p>
            <a:pPr eaLnBrk="1" hangingPunct="1">
              <a:lnSpc>
                <a:spcPct val="130000"/>
              </a:lnSpc>
            </a:pPr>
            <a:endParaRPr lang="en-US" altLang="ko-KR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DC2DB341-6A6B-4DEC-A85C-35D018ED55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D8C9B54-CABB-4D82-B655-33FB898E76B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0716939-60A6-48D0-A430-72A249C27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207375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※ </a:t>
            </a:r>
            <a:r>
              <a:rPr lang="ko-KR" altLang="en-US" b="1"/>
              <a:t>단항연산자와 이항연산자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1) </a:t>
            </a:r>
            <a:r>
              <a:rPr lang="ko-KR" altLang="en-US" b="1"/>
              <a:t>단항연산자 </a:t>
            </a:r>
            <a:r>
              <a:rPr lang="en-US" altLang="ko-KR" b="1"/>
              <a:t>(Unary Operator)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① </a:t>
            </a:r>
            <a:r>
              <a:rPr lang="ko-KR" altLang="en-US" b="1"/>
              <a:t>피연산자가  </a:t>
            </a:r>
            <a:r>
              <a:rPr lang="en-US" altLang="ko-KR" b="1"/>
              <a:t>1</a:t>
            </a:r>
            <a:r>
              <a:rPr lang="ko-KR" altLang="en-US" b="1"/>
              <a:t>개만 필요한 연산자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② </a:t>
            </a:r>
            <a:r>
              <a:rPr lang="en-US" altLang="ko-KR" b="1"/>
              <a:t>NOT, Complement, Shift, Rotate, MOVE </a:t>
            </a:r>
            <a:r>
              <a:rPr lang="ko-KR" altLang="en-US" b="1"/>
              <a:t>등 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2) </a:t>
            </a:r>
            <a:r>
              <a:rPr lang="ko-KR" altLang="en-US" b="1"/>
              <a:t>이항연산자 </a:t>
            </a:r>
            <a:r>
              <a:rPr lang="en-US" altLang="ko-KR" b="1"/>
              <a:t>(Binary Operator)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① </a:t>
            </a:r>
            <a:r>
              <a:rPr lang="ko-KR" altLang="en-US" b="1"/>
              <a:t>피연산자가  </a:t>
            </a:r>
            <a:r>
              <a:rPr lang="en-US" altLang="ko-KR" b="1"/>
              <a:t>2</a:t>
            </a:r>
            <a:r>
              <a:rPr lang="ko-KR" altLang="en-US" b="1"/>
              <a:t>개 필요한 연산자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② </a:t>
            </a:r>
            <a:r>
              <a:rPr lang="en-US" altLang="ko-KR" b="1"/>
              <a:t>AND, OR, XOR, XNOR, </a:t>
            </a:r>
            <a:r>
              <a:rPr lang="ko-KR" altLang="en-US" b="1"/>
              <a:t>사칙연산 등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(3) </a:t>
            </a:r>
            <a:r>
              <a:rPr lang="ko-KR" altLang="en-US" b="1"/>
              <a:t>명령어 설계 시 고려할 사항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연산자의 종류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주소 지정 방식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/>
              <a:t>해당 컴퓨터 시스템 단어</a:t>
            </a:r>
            <a:r>
              <a:rPr lang="en-US" altLang="ko-KR" b="1"/>
              <a:t>(word)</a:t>
            </a:r>
            <a:r>
              <a:rPr lang="ko-KR" altLang="en-US" b="1"/>
              <a:t>의 크기</a:t>
            </a:r>
            <a:r>
              <a:rPr lang="en-US" altLang="ko-KR" b="1"/>
              <a:t>(</a:t>
            </a:r>
            <a:r>
              <a:rPr lang="ko-KR" altLang="en-US" b="1"/>
              <a:t>비트수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A24A63D3-425E-48F5-A3A1-C77E71B16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BC65D49-D3FC-49D5-A683-A2C16E0CBFA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72194DD-4AFD-46DE-9959-CE4C51F2C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96900"/>
            <a:ext cx="25209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(4) </a:t>
            </a:r>
            <a:r>
              <a:rPr lang="ko-KR" altLang="en-US" b="1"/>
              <a:t>명령어 형식 </a:t>
            </a:r>
          </a:p>
        </p:txBody>
      </p:sp>
      <p:graphicFrame>
        <p:nvGraphicFramePr>
          <p:cNvPr id="258051" name="Group 3">
            <a:extLst>
              <a:ext uri="{FF2B5EF4-FFF2-40B4-BE49-F238E27FC236}">
                <a16:creationId xmlns:a16="http://schemas.microsoft.com/office/drawing/2014/main" id="{CDA8F756-E44E-4B44-A211-160CFD0BD8AB}"/>
              </a:ext>
            </a:extLst>
          </p:cNvPr>
          <p:cNvGraphicFramePr>
            <a:graphicFrameLocks noGrp="1"/>
          </p:cNvGraphicFramePr>
          <p:nvPr/>
        </p:nvGraphicFramePr>
        <p:xfrm>
          <a:off x="1331913" y="4941888"/>
          <a:ext cx="6096000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2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3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08" name="Text Box 15">
            <a:extLst>
              <a:ext uri="{FF2B5EF4-FFF2-40B4-BE49-F238E27FC236}">
                <a16:creationId xmlns:a16="http://schemas.microsoft.com/office/drawing/2014/main" id="{20248A4E-0F58-4B7F-8437-25868097E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5451475"/>
            <a:ext cx="4619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b="1"/>
              <a:t>자료 </a:t>
            </a:r>
            <a:r>
              <a:rPr lang="en-US" altLang="ko-KR" b="1"/>
              <a:t>1</a:t>
            </a:r>
            <a:r>
              <a:rPr lang="ko-KR" altLang="en-US" b="1"/>
              <a:t>의 주소  자료 </a:t>
            </a:r>
            <a:r>
              <a:rPr lang="en-US" altLang="ko-KR" b="1"/>
              <a:t>2 </a:t>
            </a:r>
            <a:r>
              <a:rPr lang="ko-KR" altLang="en-US" b="1"/>
              <a:t>의 주소   결과의 주소</a:t>
            </a:r>
          </a:p>
        </p:txBody>
      </p:sp>
      <p:sp>
        <p:nvSpPr>
          <p:cNvPr id="8209" name="Text Box 26">
            <a:extLst>
              <a:ext uri="{FF2B5EF4-FFF2-40B4-BE49-F238E27FC236}">
                <a16:creationId xmlns:a16="http://schemas.microsoft.com/office/drawing/2014/main" id="{520B08F9-7BD2-49CD-90A3-F1708BA25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4005263"/>
            <a:ext cx="32019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b="1"/>
              <a:t>자료 </a:t>
            </a:r>
            <a:r>
              <a:rPr lang="en-US" altLang="ko-KR" b="1"/>
              <a:t>1</a:t>
            </a:r>
            <a:r>
              <a:rPr lang="ko-KR" altLang="en-US" b="1"/>
              <a:t>의 주소   자료 </a:t>
            </a:r>
            <a:r>
              <a:rPr lang="en-US" altLang="ko-KR" b="1"/>
              <a:t>2</a:t>
            </a:r>
            <a:r>
              <a:rPr lang="ko-KR" altLang="en-US" b="1"/>
              <a:t>의 주소</a:t>
            </a:r>
          </a:p>
          <a:p>
            <a:pPr eaLnBrk="1" hangingPunct="1"/>
            <a:r>
              <a:rPr lang="ko-KR" altLang="en-US" b="1"/>
              <a:t>  결과의 주소</a:t>
            </a:r>
          </a:p>
        </p:txBody>
      </p:sp>
      <p:sp>
        <p:nvSpPr>
          <p:cNvPr id="8210" name="Text Box 35">
            <a:extLst>
              <a:ext uri="{FF2B5EF4-FFF2-40B4-BE49-F238E27FC236}">
                <a16:creationId xmlns:a16="http://schemas.microsoft.com/office/drawing/2014/main" id="{3D5C6416-051D-45FA-9528-3298C31D5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2919413"/>
            <a:ext cx="158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b="1"/>
              <a:t>자료 </a:t>
            </a:r>
            <a:r>
              <a:rPr lang="en-US" altLang="ko-KR" b="1"/>
              <a:t>1</a:t>
            </a:r>
            <a:r>
              <a:rPr lang="ko-KR" altLang="en-US" b="1"/>
              <a:t>의 주소</a:t>
            </a:r>
          </a:p>
        </p:txBody>
      </p:sp>
      <p:graphicFrame>
        <p:nvGraphicFramePr>
          <p:cNvPr id="258093" name="Group 45">
            <a:extLst>
              <a:ext uri="{FF2B5EF4-FFF2-40B4-BE49-F238E27FC236}">
                <a16:creationId xmlns:a16="http://schemas.microsoft.com/office/drawing/2014/main" id="{BBCF09DC-3A7F-49C6-A0E5-00F20FA240AB}"/>
              </a:ext>
            </a:extLst>
          </p:cNvPr>
          <p:cNvGraphicFramePr>
            <a:graphicFrameLocks noGrp="1"/>
          </p:cNvGraphicFramePr>
          <p:nvPr/>
        </p:nvGraphicFramePr>
        <p:xfrm>
          <a:off x="1331913" y="1484313"/>
          <a:ext cx="1524000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8106" name="Group 58">
            <a:extLst>
              <a:ext uri="{FF2B5EF4-FFF2-40B4-BE49-F238E27FC236}">
                <a16:creationId xmlns:a16="http://schemas.microsoft.com/office/drawing/2014/main" id="{2C5DEA36-CCEC-4E28-882C-502D53ACD436}"/>
              </a:ext>
            </a:extLst>
          </p:cNvPr>
          <p:cNvGraphicFramePr>
            <a:graphicFrameLocks noGrp="1"/>
          </p:cNvGraphicFramePr>
          <p:nvPr/>
        </p:nvGraphicFramePr>
        <p:xfrm>
          <a:off x="1341438" y="2420938"/>
          <a:ext cx="3048000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8119" name="Group 71">
            <a:extLst>
              <a:ext uri="{FF2B5EF4-FFF2-40B4-BE49-F238E27FC236}">
                <a16:creationId xmlns:a16="http://schemas.microsoft.com/office/drawing/2014/main" id="{CEFAB963-243F-4564-B912-46824BC59328}"/>
              </a:ext>
            </a:extLst>
          </p:cNvPr>
          <p:cNvGraphicFramePr>
            <a:graphicFrameLocks noGrp="1"/>
          </p:cNvGraphicFramePr>
          <p:nvPr/>
        </p:nvGraphicFramePr>
        <p:xfrm>
          <a:off x="1347788" y="3568700"/>
          <a:ext cx="4572000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2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30AA2622-4D8B-4D92-8C65-1D4B55ACA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691891E-AB37-4D23-8B2C-0266E51CC16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5191E82-C968-4F72-8F2F-3D100245E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" y="531813"/>
            <a:ext cx="8497888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1) Operand </a:t>
            </a:r>
            <a:r>
              <a:rPr lang="ko-KR" altLang="en-US" b="1"/>
              <a:t>부의 개수에 따라</a:t>
            </a:r>
            <a:r>
              <a:rPr lang="en-US" altLang="ko-KR" b="1"/>
              <a:t>, 3 / 2 / 1 / 0 </a:t>
            </a:r>
            <a:r>
              <a:rPr lang="ko-KR" altLang="en-US" b="1"/>
              <a:t>주소 명령어 형식이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2) 3- </a:t>
            </a:r>
            <a:r>
              <a:rPr lang="ko-KR" altLang="en-US" b="1"/>
              <a:t>주소 명령어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>
                <a:latin typeface="돋움" panose="020B0600000101010101" pitchFamily="50" charset="-127"/>
                <a:ea typeface="돋움" panose="020B0600000101010101" pitchFamily="50" charset="-127"/>
              </a:rPr>
              <a:t>       ① </a:t>
            </a:r>
            <a:r>
              <a:rPr lang="en-US" altLang="ko-KR" b="1"/>
              <a:t>Operand</a:t>
            </a:r>
            <a:r>
              <a:rPr lang="ko-KR" altLang="en-US" b="1"/>
              <a:t>부가 </a:t>
            </a:r>
            <a:r>
              <a:rPr lang="en-US" altLang="ko-KR" b="1"/>
              <a:t>3</a:t>
            </a:r>
            <a:r>
              <a:rPr lang="ko-KR" altLang="en-US" b="1"/>
              <a:t>개로 구성 </a:t>
            </a:r>
            <a:r>
              <a:rPr lang="en-US" altLang="ko-KR" b="1"/>
              <a:t>(</a:t>
            </a:r>
            <a:r>
              <a:rPr lang="ko-KR" altLang="en-US" b="1"/>
              <a:t>연산의 결과는 </a:t>
            </a:r>
            <a:r>
              <a:rPr lang="en-US" altLang="ko-KR" b="1"/>
              <a:t>Operand 3 </a:t>
            </a:r>
            <a:r>
              <a:rPr lang="ko-KR" altLang="en-US" b="1"/>
              <a:t>에 기록됨 </a:t>
            </a:r>
          </a:p>
          <a:p>
            <a:pPr eaLnBrk="1" hangingPunct="1">
              <a:lnSpc>
                <a:spcPct val="120000"/>
              </a:lnSpc>
              <a:buFontTx/>
              <a:buChar char="•"/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                   자료 </a:t>
            </a:r>
            <a:r>
              <a:rPr lang="en-US" altLang="ko-KR" b="1"/>
              <a:t>1</a:t>
            </a:r>
            <a:r>
              <a:rPr lang="ko-KR" altLang="en-US" b="1"/>
              <a:t>의 주소  자료 </a:t>
            </a:r>
            <a:r>
              <a:rPr lang="en-US" altLang="ko-KR" b="1"/>
              <a:t>2 </a:t>
            </a:r>
            <a:r>
              <a:rPr lang="ko-KR" altLang="en-US" b="1"/>
              <a:t>의 주소   결과의 주소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② 여러 개의 범용 레지스터를 가진 컴퓨터에 사용됨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③ 장점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• </a:t>
            </a:r>
            <a:r>
              <a:rPr lang="ko-KR" altLang="en-US" b="1"/>
              <a:t>연산 후에 입력 자료가 변하지 않고 보존됨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• </a:t>
            </a:r>
            <a:r>
              <a:rPr lang="ko-KR" altLang="en-US" b="1"/>
              <a:t>전체 명령어를 읽어오는 시간 단축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• </a:t>
            </a:r>
            <a:r>
              <a:rPr lang="ko-KR" altLang="en-US" b="1"/>
              <a:t>프로그램의 길이가 짧아짐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④ 단점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• </a:t>
            </a:r>
            <a:r>
              <a:rPr lang="ko-KR" altLang="en-US" b="1"/>
              <a:t>명령어 한 개의 길이가 길어짐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• </a:t>
            </a:r>
            <a:r>
              <a:rPr lang="ko-KR" altLang="en-US" b="1"/>
              <a:t>하나의 명령을 수행하기 위해서 최소한 </a:t>
            </a:r>
            <a:r>
              <a:rPr lang="en-US" altLang="ko-KR" b="1"/>
              <a:t>4</a:t>
            </a:r>
            <a:r>
              <a:rPr lang="ko-KR" altLang="en-US" b="1"/>
              <a:t>번 기억장소에 접근해야 하므로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전체적인 수행시간 길어짐</a:t>
            </a:r>
          </a:p>
        </p:txBody>
      </p:sp>
      <p:graphicFrame>
        <p:nvGraphicFramePr>
          <p:cNvPr id="244761" name="Group 25">
            <a:extLst>
              <a:ext uri="{FF2B5EF4-FFF2-40B4-BE49-F238E27FC236}">
                <a16:creationId xmlns:a16="http://schemas.microsoft.com/office/drawing/2014/main" id="{76BD8170-88BE-4ED4-98A2-E696020CE6C1}"/>
              </a:ext>
            </a:extLst>
          </p:cNvPr>
          <p:cNvGraphicFramePr>
            <a:graphicFrameLocks noGrp="1"/>
          </p:cNvGraphicFramePr>
          <p:nvPr/>
        </p:nvGraphicFramePr>
        <p:xfrm>
          <a:off x="1114425" y="2116138"/>
          <a:ext cx="6096000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2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3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59EE2E70-3D2B-4233-83EE-E35B45423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ECA08F3-D15D-4D10-A7EE-5927F558576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Rectangle 15">
            <a:extLst>
              <a:ext uri="{FF2B5EF4-FFF2-40B4-BE49-F238E27FC236}">
                <a16:creationId xmlns:a16="http://schemas.microsoft.com/office/drawing/2014/main" id="{09727DFB-AB5F-4FB4-9BD7-924787DD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8351837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2-</a:t>
            </a:r>
            <a:r>
              <a:rPr lang="ko-KR" altLang="en-US" b="1"/>
              <a:t>주소 명령어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① </a:t>
            </a:r>
            <a:r>
              <a:rPr lang="en-US" altLang="ko-KR" b="1"/>
              <a:t>Operand</a:t>
            </a:r>
            <a:r>
              <a:rPr lang="ko-KR" altLang="en-US" b="1"/>
              <a:t>부가 </a:t>
            </a:r>
            <a:r>
              <a:rPr lang="en-US" altLang="ko-KR" b="1"/>
              <a:t>2</a:t>
            </a:r>
            <a:r>
              <a:rPr lang="ko-KR" altLang="en-US" b="1"/>
              <a:t>개로 구성 </a:t>
            </a:r>
            <a:r>
              <a:rPr lang="en-US" altLang="ko-KR" b="1"/>
              <a:t>(</a:t>
            </a:r>
            <a:r>
              <a:rPr lang="ko-KR" altLang="en-US" b="1"/>
              <a:t>연산의 결과는 </a:t>
            </a:r>
            <a:r>
              <a:rPr lang="en-US" altLang="ko-KR" b="1"/>
              <a:t>Operand 1 </a:t>
            </a:r>
            <a:r>
              <a:rPr lang="ko-KR" altLang="en-US" b="1"/>
              <a:t>에 기록됨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       </a:t>
            </a:r>
            <a:r>
              <a:rPr lang="ko-KR" altLang="en-US" b="1"/>
              <a:t>자료 </a:t>
            </a:r>
            <a:r>
              <a:rPr lang="en-US" altLang="ko-KR" b="1"/>
              <a:t>1</a:t>
            </a:r>
            <a:r>
              <a:rPr lang="ko-KR" altLang="en-US" b="1"/>
              <a:t>의 주소   자료 </a:t>
            </a:r>
            <a:r>
              <a:rPr lang="en-US" altLang="ko-KR" b="1"/>
              <a:t>2</a:t>
            </a:r>
            <a:r>
              <a:rPr lang="ko-KR" altLang="en-US" b="1"/>
              <a:t>의 주소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                     결과의 주소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② 여러 개의 범용 레지스터를 가진 컴퓨터에 사용됨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③ 장점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3</a:t>
            </a:r>
            <a:r>
              <a:rPr lang="ko-KR" altLang="en-US" b="1"/>
              <a:t>주소 명령에 비해 명령어의 길이가 짧음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</a:t>
            </a:r>
            <a:r>
              <a:rPr lang="ko-KR" altLang="en-US" b="1"/>
              <a:t>계산 결과를 시험할 필요가 있을 때 계산 결과가 기억장치에 기억 될 뿐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아니라 중앙처리장치에도 남아 있어서 중앙처리장치 내에서 직접 시험이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가능하므로 시간이 절약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④ 단점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 Operand 1 </a:t>
            </a:r>
            <a:r>
              <a:rPr lang="ko-KR" altLang="en-US" b="1"/>
              <a:t>에 있던 원래의 자료가 파괴됨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•</a:t>
            </a:r>
            <a:r>
              <a:rPr lang="en-US" altLang="ko-KR"/>
              <a:t> </a:t>
            </a:r>
            <a:r>
              <a:rPr lang="ko-KR" altLang="en-US" b="1"/>
              <a:t>전체 프로그램 길이 증가             </a:t>
            </a:r>
          </a:p>
        </p:txBody>
      </p:sp>
      <p:graphicFrame>
        <p:nvGraphicFramePr>
          <p:cNvPr id="245790" name="Group 30">
            <a:extLst>
              <a:ext uri="{FF2B5EF4-FFF2-40B4-BE49-F238E27FC236}">
                <a16:creationId xmlns:a16="http://schemas.microsoft.com/office/drawing/2014/main" id="{4C646B1B-DC19-421F-BACC-C6D4E38F4DEF}"/>
              </a:ext>
            </a:extLst>
          </p:cNvPr>
          <p:cNvGraphicFramePr>
            <a:graphicFrameLocks noGrp="1"/>
          </p:cNvGraphicFramePr>
          <p:nvPr/>
        </p:nvGraphicFramePr>
        <p:xfrm>
          <a:off x="1403350" y="1695450"/>
          <a:ext cx="4752975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2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B32B81DA-704B-4175-973A-8D117CB26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A59FE5C-650E-4B70-8AF7-CBDBB151A2D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13">
            <a:extLst>
              <a:ext uri="{FF2B5EF4-FFF2-40B4-BE49-F238E27FC236}">
                <a16:creationId xmlns:a16="http://schemas.microsoft.com/office/drawing/2014/main" id="{0074ECA7-7D15-4F09-A289-8759E656A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857250"/>
            <a:ext cx="82804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1-</a:t>
            </a:r>
            <a:r>
              <a:rPr lang="ko-KR" altLang="en-US" b="1"/>
              <a:t>주소 명령어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①  </a:t>
            </a:r>
            <a:r>
              <a:rPr lang="en-US" altLang="ko-KR" b="1"/>
              <a:t>Operand</a:t>
            </a:r>
            <a:r>
              <a:rPr lang="ko-KR" altLang="en-US" b="1"/>
              <a:t>부가 </a:t>
            </a:r>
            <a:r>
              <a:rPr lang="en-US" altLang="ko-KR" b="1"/>
              <a:t>1</a:t>
            </a:r>
            <a:r>
              <a:rPr lang="ko-KR" altLang="en-US" b="1"/>
              <a:t>개로 구성 </a:t>
            </a:r>
            <a:r>
              <a:rPr lang="en-US" altLang="ko-KR" b="1"/>
              <a:t>(</a:t>
            </a:r>
            <a:r>
              <a:rPr lang="ko-KR" altLang="en-US" b="1"/>
              <a:t>연산의 결과는 </a:t>
            </a:r>
            <a:r>
              <a:rPr lang="en-US" altLang="ko-KR" b="1"/>
              <a:t>Operand 1 </a:t>
            </a:r>
            <a:r>
              <a:rPr lang="ko-KR" altLang="en-US" b="1"/>
              <a:t>에 기록됨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            </a:t>
            </a:r>
            <a:r>
              <a:rPr lang="ko-KR" altLang="en-US" b="1"/>
              <a:t>자료  </a:t>
            </a:r>
            <a:r>
              <a:rPr lang="en-US" altLang="ko-KR" b="1"/>
              <a:t>1</a:t>
            </a:r>
            <a:r>
              <a:rPr lang="ko-KR" altLang="en-US" b="1"/>
              <a:t>의 주소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②  반드시 누산기</a:t>
            </a:r>
            <a:r>
              <a:rPr lang="en-US" altLang="ko-KR" b="1"/>
              <a:t>(Accumulator) </a:t>
            </a:r>
            <a:r>
              <a:rPr lang="ko-KR" altLang="en-US" b="1"/>
              <a:t>가 필요한 주소지정방식 </a:t>
            </a:r>
            <a:r>
              <a:rPr lang="en-US" altLang="ko-KR" b="1"/>
              <a:t>(</a:t>
            </a:r>
            <a:r>
              <a:rPr lang="ko-KR" altLang="en-US" b="1"/>
              <a:t>하나의 </a:t>
            </a:r>
            <a:r>
              <a:rPr lang="en-US" altLang="ko-KR" b="1"/>
              <a:t>operand </a:t>
            </a:r>
            <a:r>
              <a:rPr lang="ko-KR" altLang="en-US" b="1"/>
              <a:t>가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누산기 속에 포함되고</a:t>
            </a:r>
            <a:r>
              <a:rPr lang="en-US" altLang="ko-KR" b="1"/>
              <a:t>, </a:t>
            </a:r>
            <a:r>
              <a:rPr lang="ko-KR" altLang="en-US" b="1"/>
              <a:t>연산 결과를 항상 누산기에 저장 </a:t>
            </a:r>
            <a:r>
              <a:rPr lang="en-US" altLang="ko-KR" b="1"/>
              <a:t>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③ 1-</a:t>
            </a:r>
            <a:r>
              <a:rPr lang="ko-KR" altLang="en-US" b="1"/>
              <a:t>주소 명령의 예 </a:t>
            </a:r>
            <a:r>
              <a:rPr lang="en-US" altLang="ko-KR" b="1"/>
              <a:t>(C = A + B)</a:t>
            </a:r>
          </a:p>
        </p:txBody>
      </p:sp>
      <p:graphicFrame>
        <p:nvGraphicFramePr>
          <p:cNvPr id="246798" name="Group 14">
            <a:extLst>
              <a:ext uri="{FF2B5EF4-FFF2-40B4-BE49-F238E27FC236}">
                <a16:creationId xmlns:a16="http://schemas.microsoft.com/office/drawing/2014/main" id="{8233F414-0B3D-4069-9773-D605ECD1D91E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1773238"/>
          <a:ext cx="3168650" cy="36512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OP-Code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Operand 1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76" name="Text Box 15">
            <a:extLst>
              <a:ext uri="{FF2B5EF4-FFF2-40B4-BE49-F238E27FC236}">
                <a16:creationId xmlns:a16="http://schemas.microsoft.com/office/drawing/2014/main" id="{76E2CDD5-3CC8-44CF-865B-466B917E1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005263"/>
            <a:ext cx="1163638" cy="11731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LOAD A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ADD B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STORE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1E4564A3-03B0-4C77-9F6E-5304854BA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67B203D-FD30-4D00-90A7-7811DED2A4A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12">
            <a:extLst>
              <a:ext uri="{FF2B5EF4-FFF2-40B4-BE49-F238E27FC236}">
                <a16:creationId xmlns:a16="http://schemas.microsoft.com/office/drawing/2014/main" id="{C6A5CB52-110E-4A59-A231-56A71C29C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636000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5) 0-</a:t>
            </a:r>
            <a:r>
              <a:rPr lang="ko-KR" altLang="en-US" b="1"/>
              <a:t>주소 명령어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① </a:t>
            </a:r>
            <a:r>
              <a:rPr lang="en-US" altLang="ko-KR" b="1"/>
              <a:t>Operand </a:t>
            </a:r>
            <a:r>
              <a:rPr lang="ko-KR" altLang="en-US" b="1"/>
              <a:t>부가 없이  </a:t>
            </a:r>
            <a:r>
              <a:rPr lang="en-US" altLang="ko-KR" b="1"/>
              <a:t>OP-code</a:t>
            </a:r>
            <a:r>
              <a:rPr lang="ko-KR" altLang="en-US" b="1"/>
              <a:t>부만으로 구성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(</a:t>
            </a:r>
            <a:r>
              <a:rPr lang="ko-KR" altLang="en-US" b="1"/>
              <a:t>자료의 주소를 지정할 필요가 없음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② </a:t>
            </a:r>
            <a:r>
              <a:rPr lang="ko-KR" altLang="en-US" b="1"/>
              <a:t>모든 연산은 스택</a:t>
            </a:r>
            <a:r>
              <a:rPr lang="en-US" altLang="ko-KR" b="1"/>
              <a:t>(Stack) </a:t>
            </a:r>
            <a:r>
              <a:rPr lang="ko-KR" altLang="en-US" b="1"/>
              <a:t>에 있는 자료를 이용하여 수행 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스택</a:t>
            </a:r>
            <a:r>
              <a:rPr lang="en-US" altLang="ko-KR" b="1"/>
              <a:t>(Stack)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• </a:t>
            </a:r>
            <a:r>
              <a:rPr lang="ko-KR" altLang="en-US" b="1"/>
              <a:t>자료의 삽입 </a:t>
            </a:r>
            <a:r>
              <a:rPr lang="en-US" altLang="ko-KR" b="1"/>
              <a:t>(Push)</a:t>
            </a:r>
            <a:r>
              <a:rPr lang="ko-KR" altLang="en-US" b="1"/>
              <a:t>・삭제 </a:t>
            </a:r>
            <a:r>
              <a:rPr lang="en-US" altLang="ko-KR" b="1"/>
              <a:t>(Pop) </a:t>
            </a:r>
            <a:r>
              <a:rPr lang="ko-KR" altLang="en-US" b="1"/>
              <a:t>가 한쪽에서 가능한 자료구조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• </a:t>
            </a:r>
            <a:r>
              <a:rPr lang="ko-KR" altLang="en-US" b="1"/>
              <a:t>가장 나중에 삽입된 자료가 가장 먼저 삭제되는 방식 </a:t>
            </a:r>
            <a:r>
              <a:rPr lang="en-US" altLang="ko-KR" b="1"/>
              <a:t>(LIFO, Last-In First-Out)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• 0</a:t>
            </a:r>
            <a:r>
              <a:rPr lang="ko-KR" altLang="en-US" b="1"/>
              <a:t>주소 명령어 형식에서 뿐만 아니라 부프로그램</a:t>
            </a:r>
            <a:r>
              <a:rPr lang="en-US" altLang="ko-KR" b="1"/>
              <a:t>(</a:t>
            </a:r>
            <a:r>
              <a:rPr lang="ko-KR" altLang="en-US" b="1"/>
              <a:t>서브루틴</a:t>
            </a:r>
            <a:r>
              <a:rPr lang="en-US" altLang="ko-KR" b="1"/>
              <a:t>) </a:t>
            </a:r>
            <a:r>
              <a:rPr lang="ko-KR" altLang="en-US" b="1"/>
              <a:t>호출시 복귀 주소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저장</a:t>
            </a:r>
            <a:r>
              <a:rPr lang="en-US" altLang="ko-KR" b="1"/>
              <a:t>, </a:t>
            </a:r>
            <a:r>
              <a:rPr lang="ko-KR" altLang="en-US" b="1"/>
              <a:t>인터럽트 발생 시 복귀 주소 저장</a:t>
            </a:r>
            <a:r>
              <a:rPr lang="en-US" altLang="ko-KR" b="1"/>
              <a:t>, </a:t>
            </a:r>
            <a:r>
              <a:rPr lang="ko-KR" altLang="en-US" b="1"/>
              <a:t>재귀</a:t>
            </a:r>
            <a:r>
              <a:rPr lang="en-US" altLang="ko-KR" b="1"/>
              <a:t>(Recursive) </a:t>
            </a:r>
            <a:r>
              <a:rPr lang="ko-KR" altLang="en-US" b="1"/>
              <a:t>프로그램의 순 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제어</a:t>
            </a:r>
            <a:r>
              <a:rPr lang="en-US" altLang="ko-KR" b="1"/>
              <a:t>, </a:t>
            </a:r>
            <a:r>
              <a:rPr lang="ko-KR" altLang="en-US" b="1"/>
              <a:t>역 </a:t>
            </a:r>
            <a:r>
              <a:rPr lang="en-US" altLang="ko-KR" b="1"/>
              <a:t>polish</a:t>
            </a:r>
            <a:r>
              <a:rPr lang="ko-KR" altLang="en-US" b="1"/>
              <a:t>형 산술식의 처리 등에 쓰임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※ </a:t>
            </a:r>
            <a:r>
              <a:rPr lang="ko-KR" altLang="en-US" b="1"/>
              <a:t>재귀 프로그램 </a:t>
            </a:r>
            <a:r>
              <a:rPr lang="en-US" altLang="ko-KR" b="1"/>
              <a:t>(Recursion)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</a:t>
            </a:r>
            <a:r>
              <a:rPr lang="ko-KR" altLang="en-US" b="1"/>
              <a:t>한 루틴 이 자기를 다시 불러 실행하는 프로그램</a:t>
            </a:r>
          </a:p>
        </p:txBody>
      </p:sp>
      <p:sp>
        <p:nvSpPr>
          <p:cNvPr id="12292" name="Text Box 13">
            <a:extLst>
              <a:ext uri="{FF2B5EF4-FFF2-40B4-BE49-F238E27FC236}">
                <a16:creationId xmlns:a16="http://schemas.microsoft.com/office/drawing/2014/main" id="{C9599CB1-3982-4DC4-BF46-AA14D27DA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133600"/>
            <a:ext cx="1509713" cy="45878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  OP-Code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51E8F2B1-DCBC-410A-A73A-B4DA0AAAB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0EF52B1-FC5D-4D28-86CD-70AB0B1FEF4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Rectangle 5">
            <a:extLst>
              <a:ext uri="{FF2B5EF4-FFF2-40B4-BE49-F238E27FC236}">
                <a16:creationId xmlns:a16="http://schemas.microsoft.com/office/drawing/2014/main" id="{ADAF98EC-5BB6-4F4B-AB0A-BAA76158F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782638"/>
            <a:ext cx="8815387" cy="531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③ </a:t>
            </a:r>
            <a:r>
              <a:rPr lang="ko-KR" altLang="en-US" b="1"/>
              <a:t>자료를 얻기 위하여 스택에 접근할 떄는 </a:t>
            </a:r>
            <a:r>
              <a:rPr lang="en-US" altLang="ko-KR" b="1"/>
              <a:t>top</a:t>
            </a:r>
            <a:r>
              <a:rPr lang="ko-KR" altLang="en-US" b="1"/>
              <a:t>이 지정하는 곳에 접근</a:t>
            </a:r>
          </a:p>
          <a:p>
            <a:pPr eaLnBrk="1" hangingPunct="1"/>
            <a:r>
              <a:rPr lang="ko-KR" altLang="en-US" b="1"/>
              <a:t>④ </a:t>
            </a:r>
            <a:r>
              <a:rPr lang="en-US" altLang="ko-KR" b="1"/>
              <a:t>binary</a:t>
            </a:r>
            <a:r>
              <a:rPr lang="ko-KR" altLang="en-US" b="1"/>
              <a:t>연산인 경우 </a:t>
            </a:r>
            <a:r>
              <a:rPr lang="en-US" altLang="ko-KR" b="1"/>
              <a:t>2</a:t>
            </a:r>
            <a:r>
              <a:rPr lang="ko-KR" altLang="en-US" b="1"/>
              <a:t>개 자료가 필요하고</a:t>
            </a:r>
            <a:r>
              <a:rPr lang="en-US" altLang="ko-KR" b="1"/>
              <a:t>, </a:t>
            </a:r>
            <a:r>
              <a:rPr lang="ko-KR" altLang="en-US" b="1"/>
              <a:t>스택 상단부 </a:t>
            </a:r>
            <a:r>
              <a:rPr lang="en-US" altLang="ko-KR" b="1"/>
              <a:t>2</a:t>
            </a:r>
            <a:r>
              <a:rPr lang="ko-KR" altLang="en-US" b="1"/>
              <a:t>자리에 지정함 </a:t>
            </a:r>
          </a:p>
          <a:p>
            <a:pPr eaLnBrk="1" hangingPunct="1"/>
            <a:r>
              <a:rPr lang="ko-KR" altLang="en-US" b="1"/>
              <a:t>⑤ 주소의 사용 없이 스택에 연산자와 피연산자를 넣었다 꺼내어 연산한 후 결과를</a:t>
            </a:r>
          </a:p>
          <a:p>
            <a:pPr eaLnBrk="1" hangingPunct="1"/>
            <a:r>
              <a:rPr lang="ko-KR" altLang="en-US" b="1"/>
              <a:t>    다시 스택에 넣으면서 연산하기 때문에 원래의 자료가 남지 않음</a:t>
            </a:r>
          </a:p>
          <a:p>
            <a:pPr eaLnBrk="1" hangingPunct="1"/>
            <a:r>
              <a:rPr lang="ko-KR" altLang="en-US" b="1"/>
              <a:t>⑥ 수식을 계산할 때 수식을 미리 처리되는 순서인 역 </a:t>
            </a:r>
            <a:r>
              <a:rPr lang="en-US" altLang="ko-KR" b="1"/>
              <a:t>polish(</a:t>
            </a:r>
            <a:r>
              <a:rPr lang="ko-KR" altLang="en-US" b="1"/>
              <a:t>또는 </a:t>
            </a:r>
            <a:r>
              <a:rPr lang="en-US" altLang="ko-KR" b="1"/>
              <a:t>postfix) </a:t>
            </a:r>
            <a:r>
              <a:rPr lang="ko-KR" altLang="en-US" b="1"/>
              <a:t>형식으로  </a:t>
            </a:r>
          </a:p>
          <a:p>
            <a:pPr eaLnBrk="1" hangingPunct="1"/>
            <a:r>
              <a:rPr lang="ko-KR" altLang="en-US" b="1"/>
              <a:t>    바꾸어야 함</a:t>
            </a:r>
          </a:p>
          <a:p>
            <a:pPr eaLnBrk="1" hangingPunct="1"/>
            <a:r>
              <a:rPr lang="ko-KR" altLang="en-US" b="1"/>
              <a:t>⑦ </a:t>
            </a:r>
            <a:r>
              <a:rPr lang="en-US" altLang="ko-KR" b="1"/>
              <a:t>Instruction cycle time </a:t>
            </a:r>
            <a:r>
              <a:rPr lang="ko-KR" altLang="en-US" b="1"/>
              <a:t>이 가장 짧은 명령어 형식 </a:t>
            </a:r>
          </a:p>
          <a:p>
            <a:pPr eaLnBrk="1" hangingPunct="1"/>
            <a:r>
              <a:rPr lang="ko-KR" altLang="en-US" b="1"/>
              <a:t>⑧ 스택 머신</a:t>
            </a:r>
            <a:r>
              <a:rPr lang="en-US" altLang="ko-KR" b="1"/>
              <a:t>(Stack Machine) </a:t>
            </a:r>
            <a:r>
              <a:rPr lang="ko-KR" altLang="en-US" b="1"/>
              <a:t>이라고도 함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(0-</a:t>
            </a:r>
            <a:r>
              <a:rPr lang="ko-KR" altLang="en-US" b="1"/>
              <a:t>주소 명령형을 갖는 컴퓨터 구조 원리</a:t>
            </a:r>
            <a:r>
              <a:rPr lang="en-US" altLang="ko-KR" b="1"/>
              <a:t>: Stack architecture)</a:t>
            </a:r>
          </a:p>
          <a:p>
            <a:pPr eaLnBrk="1" hangingPunct="1"/>
            <a:r>
              <a:rPr lang="en-US" altLang="ko-KR" b="1"/>
              <a:t>※ </a:t>
            </a:r>
            <a:r>
              <a:rPr lang="ko-KR" altLang="en-US" b="1"/>
              <a:t>이터레이션</a:t>
            </a:r>
            <a:r>
              <a:rPr lang="en-US" altLang="ko-KR" b="1"/>
              <a:t>(Iteration)</a:t>
            </a:r>
          </a:p>
          <a:p>
            <a:pPr eaLnBrk="1" hangingPunct="1"/>
            <a:r>
              <a:rPr lang="en-US" altLang="ko-KR" b="1"/>
              <a:t>    </a:t>
            </a:r>
            <a:r>
              <a:rPr lang="ko-KR" altLang="en-US" b="1"/>
              <a:t>해당 루틴</a:t>
            </a:r>
            <a:r>
              <a:rPr lang="en-US" altLang="ko-KR" b="1"/>
              <a:t>(Routine) </a:t>
            </a:r>
            <a:r>
              <a:rPr lang="ko-KR" altLang="en-US" b="1"/>
              <a:t>이 정확한 결과를 산출할 때까지 해당 루틴에서 발생한 결과를</a:t>
            </a:r>
          </a:p>
          <a:p>
            <a:pPr eaLnBrk="1" hangingPunct="1"/>
            <a:r>
              <a:rPr lang="ko-KR" altLang="en-US" b="1"/>
              <a:t>    가지고 처음에 사용한 자료를 다시 수정하여 계산 작업을 반복적으로 수행하는 것</a:t>
            </a:r>
          </a:p>
          <a:p>
            <a:pPr eaLnBrk="1" hangingPunct="1"/>
            <a:r>
              <a:rPr lang="en-US" altLang="ko-KR" b="1"/>
              <a:t>※ </a:t>
            </a:r>
            <a:r>
              <a:rPr lang="ko-KR" altLang="en-US" b="1"/>
              <a:t>프로그램 디버깅</a:t>
            </a:r>
            <a:r>
              <a:rPr lang="en-US" altLang="ko-KR" b="1"/>
              <a:t>(Debugging)</a:t>
            </a:r>
          </a:p>
          <a:p>
            <a:pPr eaLnBrk="1" hangingPunct="1"/>
            <a:r>
              <a:rPr lang="en-US" altLang="ko-KR" b="1"/>
              <a:t>   ① </a:t>
            </a:r>
            <a:r>
              <a:rPr lang="ko-KR" altLang="en-US" b="1"/>
              <a:t>프로그램의 오류를 발견하고 그 원인을 밝히는</a:t>
            </a:r>
          </a:p>
          <a:p>
            <a:pPr eaLnBrk="1" hangingPunct="1"/>
            <a:r>
              <a:rPr lang="ko-KR" altLang="en-US" b="1"/>
              <a:t>   ② 작업 디버깅에 필요한 것들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트레이서</a:t>
            </a:r>
            <a:r>
              <a:rPr lang="en-US" altLang="ko-KR" b="1"/>
              <a:t>(tracer) : </a:t>
            </a:r>
            <a:r>
              <a:rPr lang="ko-KR" altLang="en-US" b="1"/>
              <a:t>프로그램의 실행과정을 출력하는 프로그램</a:t>
            </a:r>
            <a:r>
              <a:rPr lang="en-US" altLang="ko-KR" b="1"/>
              <a:t>, </a:t>
            </a:r>
            <a:r>
              <a:rPr lang="ko-KR" altLang="en-US" b="1"/>
              <a:t>기계어 명령이 </a:t>
            </a:r>
          </a:p>
          <a:p>
            <a:pPr eaLnBrk="1" hangingPunct="1"/>
            <a:r>
              <a:rPr lang="ko-KR" altLang="en-US" b="1"/>
              <a:t>         하나씩 수행될 때마다 프로그램 카운터</a:t>
            </a:r>
            <a:r>
              <a:rPr lang="en-US" altLang="ko-KR" b="1"/>
              <a:t>, </a:t>
            </a:r>
            <a:r>
              <a:rPr lang="ko-KR" altLang="en-US" b="1"/>
              <a:t>스택</a:t>
            </a:r>
            <a:r>
              <a:rPr lang="en-US" altLang="ko-KR" b="1"/>
              <a:t>, </a:t>
            </a:r>
            <a:r>
              <a:rPr lang="ko-KR" altLang="en-US" b="1"/>
              <a:t>변수</a:t>
            </a:r>
            <a:r>
              <a:rPr lang="en-US" altLang="ko-KR" b="1"/>
              <a:t>, </a:t>
            </a:r>
            <a:r>
              <a:rPr lang="ko-KR" altLang="en-US" b="1"/>
              <a:t>레지스터의 내용을 출력함</a:t>
            </a:r>
          </a:p>
          <a:p>
            <a:pPr eaLnBrk="1" hangingPunct="1"/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덤프</a:t>
            </a:r>
            <a:r>
              <a:rPr lang="en-US" altLang="ko-KR" b="1"/>
              <a:t>(dump) : </a:t>
            </a:r>
            <a:r>
              <a:rPr lang="ko-KR" altLang="en-US" b="1"/>
              <a:t>주기억장치의 내용을 그대로 화면이나 프린터</a:t>
            </a:r>
            <a:r>
              <a:rPr lang="en-US" altLang="ko-KR" b="1"/>
              <a:t>, </a:t>
            </a:r>
            <a:r>
              <a:rPr lang="ko-KR" altLang="en-US" b="1"/>
              <a:t>디스크 등에 출력</a:t>
            </a:r>
          </a:p>
          <a:p>
            <a:pPr eaLnBrk="1" hangingPunct="1"/>
            <a:r>
              <a:rPr lang="ko-KR" altLang="en-US" b="1"/>
              <a:t>                            하는 것으로 정적</a:t>
            </a:r>
            <a:r>
              <a:rPr lang="en-US" altLang="ko-KR" b="1"/>
              <a:t>(static) </a:t>
            </a:r>
            <a:r>
              <a:rPr lang="ko-KR" altLang="en-US" b="1"/>
              <a:t>덤프와 동적</a:t>
            </a:r>
            <a:r>
              <a:rPr lang="en-US" altLang="ko-KR" b="1"/>
              <a:t>(Dynamic) </a:t>
            </a:r>
            <a:r>
              <a:rPr lang="ko-KR" altLang="en-US" b="1"/>
              <a:t>덤프가 있음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5643198A-8065-474F-B26A-072D7472D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9727D26-9910-4379-B779-CF68B2E83E0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6BCA59F-576C-4C75-92C4-8A507D353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50913"/>
            <a:ext cx="8532813" cy="366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※ </a:t>
            </a:r>
            <a:r>
              <a:rPr lang="ko-KR" altLang="en-US" b="1"/>
              <a:t>부프로그램 </a:t>
            </a:r>
            <a:r>
              <a:rPr lang="en-US" altLang="ko-KR" b="1"/>
              <a:t>(</a:t>
            </a:r>
            <a:r>
              <a:rPr lang="ko-KR" altLang="en-US" b="1"/>
              <a:t>서브루틴</a:t>
            </a:r>
            <a:r>
              <a:rPr lang="en-US" altLang="ko-KR" b="1"/>
              <a:t>, Subroutine) </a:t>
            </a:r>
            <a:r>
              <a:rPr lang="ko-KR" altLang="en-US" b="1"/>
              <a:t>과 매크로 </a:t>
            </a:r>
            <a:r>
              <a:rPr lang="en-US" altLang="ko-KR" b="1"/>
              <a:t>(Macro)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부프로그램 </a:t>
            </a:r>
            <a:r>
              <a:rPr lang="en-US" altLang="ko-KR" b="1"/>
              <a:t>: </a:t>
            </a:r>
            <a:r>
              <a:rPr lang="ko-KR" altLang="en-US" b="1"/>
              <a:t>반복적으로 사용되는 코드를 별도의 프로그램으로 작성하여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            필요할 때 호출하여 사용할 수 있도록 제작한 프로그램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매크로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반복적으로 사용되는 코드를 프로그램 내에 삽입하여 해당 프로그램의 어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디서든 호출하여 사용할 수 있게 만든 프로그램 코드의 모임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• </a:t>
            </a:r>
            <a:r>
              <a:rPr lang="ko-KR" altLang="en-US" b="1"/>
              <a:t>프로그래머가 어셈블리</a:t>
            </a:r>
            <a:r>
              <a:rPr lang="en-US" altLang="ko-KR" b="1"/>
              <a:t>(assembly) </a:t>
            </a:r>
            <a:r>
              <a:rPr lang="ko-KR" altLang="en-US" b="1"/>
              <a:t>언어로 프로그램을 작성할 때 반복되는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일련의 같은 연산을 효과적으로 프로그램하기 위해서 필요한 것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부프로그램과 매크로의 공통점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</a:t>
            </a:r>
            <a:r>
              <a:rPr lang="en-US" altLang="ko-KR" b="1"/>
              <a:t>: </a:t>
            </a:r>
            <a:r>
              <a:rPr lang="ko-KR" altLang="en-US" b="1"/>
              <a:t>여러 번 중복되는 부분을 별도로 작성하여 사용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B09217BB-ECDC-44BC-AF8A-606A1D445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27B7A04-B3CF-4741-A8C1-189EA3ED99B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EA1B418-75F9-4F3B-9C87-0AE5586CA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96975"/>
            <a:ext cx="8280400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(1) </a:t>
            </a:r>
            <a:r>
              <a:rPr lang="ko-KR" altLang="en-US" sz="2000" b="1"/>
              <a:t>주소지정방식 </a:t>
            </a:r>
            <a:r>
              <a:rPr lang="en-US" altLang="ko-KR" sz="2000" b="1"/>
              <a:t>(Addressing Mode)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</a:t>
            </a:r>
            <a:r>
              <a:rPr lang="ko-KR" altLang="en-US" b="1"/>
              <a:t>프로그램이 수행되는 동안 사용될 데이터의 위치를 지정하는 방법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주소 설계 시 고려 사항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표현의 효율성 </a:t>
            </a:r>
            <a:r>
              <a:rPr lang="en-US" altLang="ko-KR" b="1"/>
              <a:t>: </a:t>
            </a:r>
            <a:r>
              <a:rPr lang="ko-KR" altLang="en-US" b="1"/>
              <a:t>주소를 효율적으로 나타내야 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사용의 편리성 </a:t>
            </a:r>
            <a:r>
              <a:rPr lang="en-US" altLang="ko-KR" b="1"/>
              <a:t>: </a:t>
            </a:r>
            <a:r>
              <a:rPr lang="ko-KR" altLang="en-US" b="1"/>
              <a:t>사용자에게 편리하도록 해야 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 u="sng"/>
              <a:t>주소공간과 기억공간의 독립성</a:t>
            </a:r>
            <a:r>
              <a:rPr lang="ko-KR" altLang="en-US" b="1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: </a:t>
            </a:r>
            <a:r>
              <a:rPr lang="ko-KR" altLang="en-US" b="1"/>
              <a:t>주소공간과 기억공간을 독립시킬 수 있어야 함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(3) </a:t>
            </a:r>
            <a:r>
              <a:rPr lang="ko-KR" altLang="en-US" sz="2000" b="1"/>
              <a:t>주소지정 방식의 종류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암시적 주소지정 방식 </a:t>
            </a:r>
            <a:r>
              <a:rPr lang="en-US" altLang="ko-KR" b="1"/>
              <a:t>(Implied Addressing Mode)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</a:t>
            </a:r>
            <a:r>
              <a:rPr lang="ko-KR" altLang="en-US" b="1"/>
              <a:t>주소를 지정하는 필드가 없는 </a:t>
            </a:r>
            <a:r>
              <a:rPr lang="en-US" altLang="ko-KR" b="1"/>
              <a:t>0 </a:t>
            </a:r>
            <a:r>
              <a:rPr lang="ko-KR" altLang="en-US" b="1"/>
              <a:t>번지 명령어에서 의  </a:t>
            </a:r>
            <a:r>
              <a:rPr lang="en-US" altLang="ko-KR" b="1"/>
              <a:t>Stack Top </a:t>
            </a:r>
            <a:r>
              <a:rPr lang="ko-KR" altLang="en-US" b="1"/>
              <a:t>포인터가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가리키는 </a:t>
            </a:r>
            <a:r>
              <a:rPr lang="en-US" altLang="ko-KR" b="1"/>
              <a:t>Operand </a:t>
            </a:r>
            <a:r>
              <a:rPr lang="ko-KR" altLang="en-US" b="1"/>
              <a:t>를 암시하여 이용함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54ED0C7A-43A8-4F1C-B6E3-894446138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92150"/>
            <a:ext cx="21732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2. </a:t>
            </a:r>
            <a:r>
              <a:rPr lang="ko-KR" altLang="en-US" sz="2200" b="1"/>
              <a:t>주소지정방식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6E60DBA8-E62B-4E22-8BBF-756FF426E2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1E62821-620F-4FC4-8210-956BF01F1A6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Text Box 5">
            <a:extLst>
              <a:ext uri="{FF2B5EF4-FFF2-40B4-BE49-F238E27FC236}">
                <a16:creationId xmlns:a16="http://schemas.microsoft.com/office/drawing/2014/main" id="{96B83C16-C96F-474D-9DFC-B6D1336C3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68338"/>
            <a:ext cx="883920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     2) </a:t>
            </a:r>
            <a:r>
              <a:rPr lang="ko-KR" altLang="en-US" b="1"/>
              <a:t>즉시적 주소지정 방식 </a:t>
            </a:r>
            <a:r>
              <a:rPr lang="en-US" altLang="ko-KR" b="1"/>
              <a:t>(Immediate Addressing Mode)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① Operand </a:t>
            </a:r>
            <a:r>
              <a:rPr lang="ko-KR" altLang="en-US" b="1"/>
              <a:t>부분에 데이터를 기억하는 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레지스터의 값을 초기화할 때 주로 사용됨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③ 별도의 </a:t>
            </a:r>
            <a:r>
              <a:rPr lang="ko-KR" altLang="en-US" b="1" u="sng"/>
              <a:t>기억장치를 접근하지 않고</a:t>
            </a:r>
            <a:r>
              <a:rPr lang="ko-KR" altLang="en-US" b="1"/>
              <a:t>  </a:t>
            </a:r>
            <a:r>
              <a:rPr lang="en-US" altLang="ko-KR" b="1"/>
              <a:t>CPU</a:t>
            </a:r>
            <a:r>
              <a:rPr lang="ko-KR" altLang="en-US" b="1"/>
              <a:t>에서 곧바로 자료를 이용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④ 메모리의 참조 횟수를 줄일 수 있으므로 실행속도가 가장 빠름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/>
              <a:t>직접 주소지정 방식 </a:t>
            </a:r>
            <a:r>
              <a:rPr lang="en-US" altLang="ko-KR" b="1"/>
              <a:t>(Direct Addressing Mode)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명령어 주소 부분에 유효 주소 데이터가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명령어의 길이에 영향을 받으므로 표현할 수 있는 데이터 값의 범위가 제한적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4) </a:t>
            </a:r>
            <a:r>
              <a:rPr lang="ko-KR" altLang="en-US" b="1"/>
              <a:t>간접 주소지정 방식 </a:t>
            </a:r>
            <a:r>
              <a:rPr lang="en-US" altLang="ko-KR" b="1"/>
              <a:t>(Indirect Addressing Mode)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명령문 내의 번지는 실제 데이터의 위치를 찾을 수 있는 번지가 들어 있는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장소를 표시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인스트럭션의 길이가 짧고 제한되어 있어도 이것을 이용하여 긴 주소를 찾아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갈 수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5) </a:t>
            </a:r>
            <a:r>
              <a:rPr lang="ko-KR" altLang="en-US" b="1"/>
              <a:t>계산에 의한 주소지정 방식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① </a:t>
            </a:r>
            <a:r>
              <a:rPr lang="en-US" altLang="ko-KR" b="1"/>
              <a:t>Operand </a:t>
            </a:r>
            <a:r>
              <a:rPr lang="ko-KR" altLang="en-US" b="1"/>
              <a:t>부와 </a:t>
            </a:r>
            <a:r>
              <a:rPr lang="en-US" altLang="ko-KR" b="1"/>
              <a:t>CPU</a:t>
            </a:r>
            <a:r>
              <a:rPr lang="ko-KR" altLang="en-US" b="1"/>
              <a:t>의 특정 레지스터의 값이 더해져서 유효주소를 계산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종류 </a:t>
            </a:r>
            <a:r>
              <a:rPr lang="en-US" altLang="ko-KR" b="1"/>
              <a:t>(</a:t>
            </a:r>
            <a:r>
              <a:rPr lang="ko-KR" altLang="en-US" b="1"/>
              <a:t>사용하는 레지스터의 종류에 따라 구분</a:t>
            </a:r>
            <a:r>
              <a:rPr lang="en-US" altLang="ko-KR" b="1"/>
              <a:t>)</a:t>
            </a:r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FFEC2CE0-78FE-4EC8-B43F-44ADFA6AC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46DBDF8-E3F5-4E41-9653-36A744DE2D2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graphicFrame>
        <p:nvGraphicFramePr>
          <p:cNvPr id="254045" name="Group 93">
            <a:extLst>
              <a:ext uri="{FF2B5EF4-FFF2-40B4-BE49-F238E27FC236}">
                <a16:creationId xmlns:a16="http://schemas.microsoft.com/office/drawing/2014/main" id="{6FD4D067-EBC4-4EB3-A871-37A139FBBC13}"/>
              </a:ext>
            </a:extLst>
          </p:cNvPr>
          <p:cNvGraphicFramePr>
            <a:graphicFrameLocks noGrp="1"/>
          </p:cNvGraphicFramePr>
          <p:nvPr/>
        </p:nvGraphicFramePr>
        <p:xfrm>
          <a:off x="312738" y="784225"/>
          <a:ext cx="8640762" cy="4465638"/>
        </p:xfrm>
        <a:graphic>
          <a:graphicData uri="http://schemas.openxmlformats.org/drawingml/2006/table">
            <a:tbl>
              <a:tblPr/>
              <a:tblGrid>
                <a:gridCol w="230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8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8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종류</a:t>
                      </a:r>
                    </a:p>
                  </a:txBody>
                  <a:tcPr marL="90000" marR="90000" marT="46788" marB="46788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내    용</a:t>
                      </a:r>
                    </a:p>
                  </a:txBody>
                  <a:tcPr marL="90000" marR="90000" marT="46788" marB="467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1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상대 주소 지정 방식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(Relative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Addressing Mode)</a:t>
                      </a:r>
                    </a:p>
                  </a:txBody>
                  <a:tcPr marL="90000" marR="90000" marT="46788" marB="46788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유효주소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명령어의 주소 부분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+ Program Counter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명령어 자신의 기억장소를 기준으로 하여 데이터의 위치를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지정하는 방식</a:t>
                      </a:r>
                    </a:p>
                  </a:txBody>
                  <a:tcPr marL="90000" marR="90000" marT="46788" marB="467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44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베이스 레지스터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주소 지정 방식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(Base Register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Addressing Mode)</a:t>
                      </a:r>
                    </a:p>
                  </a:txBody>
                  <a:tcPr marL="90000" marR="90000" marT="46788" marB="46788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유효주소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명령어의 주소 부분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+ Base Register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프로그램을 재배치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(Relocation)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할 때 이용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다중 프로그래밍 기법에 많이 사용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※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베이스 레지스터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명령이 시작되는 최초의 번지를 기억하고 있는 레지스터</a:t>
                      </a:r>
                    </a:p>
                  </a:txBody>
                  <a:tcPr marL="90000" marR="90000" marT="46788" marB="467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7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인덱스 레지스터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주소 지정 방식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(Indexed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Addressing Mode)</a:t>
                      </a:r>
                    </a:p>
                  </a:txBody>
                  <a:tcPr marL="90000" marR="90000" marT="46788" marB="46788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굴림" pitchFamily="50" charset="-127"/>
                        </a:rPr>
                        <a:t>•</a:t>
                      </a:r>
                      <a:r>
                        <a:rPr kumimoji="1" lang="en-US" altLang="ko-K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유효주소 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: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명령어의 주소 부분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+Index Register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788" marB="467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28" name="Rectangle 94">
            <a:extLst>
              <a:ext uri="{FF2B5EF4-FFF2-40B4-BE49-F238E27FC236}">
                <a16:creationId xmlns:a16="http://schemas.microsoft.com/office/drawing/2014/main" id="{02C367D5-2AE0-4E7F-901F-DC28998B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5310188"/>
            <a:ext cx="90297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※ </a:t>
            </a:r>
            <a:r>
              <a:rPr lang="ko-KR" altLang="en-US" b="1"/>
              <a:t>리엔트란시</a:t>
            </a:r>
            <a:r>
              <a:rPr lang="en-US" altLang="ko-KR" b="1"/>
              <a:t>( Re-entrancy)</a:t>
            </a:r>
          </a:p>
          <a:p>
            <a:pPr eaLnBrk="1" hangingPunct="1"/>
            <a:r>
              <a:rPr lang="en-US" altLang="ko-KR" b="1"/>
              <a:t>    1) </a:t>
            </a:r>
            <a:r>
              <a:rPr lang="ko-KR" altLang="en-US" b="1"/>
              <a:t>한 사람 이상의 사용자들이 동일한 명령어를 동시에 실행할 수 있도록 제공  </a:t>
            </a:r>
          </a:p>
          <a:p>
            <a:pPr eaLnBrk="1" hangingPunct="1"/>
            <a:r>
              <a:rPr lang="ko-KR" altLang="en-US" b="1"/>
              <a:t>    </a:t>
            </a:r>
            <a:r>
              <a:rPr lang="en-US" altLang="ko-KR" b="1"/>
              <a:t>2) </a:t>
            </a:r>
            <a:r>
              <a:rPr lang="ko-KR" altLang="en-US" b="1"/>
              <a:t>인덱스 레지스터</a:t>
            </a:r>
            <a:r>
              <a:rPr lang="en-US" altLang="ko-KR" b="1"/>
              <a:t>(Index Register) </a:t>
            </a:r>
            <a:r>
              <a:rPr lang="ko-KR" altLang="en-US" b="1"/>
              <a:t>와 간접번지</a:t>
            </a:r>
            <a:r>
              <a:rPr lang="en-US" altLang="ko-KR" b="1"/>
              <a:t>(Indirect addressing)</a:t>
            </a:r>
            <a:r>
              <a:rPr lang="ko-KR" altLang="en-US" b="1"/>
              <a:t>방법으로 이용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C1B49743-3A86-44EE-A0B4-82B3C08408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EA5711F-D2E5-42A0-8F08-6BD70375DC2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Rectangle 19">
            <a:extLst>
              <a:ext uri="{FF2B5EF4-FFF2-40B4-BE49-F238E27FC236}">
                <a16:creationId xmlns:a16="http://schemas.microsoft.com/office/drawing/2014/main" id="{54CD135A-5E0F-4798-8A79-8B4D25590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92150"/>
            <a:ext cx="30527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 3. </a:t>
            </a:r>
            <a:r>
              <a:rPr lang="ko-KR" altLang="en-US" sz="2200" b="1"/>
              <a:t>연산</a:t>
            </a:r>
            <a:r>
              <a:rPr lang="en-US" altLang="ko-KR" sz="2200" b="1"/>
              <a:t>(Operation)</a:t>
            </a:r>
          </a:p>
        </p:txBody>
      </p:sp>
      <p:sp>
        <p:nvSpPr>
          <p:cNvPr id="18436" name="Rectangle 20">
            <a:extLst>
              <a:ext uri="{FF2B5EF4-FFF2-40B4-BE49-F238E27FC236}">
                <a16:creationId xmlns:a16="http://schemas.microsoft.com/office/drawing/2014/main" id="{080BF771-6EEE-41D2-BC7B-2D84FA91F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268413"/>
            <a:ext cx="8408988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(1) </a:t>
            </a:r>
            <a:r>
              <a:rPr lang="ko-KR" altLang="en-US" sz="2000" b="1"/>
              <a:t>논리연산과 산술연산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논리연산</a:t>
            </a:r>
          </a:p>
          <a:p>
            <a:pPr eaLnBrk="1" hangingPunct="1"/>
            <a:r>
              <a:rPr lang="ko-KR" altLang="en-US" b="1"/>
              <a:t>        ① 연산의 대상 및 결과가 ‘</a:t>
            </a:r>
            <a:r>
              <a:rPr lang="en-US" altLang="ko-KR" b="1"/>
              <a:t>0’ </a:t>
            </a:r>
            <a:r>
              <a:rPr lang="ko-KR" altLang="en-US" b="1"/>
              <a:t>또는 ‘</a:t>
            </a:r>
            <a:r>
              <a:rPr lang="en-US" altLang="ko-KR" b="1"/>
              <a:t>1’  </a:t>
            </a:r>
            <a:r>
              <a:rPr lang="ko-KR" altLang="en-US" b="1"/>
              <a:t>중 하나의 값을 취하는 연산</a:t>
            </a:r>
          </a:p>
          <a:p>
            <a:pPr eaLnBrk="1" hangingPunct="1"/>
            <a:r>
              <a:rPr lang="ko-KR" altLang="en-US" b="1"/>
              <a:t>            </a:t>
            </a:r>
            <a:r>
              <a:rPr lang="en-US" altLang="ko-KR" b="1"/>
              <a:t>(</a:t>
            </a:r>
            <a:r>
              <a:rPr lang="ko-KR" altLang="en-US" b="1"/>
              <a:t>비수치적인 연산</a:t>
            </a:r>
            <a:r>
              <a:rPr lang="en-US" altLang="ko-KR" b="1"/>
              <a:t>)</a:t>
            </a:r>
          </a:p>
          <a:p>
            <a:pPr eaLnBrk="1" hangingPunct="1"/>
            <a:r>
              <a:rPr lang="en-US" altLang="ko-KR" b="1"/>
              <a:t>        ② </a:t>
            </a:r>
            <a:r>
              <a:rPr lang="ko-KR" altLang="en-US" b="1"/>
              <a:t>예 </a:t>
            </a:r>
            <a:r>
              <a:rPr lang="en-US" altLang="ko-KR" b="1"/>
              <a:t>: MOVE, NOT, AND, OR, </a:t>
            </a:r>
            <a:r>
              <a:rPr lang="ko-KR" altLang="en-US" b="1"/>
              <a:t>논리 </a:t>
            </a:r>
            <a:r>
              <a:rPr lang="en-US" altLang="ko-KR" b="1"/>
              <a:t>SHIFT, ROTATE, COMPLEMENT, </a:t>
            </a:r>
          </a:p>
          <a:p>
            <a:pPr eaLnBrk="1" hangingPunct="1"/>
            <a:r>
              <a:rPr lang="en-US" altLang="ko-KR" b="1"/>
              <a:t>                  EXCLUSIVE OR </a:t>
            </a:r>
            <a:r>
              <a:rPr lang="ko-KR" altLang="en-US" b="1"/>
              <a:t>등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산술연산</a:t>
            </a:r>
          </a:p>
          <a:p>
            <a:pPr eaLnBrk="1" hangingPunct="1"/>
            <a:r>
              <a:rPr lang="ko-KR" altLang="en-US" b="1"/>
              <a:t>        ① 연산의 대상을 수치 데이터로 간주하고 행하는 연산 </a:t>
            </a:r>
            <a:r>
              <a:rPr lang="en-US" altLang="ko-KR" b="1"/>
              <a:t>(</a:t>
            </a:r>
            <a:r>
              <a:rPr lang="ko-KR" altLang="en-US" b="1"/>
              <a:t>수치적인 연산</a:t>
            </a:r>
            <a:r>
              <a:rPr lang="en-US" altLang="ko-KR" b="1"/>
              <a:t>)</a:t>
            </a:r>
          </a:p>
          <a:p>
            <a:pPr eaLnBrk="1" hangingPunct="1"/>
            <a:r>
              <a:rPr lang="en-US" altLang="ko-KR" b="1"/>
              <a:t>        ② </a:t>
            </a:r>
            <a:r>
              <a:rPr lang="ko-KR" altLang="en-US" b="1"/>
              <a:t>예 </a:t>
            </a:r>
            <a:r>
              <a:rPr lang="en-US" altLang="ko-KR" b="1"/>
              <a:t>: ADD, SUBTRACT, MULTIPLY, DIVIDE, </a:t>
            </a:r>
            <a:r>
              <a:rPr lang="ko-KR" altLang="en-US" b="1"/>
              <a:t>산술 </a:t>
            </a:r>
            <a:r>
              <a:rPr lang="en-US" altLang="ko-KR" b="1"/>
              <a:t>SHIFT </a:t>
            </a:r>
            <a:r>
              <a:rPr lang="ko-KR" altLang="en-US" b="1"/>
              <a:t>등</a:t>
            </a:r>
          </a:p>
          <a:p>
            <a:pPr eaLnBrk="1" hangingPunct="1"/>
            <a:r>
              <a:rPr lang="en-US" altLang="ko-KR" sz="2000" b="1"/>
              <a:t>(2) </a:t>
            </a:r>
            <a:r>
              <a:rPr lang="ko-KR" altLang="en-US" sz="2000" b="1"/>
              <a:t>주요 연산 및 기능</a:t>
            </a:r>
            <a:r>
              <a:rPr lang="ko-KR" altLang="en-US" b="1"/>
              <a:t> 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1) AND (Masking Operation)</a:t>
            </a:r>
          </a:p>
          <a:p>
            <a:pPr eaLnBrk="1" hangingPunct="1"/>
            <a:r>
              <a:rPr lang="en-US" altLang="ko-KR" b="1"/>
              <a:t>        ① </a:t>
            </a:r>
            <a:r>
              <a:rPr lang="ko-KR" altLang="en-US" b="1"/>
              <a:t>비수치 데이터에서 마스크를 이용하여 불필요한 부분</a:t>
            </a:r>
            <a:r>
              <a:rPr lang="en-US" altLang="ko-KR" b="1"/>
              <a:t>(</a:t>
            </a:r>
            <a:r>
              <a:rPr lang="ko-KR" altLang="en-US" b="1"/>
              <a:t>일부분 혹은 전체</a:t>
            </a:r>
            <a:r>
              <a:rPr lang="en-US" altLang="ko-KR" b="1"/>
              <a:t>)</a:t>
            </a:r>
          </a:p>
          <a:p>
            <a:pPr eaLnBrk="1" hangingPunct="1"/>
            <a:r>
              <a:rPr lang="en-US" altLang="ko-KR" b="1"/>
              <a:t>            </a:t>
            </a:r>
            <a:r>
              <a:rPr lang="ko-KR" altLang="en-US" b="1"/>
              <a:t>을 제거하기 위한 연산</a:t>
            </a:r>
          </a:p>
          <a:p>
            <a:pPr eaLnBrk="1" hangingPunct="1"/>
            <a:r>
              <a:rPr lang="ko-KR" altLang="en-US" b="1"/>
              <a:t>        ② 삭제할 부분의 비트를 </a:t>
            </a:r>
            <a:r>
              <a:rPr lang="en-US" altLang="ko-KR" b="1"/>
              <a:t>0 </a:t>
            </a:r>
            <a:r>
              <a:rPr lang="ko-KR" altLang="en-US" b="1"/>
              <a:t>과  </a:t>
            </a:r>
            <a:r>
              <a:rPr lang="en-US" altLang="ko-KR" b="1"/>
              <a:t>AND</a:t>
            </a:r>
            <a:r>
              <a:rPr lang="ko-KR" altLang="en-US" b="1"/>
              <a:t>시켜서 삭제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2) OR (Selective-Set) </a:t>
            </a:r>
          </a:p>
          <a:p>
            <a:pPr eaLnBrk="1" hangingPunct="1"/>
            <a:r>
              <a:rPr lang="en-US" altLang="ko-KR" b="1"/>
              <a:t>        ①</a:t>
            </a:r>
            <a:r>
              <a:rPr lang="ko-KR" altLang="en-US" b="1"/>
              <a:t>두 개의 데이터를 섞거나 일부에 삽입하는데 사용되는 연산</a:t>
            </a:r>
          </a:p>
          <a:p>
            <a:pPr eaLnBrk="1" hangingPunct="1"/>
            <a:r>
              <a:rPr lang="ko-KR" altLang="en-US" b="1"/>
              <a:t>        ② 특정 비트에 </a:t>
            </a:r>
            <a:r>
              <a:rPr lang="en-US" altLang="ko-KR" b="1"/>
              <a:t>1</a:t>
            </a:r>
            <a:r>
              <a:rPr lang="ko-KR" altLang="en-US" b="1"/>
              <a:t>을 세트</a:t>
            </a:r>
            <a:r>
              <a:rPr lang="en-US" altLang="ko-KR" b="1"/>
              <a:t>(set) </a:t>
            </a:r>
            <a:r>
              <a:rPr lang="ko-KR" altLang="en-US" b="1"/>
              <a:t>시키는 연산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1">
            <a:extLst>
              <a:ext uri="{FF2B5EF4-FFF2-40B4-BE49-F238E27FC236}">
                <a16:creationId xmlns:a16="http://schemas.microsoft.com/office/drawing/2014/main" id="{34D1E137-9B18-4EEF-BB5C-0AAEDB125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5861986-842E-49B3-970E-A93235F5458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685E07BF-792E-448F-88DC-28BB85B5E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836613"/>
            <a:ext cx="8820150" cy="473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3) XOR (</a:t>
            </a:r>
            <a:r>
              <a:rPr lang="ko-KR" altLang="en-US" b="1"/>
              <a:t>비교</a:t>
            </a:r>
            <a:r>
              <a:rPr lang="en-US" altLang="ko-KR" b="1"/>
              <a:t>, Compare)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자료의 특정 비트를 반전시키고자 하는 경우에 사용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비교 </a:t>
            </a:r>
            <a:r>
              <a:rPr lang="en-US" altLang="ko-KR" b="1"/>
              <a:t>(compare) </a:t>
            </a:r>
            <a:r>
              <a:rPr lang="ko-KR" altLang="en-US" b="1"/>
              <a:t>동작과 같은 동작을 하는 논리 연산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③ 연산에서 </a:t>
            </a:r>
            <a:r>
              <a:rPr lang="en-US" altLang="ko-KR" b="1"/>
              <a:t>overflow </a:t>
            </a:r>
            <a:r>
              <a:rPr lang="ko-KR" altLang="en-US" b="1"/>
              <a:t>가 발생했을 경우 이것을 검출할 때 사용되는 논리 게이트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4) NOT(</a:t>
            </a:r>
            <a:r>
              <a:rPr lang="ko-KR" altLang="en-US" b="1"/>
              <a:t>보수</a:t>
            </a:r>
            <a:r>
              <a:rPr lang="en-US" altLang="ko-KR" b="1"/>
              <a:t>, Complement)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</a:t>
            </a:r>
            <a:r>
              <a:rPr lang="ko-KR" altLang="en-US" b="1"/>
              <a:t>각 비트의 값을 반전시키는 연산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보수를 구할 때 사용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5) </a:t>
            </a:r>
            <a:r>
              <a:rPr lang="ko-KR" altLang="en-US" b="1"/>
              <a:t>논리 </a:t>
            </a:r>
            <a:r>
              <a:rPr lang="en-US" altLang="ko-KR" b="1"/>
              <a:t>Shift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왼쪽 또는 오른쪽으로 </a:t>
            </a:r>
            <a:r>
              <a:rPr lang="en-US" altLang="ko-KR" b="1"/>
              <a:t>1  Bit</a:t>
            </a:r>
            <a:r>
              <a:rPr lang="ko-KR" altLang="en-US" b="1"/>
              <a:t>씩 자리를 이동시키는 연산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데이터의 직렬 전송에 사용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6) Rotate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① </a:t>
            </a:r>
            <a:r>
              <a:rPr lang="ko-KR" altLang="en-US" b="1"/>
              <a:t>논리 </a:t>
            </a:r>
            <a:r>
              <a:rPr lang="en-US" altLang="ko-KR" b="1"/>
              <a:t>Shift</a:t>
            </a:r>
            <a:r>
              <a:rPr lang="ko-KR" altLang="en-US" b="1"/>
              <a:t>에서 밀려 나가는 비트의 값을 반대편 값으로 입력하는 연산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② 문자 위치 변환 시 사용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1">
            <a:extLst>
              <a:ext uri="{FF2B5EF4-FFF2-40B4-BE49-F238E27FC236}">
                <a16:creationId xmlns:a16="http://schemas.microsoft.com/office/drawing/2014/main" id="{2751528D-1F86-4E6E-88DC-F66685684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A83969D-F4D8-4D96-A9C1-52F22413745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62FB47D-7D4D-44AC-AEE0-CA279DF0E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36613"/>
            <a:ext cx="83883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7) </a:t>
            </a:r>
            <a:r>
              <a:rPr lang="ko-KR" altLang="en-US" b="1"/>
              <a:t>산술 </a:t>
            </a:r>
            <a:r>
              <a:rPr lang="en-US" altLang="ko-KR" b="1"/>
              <a:t>Shift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① </a:t>
            </a:r>
            <a:r>
              <a:rPr lang="ko-KR" altLang="en-US" b="1"/>
              <a:t>부호 비트</a:t>
            </a:r>
            <a:r>
              <a:rPr lang="en-US" altLang="ko-KR" b="1"/>
              <a:t>(Sign Bit) </a:t>
            </a:r>
            <a:r>
              <a:rPr lang="ko-KR" altLang="en-US" b="1"/>
              <a:t>를 제외한 나머지 비트만 </a:t>
            </a:r>
            <a:r>
              <a:rPr lang="en-US" altLang="ko-KR" b="1"/>
              <a:t>Shift (</a:t>
            </a:r>
            <a:r>
              <a:rPr lang="ko-KR" altLang="en-US" b="1"/>
              <a:t>부호 비트는 불변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② </a:t>
            </a:r>
            <a:r>
              <a:rPr lang="ko-KR" altLang="en-US" b="1"/>
              <a:t>왼쪽으로 </a:t>
            </a:r>
            <a:r>
              <a:rPr lang="en-US" altLang="ko-KR" b="1"/>
              <a:t>n Bit Shift : </a:t>
            </a:r>
            <a:r>
              <a:rPr lang="ko-KR" altLang="en-US" b="1"/>
              <a:t>원래 자료에 </a:t>
            </a:r>
            <a:r>
              <a:rPr lang="en-US" altLang="ko-KR" b="1"/>
              <a:t>2</a:t>
            </a:r>
            <a:r>
              <a:rPr lang="en-US" altLang="ko-KR" b="1" baseline="30000"/>
              <a:t>n</a:t>
            </a:r>
            <a:r>
              <a:rPr lang="ko-KR" altLang="en-US" b="1"/>
              <a:t>을 곱한 값과 같음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③ 오른쪽으로 원래 자료를 </a:t>
            </a:r>
            <a:r>
              <a:rPr lang="en-US" altLang="ko-KR" b="1"/>
              <a:t>n Bit Shift: 2</a:t>
            </a:r>
            <a:r>
              <a:rPr lang="en-US" altLang="ko-KR" b="1" baseline="30000"/>
              <a:t>n</a:t>
            </a:r>
            <a:r>
              <a:rPr lang="ko-KR" altLang="en-US" b="1"/>
              <a:t>으로 나눈 값과 같음 </a:t>
            </a:r>
          </a:p>
        </p:txBody>
      </p:sp>
      <p:graphicFrame>
        <p:nvGraphicFramePr>
          <p:cNvPr id="257232" name="Group 208">
            <a:extLst>
              <a:ext uri="{FF2B5EF4-FFF2-40B4-BE49-F238E27FC236}">
                <a16:creationId xmlns:a16="http://schemas.microsoft.com/office/drawing/2014/main" id="{25811D3A-A412-4419-93EA-FD7495E4C5C1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492375"/>
          <a:ext cx="7632700" cy="294322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2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7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90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Shift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수치 표현법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음수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양수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90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Shift Left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부호화 절대치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 : 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모든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는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의 보수법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 : 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의 보수법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 : 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90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Shift Right</a:t>
                      </a:r>
                    </a:p>
                  </a:txBody>
                  <a:tcPr marL="90000" marR="90000" marT="46796" marB="46796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부호화 절대치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 : 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의 보수법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 : 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9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의 보수법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Padding Bit : 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519" name="Rectangle 209">
            <a:extLst>
              <a:ext uri="{FF2B5EF4-FFF2-40B4-BE49-F238E27FC236}">
                <a16:creationId xmlns:a16="http://schemas.microsoft.com/office/drawing/2014/main" id="{CF52A0CA-DBD0-4820-A620-65BE0CDEA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516563"/>
            <a:ext cx="777716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※ Padding Bit : Shift </a:t>
            </a:r>
            <a:r>
              <a:rPr lang="ko-KR" altLang="en-US" b="1"/>
              <a:t>에서 자리를 이동한 후 생기는 왼쪽 혹은 오른쪽 끝의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          빈자리에 채워지는 비트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1600</TotalTime>
  <Words>2025</Words>
  <Application>Microsoft Office PowerPoint</Application>
  <PresentationFormat>화면 슬라이드 쇼(4:3)</PresentationFormat>
  <Paragraphs>299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HY중고딕</vt:lpstr>
      <vt:lpstr>견고딕</vt:lpstr>
      <vt:lpstr>굴림</vt:lpstr>
      <vt:lpstr>돋움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88</cp:revision>
  <dcterms:created xsi:type="dcterms:W3CDTF">2009-03-02T07:39:04Z</dcterms:created>
  <dcterms:modified xsi:type="dcterms:W3CDTF">2025-11-10T10:12:12Z</dcterms:modified>
</cp:coreProperties>
</file>